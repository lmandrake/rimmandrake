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3" y="1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D8CFC0"/>
                </a:solidFill>
              </a:rPr>
              <a:t>Legend — box color = what the tech unlocks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78408"/>
            <a:ext cx="1371600" cy="36576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droids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2808" y="978408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62 techs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45336"/>
            <a:ext cx="1371600" cy="36576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8" y="1545336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35 techs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2112264"/>
            <a:ext cx="1371600" cy="36576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8" y="2112264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6 techs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679192"/>
            <a:ext cx="1371600" cy="36576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2679192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38 techs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246120"/>
            <a:ext cx="1371600" cy="36576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weapon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3246120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46 techs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3813048"/>
            <a:ext cx="1371600" cy="36576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apparel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3813048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47 techs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4379976"/>
            <a:ext cx="1371600" cy="36576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4379976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26 techs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978408"/>
            <a:ext cx="1371600" cy="36576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biological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978408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21 techs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1545336"/>
            <a:ext cx="1371600" cy="36576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industry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3288" y="1545336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34 techs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4528" y="2112264"/>
            <a:ext cx="1371600" cy="36576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culture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3288" y="2112264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23 techs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2679192"/>
            <a:ext cx="1371600" cy="36576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life_support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3288" y="2679192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34 techs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3246120"/>
            <a:ext cx="1371600" cy="36576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equipment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3288" y="3246120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8 techs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8" y="3813048"/>
            <a:ext cx="1371600" cy="36576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6B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1200" b="0">
                <a:solidFill>
                  <a:srgbClr val="2B2418"/>
                </a:solidFill>
              </a:rPr>
              <a:t>general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3288" y="3813048"/>
            <a:ext cx="2194560" cy="36576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18 techs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6035040"/>
            <a:ext cx="11277295" cy="5486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100">
                <a:solidFill>
                  <a:srgbClr val="5A5147"/>
                </a:solidFill>
              </a:rPr>
              <a:t>Columns run T0 (primitive) left → T4 (advanced) right, cost-sorted within a tier. Colors are keyword-derived — recolor a box to correct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C2A06A"/>
                </a:solidFill>
              </a:rPr>
              <a:t>Scavenger  </a:t>
            </a:r>
            <a:r>
              <a:rPr sz="1100">
                <a:solidFill>
                  <a:srgbClr val="D8CFC0"/>
                </a:solidFill>
              </a:rPr>
              <a:t>the pride-free floor — fire, water, food, hide, door, trap   (41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lateral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organization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06025" y="1630225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food preparation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simple apparel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6026" y="2265426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agriculture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animal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743285" cy="27432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crafting facilities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2253996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cultivation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" y="383133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" y="414680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hunting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" y="446227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" y="477774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tribalwear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" y="5093208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weapons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51162" y="342900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" y="572414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medicine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" y="603961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Small trap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" y="635508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fishing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51162" y="445541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hinges and gates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877" y="1307592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simple curtains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4175" y="4019095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Kibble Dispenser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877" y="1938528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heating elements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3013" y="383133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primitive lighting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877" y="256946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primitive rugs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7877" y="288493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primitive storage vessels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06026" y="1115739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passive cooler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00473" y="342900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recurve bow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00473" y="105613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air conditioning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83441" y="578419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mushroom cultivation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04174" y="162306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pemmican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877" y="4777740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prisoner containment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87043" y="446370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autodoor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7460" y="2253996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berry cultivation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2677" y="5195123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firefoam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2677" y="342900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greatbow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04175" y="5784194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mushroom mastery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04173" y="4456096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Star Wars Doors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43758" y="4465683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 dirty="0">
                <a:solidFill>
                  <a:srgbClr val="2B2418"/>
                </a:solidFill>
              </a:rPr>
              <a:t>remote doors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98622" y="105613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Atmospheric Moisture Collection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succulent sowing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08899" y="578419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specialized fungi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C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51" name="Rounded Rectangle 4">
            <a:extLst>
              <a:ext uri="{FF2B5EF4-FFF2-40B4-BE49-F238E27FC236}">
                <a16:creationId xmlns:a16="http://schemas.microsoft.com/office/drawing/2014/main" id="{A9D89B76-3695-A2ED-47BF-4CFEA7B623E0}"/>
              </a:ext>
            </a:extLst>
          </p:cNvPr>
          <p:cNvSpPr/>
          <p:nvPr/>
        </p:nvSpPr>
        <p:spPr>
          <a:xfrm>
            <a:off x="9315873" y="6583680"/>
            <a:ext cx="743285" cy="274320"/>
          </a:xfrm>
          <a:prstGeom prst="roundRect">
            <a:avLst/>
          </a:prstGeom>
          <a:noFill/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 dirty="0">
                <a:solidFill>
                  <a:srgbClr val="2B2418"/>
                </a:solidFill>
              </a:rPr>
              <a:t>basic </a:t>
            </a:r>
            <a:r>
              <a:rPr sz="800" b="0" dirty="0" err="1">
                <a:solidFill>
                  <a:srgbClr val="2B2418"/>
                </a:solidFill>
              </a:rPr>
              <a:t>mechtech</a:t>
            </a:r>
            <a:endParaRPr sz="800" b="0" dirty="0">
              <a:solidFill>
                <a:srgbClr val="2B2418"/>
              </a:solidFill>
            </a:endParaRPr>
          </a:p>
        </p:txBody>
      </p:sp>
      <p:sp>
        <p:nvSpPr>
          <p:cNvPr id="53" name="Rounded Rectangle 5">
            <a:extLst>
              <a:ext uri="{FF2B5EF4-FFF2-40B4-BE49-F238E27FC236}">
                <a16:creationId xmlns:a16="http://schemas.microsoft.com/office/drawing/2014/main" id="{7104FBE3-AC83-3199-E530-112B5DEABC56}"/>
              </a:ext>
            </a:extLst>
          </p:cNvPr>
          <p:cNvSpPr/>
          <p:nvPr/>
        </p:nvSpPr>
        <p:spPr>
          <a:xfrm>
            <a:off x="7293068" y="1561253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droid shields</a:t>
            </a:r>
          </a:p>
        </p:txBody>
      </p:sp>
      <p:sp>
        <p:nvSpPr>
          <p:cNvPr id="55" name="Rounded Rectangle 7">
            <a:extLst>
              <a:ext uri="{FF2B5EF4-FFF2-40B4-BE49-F238E27FC236}">
                <a16:creationId xmlns:a16="http://schemas.microsoft.com/office/drawing/2014/main" id="{6B24A48D-8D0E-1D49-A7A1-4B714A017A7A}"/>
              </a:ext>
            </a:extLst>
          </p:cNvPr>
          <p:cNvSpPr/>
          <p:nvPr/>
        </p:nvSpPr>
        <p:spPr>
          <a:xfrm>
            <a:off x="6494920" y="1552487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Replacement Parts</a:t>
            </a:r>
          </a:p>
        </p:txBody>
      </p:sp>
      <p:sp>
        <p:nvSpPr>
          <p:cNvPr id="57" name="Rounded Rectangle 8">
            <a:extLst>
              <a:ext uri="{FF2B5EF4-FFF2-40B4-BE49-F238E27FC236}">
                <a16:creationId xmlns:a16="http://schemas.microsoft.com/office/drawing/2014/main" id="{F74C7661-3796-462F-E785-9DDB50D3906B}"/>
              </a:ext>
            </a:extLst>
          </p:cNvPr>
          <p:cNvSpPr/>
          <p:nvPr/>
        </p:nvSpPr>
        <p:spPr>
          <a:xfrm>
            <a:off x="5806808" y="3031067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interchangeable parts</a:t>
            </a:r>
          </a:p>
        </p:txBody>
      </p:sp>
      <p:sp>
        <p:nvSpPr>
          <p:cNvPr id="59" name="Rounded Rectangle 9">
            <a:extLst>
              <a:ext uri="{FF2B5EF4-FFF2-40B4-BE49-F238E27FC236}">
                <a16:creationId xmlns:a16="http://schemas.microsoft.com/office/drawing/2014/main" id="{DC9F6DDE-7FBE-052D-9F56-4F381B21EA7A}"/>
              </a:ext>
            </a:extLst>
          </p:cNvPr>
          <p:cNvSpPr/>
          <p:nvPr/>
        </p:nvSpPr>
        <p:spPr>
          <a:xfrm>
            <a:off x="6494918" y="2316675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synstruct stimulators</a:t>
            </a:r>
          </a:p>
        </p:txBody>
      </p:sp>
      <p:sp>
        <p:nvSpPr>
          <p:cNvPr id="61" name="Rounded Rectangle 10">
            <a:extLst>
              <a:ext uri="{FF2B5EF4-FFF2-40B4-BE49-F238E27FC236}">
                <a16:creationId xmlns:a16="http://schemas.microsoft.com/office/drawing/2014/main" id="{DB76C32A-BDDF-7E10-0649-80D899F02E6A}"/>
              </a:ext>
            </a:extLst>
          </p:cNvPr>
          <p:cNvSpPr/>
          <p:nvPr/>
        </p:nvSpPr>
        <p:spPr>
          <a:xfrm>
            <a:off x="8822963" y="1561253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wireless charging</a:t>
            </a:r>
          </a:p>
        </p:txBody>
      </p:sp>
      <p:sp>
        <p:nvSpPr>
          <p:cNvPr id="63" name="Rounded Rectangle 12">
            <a:extLst>
              <a:ext uri="{FF2B5EF4-FFF2-40B4-BE49-F238E27FC236}">
                <a16:creationId xmlns:a16="http://schemas.microsoft.com/office/drawing/2014/main" id="{F60F3AD6-22C4-4265-AEB3-E4DBB6DBF0DC}"/>
              </a:ext>
            </a:extLst>
          </p:cNvPr>
          <p:cNvSpPr/>
          <p:nvPr/>
        </p:nvSpPr>
        <p:spPr>
          <a:xfrm>
            <a:off x="6494919" y="1876603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Energy Systems</a:t>
            </a:r>
          </a:p>
        </p:txBody>
      </p:sp>
      <p:sp>
        <p:nvSpPr>
          <p:cNvPr id="65" name="Rounded Rectangle 13">
            <a:extLst>
              <a:ext uri="{FF2B5EF4-FFF2-40B4-BE49-F238E27FC236}">
                <a16:creationId xmlns:a16="http://schemas.microsoft.com/office/drawing/2014/main" id="{F1D34273-3A2F-337C-8DEB-8E3FE711EF75}"/>
              </a:ext>
            </a:extLst>
          </p:cNvPr>
          <p:cNvSpPr/>
          <p:nvPr/>
        </p:nvSpPr>
        <p:spPr>
          <a:xfrm>
            <a:off x="7293067" y="1904545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 dirty="0">
                <a:solidFill>
                  <a:srgbClr val="2B2418"/>
                </a:solidFill>
              </a:rPr>
              <a:t>droid armor plating</a:t>
            </a:r>
          </a:p>
        </p:txBody>
      </p:sp>
      <p:sp>
        <p:nvSpPr>
          <p:cNvPr id="67" name="Rounded Rectangle 14">
            <a:extLst>
              <a:ext uri="{FF2B5EF4-FFF2-40B4-BE49-F238E27FC236}">
                <a16:creationId xmlns:a16="http://schemas.microsoft.com/office/drawing/2014/main" id="{F9E2D827-7889-DECD-4D61-AB8D91E8C2E1}"/>
              </a:ext>
            </a:extLst>
          </p:cNvPr>
          <p:cNvSpPr/>
          <p:nvPr/>
        </p:nvSpPr>
        <p:spPr>
          <a:xfrm>
            <a:off x="8822963" y="1897380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 dirty="0">
                <a:solidFill>
                  <a:srgbClr val="2B2418"/>
                </a:solidFill>
              </a:rPr>
              <a:t>Mechanoid Utility Packs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B98A4E"/>
                </a:solidFill>
              </a:rPr>
              <a:t>The Hearth  </a:t>
            </a:r>
            <a:r>
              <a:rPr sz="1100">
                <a:solidFill>
                  <a:srgbClr val="D8CFC0"/>
                </a:solidFill>
              </a:rPr>
              <a:t>comfort &amp; culture — cooking, brew, furniture, art, music, cloth   (49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furniture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culture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basic furniture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primitive furniture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saunas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semiconductor lights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stew cooking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beer brewing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complex furniture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" y="3831336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grilling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" y="414680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nutrient paste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" y="4462272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soup cooking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00473" y="3474720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carvings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" y="5093208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food condiments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" y="5408676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obelisks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" y="5724144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pottery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" y="603961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survival meals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" y="6355080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Jewelry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877" y="99212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877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casual wear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877" y="162306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complex clothing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877" y="1938528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deep frying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877" y="2253996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formal wear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877" y="256946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modern bathroom fixtures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liquor brewing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cheese making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artisan furniture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carpet-making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devilstrand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04175" y="2569464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modern furniture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04175" y="2884932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power showers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04175" y="320040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mixology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04175" y="383133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Jizz Instruments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04175" y="4146804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Pazaak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04175" y="4462272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artful display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04175" y="4777740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cocoa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04175" y="5093208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military clothing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04175" y="5408676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rugs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04175" y="5724144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statues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04175" y="603961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tree sowing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04175" y="6355080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wallpapers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02324" y="992124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work attire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02324" y="1307592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waste disposal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02324" y="1623060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smart toilets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spacer furniture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monuments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hot tubs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A8764E"/>
                </a:solidFill>
              </a:rPr>
              <a:t>The Refinery  </a:t>
            </a:r>
            <a:r>
              <a:rPr sz="1100">
                <a:solidFill>
                  <a:srgbClr val="D8CFC0"/>
                </a:solidFill>
              </a:rPr>
              <a:t>what sand and wreck become — fuels, chems, drugs, ores, synthetics   (52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psychite refining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Napalm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chemistry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drug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paleontology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penoxycyline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psychoid brewing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toxifier generator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sterile materials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" y="383133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tox gas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" y="414680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wake-up production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biofuel refining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nitrous oxide 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tear gas production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Artificial Flooring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Durasteel production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4175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Kolto Applications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4175" y="288493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bone refining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4175" y="320040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deep drilling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4175" y="3515868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go-juice production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04175" y="3831336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ground-penetrating scanner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4175" y="4146804"/>
            <a:ext cx="743285" cy="27432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minecraft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4175" y="446227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mobile mineral sonar: enhanced scan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4175" y="477774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crystallization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04175" y="5093208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Chemfuel Refining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04175" y="5408676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Synthylene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4175" y="572414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bone refining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04175" y="603961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medicine production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04175" y="635508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mobile mineral sonar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02324" y="99212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mustard gas production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gas extraction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Synthread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industrial mining techniques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long-range scanners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toxin filtration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Drill for oil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98622" y="288493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Mushroom Soil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98622" y="320040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Reinforced Materials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98622" y="3515868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Synthylene Components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98622" y="3831336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halothane production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8622" y="414680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Advanced Synthylene Components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98622" y="446227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Spice Applications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98622" y="477774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Synthamide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Hyperweave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Plasteel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Synthamide Composite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VX nerve agent production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Neutroamine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3069" y="256946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Rhydonium Fuel Processing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93069" y="2884932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wastepack atomizer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Deep Wells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A87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Ultra Component Fabrication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BD6F4E"/>
                </a:solidFill>
              </a:rPr>
              <a:t>The Workshop  </a:t>
            </a:r>
            <a:r>
              <a:rPr sz="1100">
                <a:solidFill>
                  <a:srgbClr val="D8CFC0"/>
                </a:solidFill>
              </a:rPr>
              <a:t>making &amp; mending — smithing, machining, electronics, vehicles, power   (54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concrete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dynamos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farming techniques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stonecutting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battery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circuitry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electricity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industrial lathe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sprinklers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" y="3831336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solar panel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Recycling assembly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hydroponics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renewable energy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smithing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Laser Sculpting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4175" y="2569464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bridges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4175" y="2884932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ENIAC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4175" y="320040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SpaceBase Furniture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4175" y="3515868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Tinkering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4175" y="383133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basic electronics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04175" y="4146804"/>
            <a:ext cx="743285" cy="27432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vehicles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4175" y="446227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machining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4175" y="477774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transport pod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4175" y="5093208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hospital bed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04175" y="5408676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moisture pump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04175" y="5724144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Biocode Hacking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4175" y="6039612"/>
            <a:ext cx="743285" cy="27432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aerial vehicles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04175" y="6355080"/>
            <a:ext cx="743285" cy="27432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combat vehicles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2324" y="992124"/>
            <a:ext cx="743285" cy="274320"/>
          </a:xfrm>
          <a:prstGeom prst="roundRect">
            <a:avLst/>
          </a:prstGeom>
          <a:solidFill>
            <a:srgbClr val="F0A86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complex vehicles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02324" y="1307592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basic upgrading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industrial generators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battery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automated smelter restoration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complex electronics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98622" y="288493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microelectronics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98622" y="3200400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spacer electronics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98622" y="3515868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utility columns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98622" y="3831336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utility wall pads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8622" y="414680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power sources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98622" y="4462272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vitals monitor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passive generators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tidal power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nuclear power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fabrication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upgrading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93069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fabrication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3069" y="2884932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multi-analyzer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93069" y="320040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basic factories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complex factories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expert upgrading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8A8A6A"/>
                </a:solidFill>
              </a:rPr>
              <a:t>Powder &amp; Slug  </a:t>
            </a:r>
            <a:r>
              <a:rPr sz="1100">
                <a:solidFill>
                  <a:srgbClr val="D8CFC0"/>
                </a:solidFill>
              </a:rPr>
              <a:t>kills by MASS — guns, cannon, mortars, blades, the Watch   (37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long blades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Animal Warning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2306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IEDs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" y="1938528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alert speaker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" y="225399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blowback operation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" y="256946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gun turrets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" y="2884932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gunsmithing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" y="320040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watch telescope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" y="3515868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Automated Camera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industrial cannons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camera lens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Security camera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foam turret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siege equipment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4175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Munitions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4175" y="288493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defence columns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4175" y="320040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gas operation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4175" y="351586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trench warfare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4175" y="3831336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concealed defenses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04175" y="414680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weaponized gas IEDs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04175" y="4462272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precision rifling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04175" y="477774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autocannon turret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4175" y="509320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hunter drone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4175" y="540867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weaponized gas shells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Dedicated Defence Systems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Light Sensor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explosives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heavy artillery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weapons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mortars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8622" y="288493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railgun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8622" y="320040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multibarrel weapons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8622" y="3515868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blast doors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98622" y="3831336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rocketswarm launcher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98622" y="414680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uranium slug turret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Baradium Explosives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mounted cannons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8A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C25A4A"/>
                </a:solidFill>
              </a:rPr>
              <a:t>Blasterworks  </a:t>
            </a:r>
            <a:r>
              <a:rPr sz="1100">
                <a:solidFill>
                  <a:srgbClr val="D8CFC0"/>
                </a:solidFill>
              </a:rPr>
              <a:t>kills by HEAT — the blaster spine, plasma, beam, tibanna   (18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incendiary weapons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Light Installations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Plasma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compact blaster weaponry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droid-mounted weapons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heavy blaster weaponry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Light Turrets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Medium Installations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Weapon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Medium Turrets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blaster weaponry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pulse-charged munitions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Heavy Installations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Turrets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beam weapons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weaponry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Tibanna Processing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C2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disruptor weaponry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9C6B8A"/>
                </a:solidFill>
              </a:rPr>
              <a:t>The Strange Schools  </a:t>
            </a:r>
            <a:r>
              <a:rPr sz="1100">
                <a:solidFill>
                  <a:srgbClr val="D8CFC0"/>
                </a:solidFill>
              </a:rPr>
              <a:t>kills by STRANGER physics — ion, sonic, vibro, relics, saber   (7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Jawa ion weaponry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EMP weapons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electromagnetic pulse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vibration weaponry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energy field weaponry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 weapon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9C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Stygium Cloaking Devices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7089A0"/>
                </a:solidFill>
              </a:rPr>
              <a:t>The Shell  </a:t>
            </a:r>
            <a:r>
              <a:rPr sz="1100">
                <a:solidFill>
                  <a:srgbClr val="D8CFC0"/>
                </a:solidFill>
              </a:rPr>
              <a:t>not dying — armors, shields, warcaskets, the maker doctrines   (32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smokepop packs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plate armor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Tusken Raider equipment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6026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Jawa equipment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shields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6025" y="176022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flak armor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00473" y="992124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Kajidic equipment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Republic equipment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armoursmithing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light armors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stim belts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tech belts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8622" y="2884932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vambraces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8622" y="3200400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Czerka equipment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8622" y="3515868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Echani energy shielding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Exchange equipment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armour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jetpacks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medium armors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portable shield tech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3069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deflector shields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3069" y="288493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heavy shield generators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Sith equipment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basic shield tech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7516" y="162306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energy shielding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87516" y="1938528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heavy armors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7516" y="2253996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marine armor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87516" y="2569464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recon armor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87516" y="320040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Wookiee equipment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87516" y="3515868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Mandalorian equipment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87516" y="3831336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shield tech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6F9083"/>
                </a:solidFill>
              </a:rPr>
              <a:t>Droidsmith  </a:t>
            </a:r>
            <a:r>
              <a:rPr sz="1100">
                <a:solidFill>
                  <a:srgbClr val="D8CFC0"/>
                </a:solidFill>
              </a:rPr>
              <a:t>the scavenger's honest skill — repair, reconstruction, maintenance   (9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5F8A74"/>
                </a:solidFill>
              </a:rPr>
              <a:t>The Waking Mind  </a:t>
            </a:r>
            <a:r>
              <a:rPr sz="1100">
                <a:solidFill>
                  <a:srgbClr val="D8CFC0"/>
                </a:solidFill>
              </a:rPr>
              <a:t>minds you make and minds you bind — the AI ladder   (10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D8C8B8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gravitational-wave communication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Subspace gravitic penetration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RimAI - Level 1 Artificial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RimAI - Level 2 Artificial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crypto-harmonization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mechanoid beamcasting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87516" y="162306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quantum pulse messaging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87516" y="1938528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voidlink connectivity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87516" y="2253996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RimAI - Level 3 Artificial 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7516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5F8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Positronic Brain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4A7D86"/>
                </a:solidFill>
              </a:rPr>
              <a:t>THE SHIP  </a:t>
            </a:r>
            <a:r>
              <a:rPr sz="1100">
                <a:solidFill>
                  <a:srgbClr val="D8CFC0"/>
                </a:solidFill>
              </a:rPr>
              <a:t>the Utinni herself — gravtech, her systems, her guns, her memory   (29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gravtech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orbital 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drill turret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efficient drilling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shuttle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vacuum cryptosleep casket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machine persuasion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astrofuel refining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compact workspaces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4920" y="100355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gravship living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gravship power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F0D9B8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heat dissipation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3069" y="2569464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oxygen 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069" y="288493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standard gravtech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3069" y="320040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starflight basics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3069" y="3515868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starflight sensors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4919" y="151790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gravship weaponry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3069" y="414680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Ancient Era Ship Designs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3069" y="446227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Clone Wars Era Ship Designs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3069" y="4777740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Empire Era Ship Designs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 forge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Johnson-Tanaka drive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87516" y="162306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Manufacturing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7516" y="1938528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gravtech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7516" y="2253996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precise grav tuning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87516" y="256946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starship reactor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7516" y="2884932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ship parts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87516" y="3200400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big cannons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87516" y="3515868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4A7D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taming a Black Hole</a:t>
            </a:r>
          </a:p>
        </p:txBody>
      </p:sp>
      <p:sp>
        <p:nvSpPr>
          <p:cNvPr id="39" name="Rounded Rectangle 53">
            <a:extLst>
              <a:ext uri="{FF2B5EF4-FFF2-40B4-BE49-F238E27FC236}">
                <a16:creationId xmlns:a16="http://schemas.microsoft.com/office/drawing/2014/main" id="{EA7D602B-059C-5752-BB10-DB2CE9983CB5}"/>
              </a:ext>
            </a:extLst>
          </p:cNvPr>
          <p:cNvSpPr/>
          <p:nvPr/>
        </p:nvSpPr>
        <p:spPr>
          <a:xfrm>
            <a:off x="109728" y="2107692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holograms</a:t>
            </a:r>
          </a:p>
        </p:txBody>
      </p:sp>
      <p:sp>
        <p:nvSpPr>
          <p:cNvPr id="41" name="Rounded Rectangle 37">
            <a:extLst>
              <a:ext uri="{FF2B5EF4-FFF2-40B4-BE49-F238E27FC236}">
                <a16:creationId xmlns:a16="http://schemas.microsoft.com/office/drawing/2014/main" id="{23DFDEF9-4B5B-993F-F30F-2832ADA7FDA2}"/>
              </a:ext>
            </a:extLst>
          </p:cNvPr>
          <p:cNvSpPr/>
          <p:nvPr/>
        </p:nvSpPr>
        <p:spPr>
          <a:xfrm>
            <a:off x="109728" y="2447544"/>
            <a:ext cx="743285" cy="274320"/>
          </a:xfrm>
          <a:prstGeom prst="roundRect">
            <a:avLst/>
          </a:prstGeom>
          <a:solidFill>
            <a:srgbClr val="E3A8C4"/>
          </a:solidFill>
          <a:ln w="9525">
            <a:solidFill>
              <a:srgbClr val="B9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 dirty="0">
                <a:solidFill>
                  <a:srgbClr val="2B2418"/>
                </a:solidFill>
              </a:rPr>
              <a:t>Holographic Recreation</a:t>
            </a:r>
          </a:p>
        </p:txBody>
      </p:sp>
      <p:sp>
        <p:nvSpPr>
          <p:cNvPr id="43" name="Rounded Rectangle 38">
            <a:extLst>
              <a:ext uri="{FF2B5EF4-FFF2-40B4-BE49-F238E27FC236}">
                <a16:creationId xmlns:a16="http://schemas.microsoft.com/office/drawing/2014/main" id="{58E1C831-0F56-DFF4-042F-DEF469FBEE62}"/>
              </a:ext>
            </a:extLst>
          </p:cNvPr>
          <p:cNvSpPr/>
          <p:nvPr/>
        </p:nvSpPr>
        <p:spPr>
          <a:xfrm>
            <a:off x="4898621" y="1664208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 dirty="0">
                <a:solidFill>
                  <a:srgbClr val="2B2418"/>
                </a:solidFill>
              </a:rPr>
              <a:t>artificial ecosystems</a:t>
            </a:r>
          </a:p>
        </p:txBody>
      </p:sp>
      <p:sp>
        <p:nvSpPr>
          <p:cNvPr id="45" name="Rounded Rectangle 41">
            <a:extLst>
              <a:ext uri="{FF2B5EF4-FFF2-40B4-BE49-F238E27FC236}">
                <a16:creationId xmlns:a16="http://schemas.microsoft.com/office/drawing/2014/main" id="{FB8EC401-F9DB-2778-056B-B924E10405E2}"/>
              </a:ext>
            </a:extLst>
          </p:cNvPr>
          <p:cNvSpPr/>
          <p:nvPr/>
        </p:nvSpPr>
        <p:spPr>
          <a:xfrm>
            <a:off x="109727" y="2843784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 dirty="0">
                <a:solidFill>
                  <a:srgbClr val="2B2418"/>
                </a:solidFill>
              </a:rPr>
              <a:t>holo-projection</a:t>
            </a:r>
          </a:p>
        </p:txBody>
      </p:sp>
      <p:sp>
        <p:nvSpPr>
          <p:cNvPr id="47" name="Rounded Rectangle 60">
            <a:extLst>
              <a:ext uri="{FF2B5EF4-FFF2-40B4-BE49-F238E27FC236}">
                <a16:creationId xmlns:a16="http://schemas.microsoft.com/office/drawing/2014/main" id="{ED89987C-E2CE-5CCD-5B6F-9BDD4C1F3C45}"/>
              </a:ext>
            </a:extLst>
          </p:cNvPr>
          <p:cNvSpPr/>
          <p:nvPr/>
        </p:nvSpPr>
        <p:spPr>
          <a:xfrm>
            <a:off x="9687516" y="3831336"/>
            <a:ext cx="743285" cy="274320"/>
          </a:xfrm>
          <a:prstGeom prst="roundRect">
            <a:avLst/>
          </a:prstGeom>
          <a:solidFill>
            <a:srgbClr val="C8C8C8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repulsor technology</a:t>
            </a:r>
          </a:p>
        </p:txBody>
      </p:sp>
      <p:sp>
        <p:nvSpPr>
          <p:cNvPr id="49" name="Rounded Rectangle 61">
            <a:extLst>
              <a:ext uri="{FF2B5EF4-FFF2-40B4-BE49-F238E27FC236}">
                <a16:creationId xmlns:a16="http://schemas.microsoft.com/office/drawing/2014/main" id="{E4E88E89-6B15-D765-F01C-AE8F9F18F4C3}"/>
              </a:ext>
            </a:extLst>
          </p:cNvPr>
          <p:cNvSpPr/>
          <p:nvPr/>
        </p:nvSpPr>
        <p:spPr>
          <a:xfrm>
            <a:off x="9687516" y="4192525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BD6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Hypertech Fabrication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8A6B9C"/>
                </a:solidFill>
              </a:rPr>
              <a:t>The Reach  </a:t>
            </a:r>
            <a:r>
              <a:rPr sz="1100">
                <a:solidFill>
                  <a:srgbClr val="D8CFC0"/>
                </a:solidFill>
              </a:rPr>
              <a:t>the trap — flesh, genes, bionics, archotech, priced brutally   (8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prosthetics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Xenobiology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Adv. Physiology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bionic replacements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cryptosleep casket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Adv. Modular Implant 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92B4E3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grav bionics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F2DD7C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Modular Implant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A8503F"/>
                </a:solidFill>
              </a:rPr>
              <a:t>The Junker Yards  </a:t>
            </a:r>
            <a:r>
              <a:rPr sz="1100">
                <a:solidFill>
                  <a:srgbClr val="D8CFC0"/>
                </a:solidFill>
              </a:rPr>
              <a:t>LOCKED · Junkers — everything warcasket; raid loot and quests only   (6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06026" y="1049786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warcasket weaponry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8622" y="1046988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 dirty="0">
                <a:solidFill>
                  <a:srgbClr val="2B2418"/>
                </a:solidFill>
              </a:rPr>
              <a:t>spacer </a:t>
            </a:r>
            <a:r>
              <a:rPr sz="700" b="0" dirty="0" err="1">
                <a:solidFill>
                  <a:srgbClr val="2B2418"/>
                </a:solidFill>
              </a:rPr>
              <a:t>warcasket</a:t>
            </a:r>
            <a:r>
              <a:rPr sz="700" b="0" dirty="0">
                <a:solidFill>
                  <a:srgbClr val="2B2418"/>
                </a:solidFill>
              </a:rPr>
              <a:t> weaponry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6026" y="1429876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600" b="0">
                <a:solidFill>
                  <a:srgbClr val="2B2418"/>
                </a:solidFill>
              </a:rPr>
              <a:t>warcaskets (salvaged shells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175" y="144475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warcaskets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1" y="1429876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 dirty="0" err="1">
                <a:solidFill>
                  <a:srgbClr val="2B2418"/>
                </a:solidFill>
              </a:rPr>
              <a:t>specialised</a:t>
            </a:r>
            <a:r>
              <a:rPr sz="700" b="0" dirty="0">
                <a:solidFill>
                  <a:srgbClr val="2B2418"/>
                </a:solidFill>
              </a:rPr>
              <a:t> </a:t>
            </a:r>
            <a:r>
              <a:rPr sz="700" b="0" dirty="0" err="1">
                <a:solidFill>
                  <a:srgbClr val="2B2418"/>
                </a:solidFill>
              </a:rPr>
              <a:t>warcaskets</a:t>
            </a:r>
            <a:endParaRPr sz="700" b="0" dirty="0">
              <a:solidFill>
                <a:srgbClr val="2B2418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3069" y="148590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A8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spacer warcaskets</a:t>
            </a:r>
          </a:p>
        </p:txBody>
      </p:sp>
      <p:sp>
        <p:nvSpPr>
          <p:cNvPr id="16" name="Rounded Rectangle 36">
            <a:extLst>
              <a:ext uri="{FF2B5EF4-FFF2-40B4-BE49-F238E27FC236}">
                <a16:creationId xmlns:a16="http://schemas.microsoft.com/office/drawing/2014/main" id="{EDF99F98-B40B-FFF1-ED31-DD53582CFCB4}"/>
              </a:ext>
            </a:extLst>
          </p:cNvPr>
          <p:cNvSpPr/>
          <p:nvPr/>
        </p:nvSpPr>
        <p:spPr>
          <a:xfrm>
            <a:off x="9687516" y="1485900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0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 dirty="0" err="1">
                <a:solidFill>
                  <a:srgbClr val="2B2418"/>
                </a:solidFill>
              </a:rPr>
              <a:t>warcasket</a:t>
            </a:r>
            <a:r>
              <a:rPr sz="700" b="0" dirty="0">
                <a:solidFill>
                  <a:srgbClr val="2B2418"/>
                </a:solidFill>
              </a:rPr>
              <a:t> removal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7D9C5A"/>
                </a:solidFill>
              </a:rPr>
              <a:t>The Foundry Hive  </a:t>
            </a:r>
            <a:r>
              <a:rPr sz="1100">
                <a:solidFill>
                  <a:srgbClr val="D8CFC0"/>
                </a:solidFill>
              </a:rPr>
              <a:t>LOCKED · Foundry Hive — sonic, hivetech, battle droids; they trade   (4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basic hivetech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standard hivetech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E59896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exotic hivetech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sonic weaponry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7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8A6B9C"/>
                </a:solidFill>
              </a:rPr>
              <a:t>The Ascendant Ladder  </a:t>
            </a:r>
            <a:r>
              <a:rPr sz="1100">
                <a:solidFill>
                  <a:srgbClr val="D8CFC0"/>
                </a:solidFill>
              </a:rPr>
              <a:t>LOCKED · Helix — genes, biosculpting, the flesh ladder   (8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growth vats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444752"/>
            <a:ext cx="743285" cy="274320"/>
          </a:xfrm>
          <a:prstGeom prst="roundRect">
            <a:avLst/>
          </a:prstGeom>
          <a:solidFill>
            <a:srgbClr val="C7A3D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fertility procedures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1024128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xenogenetics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1328166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 dirty="0" err="1">
                <a:solidFill>
                  <a:srgbClr val="2B2418"/>
                </a:solidFill>
              </a:rPr>
              <a:t>biosculpting</a:t>
            </a:r>
            <a:endParaRPr sz="800" b="0" dirty="0">
              <a:solidFill>
                <a:srgbClr val="2B2418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706026" y="1060704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gene processor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8622" y="1371600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neural supercharger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3069" y="1033272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 dirty="0" err="1">
                <a:solidFill>
                  <a:srgbClr val="2B2418"/>
                </a:solidFill>
              </a:rPr>
              <a:t>archogenetics</a:t>
            </a:r>
            <a:endParaRPr sz="800" b="0" dirty="0">
              <a:solidFill>
                <a:srgbClr val="2B2418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8622" y="1024128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bioregeneration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8A6B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B2418"/>
          </a:solidFill>
          <a:ln w="9525">
            <a:solidFill>
              <a:srgbClr val="2B2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" y="0"/>
            <a:ext cx="11972239" cy="65836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2200" b="1">
                <a:solidFill>
                  <a:srgbClr val="6F9083"/>
                </a:solidFill>
              </a:rPr>
              <a:t>The Unbolting  </a:t>
            </a:r>
            <a:r>
              <a:rPr sz="1100">
                <a:solidFill>
                  <a:srgbClr val="D8CFC0"/>
                </a:solidFill>
              </a:rPr>
              <a:t>LOCKED · Free Droid Enclaves — building droids at all   (34 techs)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" y="713232"/>
            <a:ext cx="2339583" cy="237744"/>
          </a:xfrm>
          <a:prstGeom prst="roundRect">
            <a:avLst/>
          </a:prstGeom>
          <a:solidFill>
            <a:srgbClr val="F2EAD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T0 · ≤600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" y="992124"/>
            <a:ext cx="743285" cy="274320"/>
          </a:xfrm>
          <a:prstGeom prst="roundRect">
            <a:avLst/>
          </a:prstGeom>
          <a:noFill/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 dirty="0">
                <a:solidFill>
                  <a:srgbClr val="2B2418"/>
                </a:solidFill>
              </a:rPr>
              <a:t>light alpha mechs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" y="1307592"/>
            <a:ext cx="743285" cy="274320"/>
          </a:xfrm>
          <a:prstGeom prst="roundRect">
            <a:avLst/>
          </a:prstGeom>
          <a:noFill/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standard alpha mechs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175" y="713232"/>
            <a:ext cx="2339583" cy="237744"/>
          </a:xfrm>
          <a:prstGeom prst="roundRect">
            <a:avLst/>
          </a:prstGeom>
          <a:solidFill>
            <a:srgbClr val="E8DCC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T1 · 600–1600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175" y="992124"/>
            <a:ext cx="743285" cy="274320"/>
          </a:xfrm>
          <a:prstGeom prst="roundRect">
            <a:avLst/>
          </a:prstGeom>
          <a:noFill/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heavy alpha mechs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4175" y="1307592"/>
            <a:ext cx="743285" cy="274320"/>
          </a:xfrm>
          <a:prstGeom prst="roundRect">
            <a:avLst/>
          </a:prstGeom>
          <a:noFill/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standard mechtech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4175" y="1623060"/>
            <a:ext cx="743285" cy="274320"/>
          </a:xfrm>
          <a:prstGeom prst="roundRect">
            <a:avLst/>
          </a:prstGeom>
          <a:solidFill>
            <a:srgbClr val="9ECF8E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core assistants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4175" y="1938528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synstruct 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4175" y="2253996"/>
            <a:ext cx="743285" cy="274320"/>
          </a:xfrm>
          <a:prstGeom prst="roundRect">
            <a:avLst/>
          </a:prstGeom>
          <a:solidFill>
            <a:srgbClr val="A8B8A0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ultra parts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8622" y="713232"/>
            <a:ext cx="2339583" cy="237744"/>
          </a:xfrm>
          <a:prstGeom prst="roundRect">
            <a:avLst/>
          </a:prstGeom>
          <a:solidFill>
            <a:srgbClr val="DDCDA6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T2 · 1600–3000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8622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Advanced Parts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8622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Advanced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8622" y="1623060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Assassin Droids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8622" y="1938528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Astromech Droids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8622" y="2253996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Battle Droids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8622" y="256946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Labor Droids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8622" y="288493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Maintenance Droids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8622" y="3200400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Medical Droids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8622" y="3515868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Overclocked Parts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8622" y="3831336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Power Droids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8622" y="414680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Protocol Droids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8622" y="446227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Security Droids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8622" y="4777740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adv. combat droids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8622" y="5093208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adv. labor droids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8622" y="5408676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adv. utility droids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8622" y="572414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assassin droids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8622" y="603961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simple droids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8622" y="6355080"/>
            <a:ext cx="743285" cy="274320"/>
          </a:xfrm>
          <a:prstGeom prst="roundRect">
            <a:avLst/>
          </a:prstGeom>
          <a:noFill/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ultra-heavy alpha mechs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96771" y="992124"/>
            <a:ext cx="743285" cy="274320"/>
          </a:xfrm>
          <a:prstGeom prst="roundRect">
            <a:avLst/>
          </a:prstGeom>
          <a:noFill/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high mechtech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3069" y="713232"/>
            <a:ext cx="2339583" cy="237744"/>
          </a:xfrm>
          <a:prstGeom prst="roundRect">
            <a:avLst/>
          </a:prstGeom>
          <a:solidFill>
            <a:srgbClr val="CDB989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T3 · 3000–5000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3069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Droid Engineering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3069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droid upgrades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3069" y="1623060"/>
            <a:ext cx="743285" cy="274320"/>
          </a:xfrm>
          <a:prstGeom prst="roundRect">
            <a:avLst/>
          </a:prstGeom>
          <a:solidFill>
            <a:srgbClr val="C4A884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synstruct optimization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3069" y="1938528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Sith war droids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93069" y="2253996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assault droids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3069" y="2569464"/>
            <a:ext cx="743285" cy="274320"/>
          </a:xfrm>
          <a:prstGeom prst="roundRect">
            <a:avLst/>
          </a:prstGeom>
          <a:noFill/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800" b="0">
                <a:solidFill>
                  <a:srgbClr val="2B2418"/>
                </a:solidFill>
              </a:rPr>
              <a:t>ultra mechtech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87516" y="713232"/>
            <a:ext cx="2339583" cy="237744"/>
          </a:xfrm>
          <a:prstGeom prst="roundRect">
            <a:avLst/>
          </a:prstGeom>
          <a:solidFill>
            <a:srgbClr val="BDA36C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900" b="1">
                <a:solidFill>
                  <a:srgbClr val="2B2418"/>
                </a:solidFill>
              </a:rPr>
              <a:t>T4 · 5000+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87516" y="992124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specialist droids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87516" y="1307592"/>
            <a:ext cx="743285" cy="274320"/>
          </a:xfrm>
          <a:prstGeom prst="roundRect">
            <a:avLst/>
          </a:prstGeom>
          <a:solidFill>
            <a:srgbClr val="7FCFC3"/>
          </a:solidFill>
          <a:ln w="9525">
            <a:solidFill>
              <a:srgbClr val="6F9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r>
              <a:rPr sz="700" b="0">
                <a:solidFill>
                  <a:srgbClr val="2B2418"/>
                </a:solidFill>
              </a:rPr>
              <a:t>HK-51 assassin droids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1466</Words>
  <Application>Microsoft Office PowerPoint</Application>
  <PresentationFormat>Widescreen</PresentationFormat>
  <Paragraphs>522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Lukas Mandrake</cp:lastModifiedBy>
  <cp:revision>9</cp:revision>
  <dcterms:created xsi:type="dcterms:W3CDTF">2013-01-27T09:14:16Z</dcterms:created>
  <dcterms:modified xsi:type="dcterms:W3CDTF">2026-09-04T08:47:56Z</dcterms:modified>
  <cp:category/>
</cp:coreProperties>
</file>