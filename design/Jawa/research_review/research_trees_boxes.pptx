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D8CFC0"/>
                </a:solidFill>
              </a:rPr>
              <a:t>Legend — box color = what the tech unlocks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" y="978408"/>
            <a:ext cx="1371600" cy="36576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B5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200" b="0">
                <a:solidFill>
                  <a:srgbClr val="2B2418"/>
                </a:solidFill>
              </a:rPr>
              <a:t>droids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92808" y="978408"/>
            <a:ext cx="2194560" cy="36576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1100">
                <a:solidFill>
                  <a:srgbClr val="5A5147"/>
                </a:solidFill>
              </a:rPr>
              <a:t>62 techs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545336"/>
            <a:ext cx="1371600" cy="36576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6B5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200" b="0">
                <a:solidFill>
                  <a:srgbClr val="2B2418"/>
                </a:solidFill>
              </a:rPr>
              <a:t>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92808" y="1545336"/>
            <a:ext cx="2194560" cy="36576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1100">
                <a:solidFill>
                  <a:srgbClr val="5A5147"/>
                </a:solidFill>
              </a:rPr>
              <a:t>35 techs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2112264"/>
            <a:ext cx="1371600" cy="365760"/>
          </a:xfrm>
          <a:prstGeom prst="roundRect">
            <a:avLst/>
          </a:prstGeom>
          <a:solidFill>
            <a:srgbClr val="F0A860"/>
          </a:solidFill>
          <a:ln w="9525">
            <a:solidFill>
              <a:srgbClr val="6B5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200" b="0">
                <a:solidFill>
                  <a:srgbClr val="2B2418"/>
                </a:solidFill>
              </a:rPr>
              <a:t>vehicles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92808" y="2112264"/>
            <a:ext cx="2194560" cy="36576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1100">
                <a:solidFill>
                  <a:srgbClr val="5A5147"/>
                </a:solidFill>
              </a:rPr>
              <a:t>6 techs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2679192"/>
            <a:ext cx="1371600" cy="36576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6B5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200" b="0">
                <a:solidFill>
                  <a:srgbClr val="2B2418"/>
                </a:solidFill>
              </a:rPr>
              <a:t>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92808" y="2679192"/>
            <a:ext cx="2194560" cy="36576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1100">
                <a:solidFill>
                  <a:srgbClr val="5A5147"/>
                </a:solidFill>
              </a:rPr>
              <a:t>38 techs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3246120"/>
            <a:ext cx="1371600" cy="36576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6B5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200" b="0">
                <a:solidFill>
                  <a:srgbClr val="2B2418"/>
                </a:solidFill>
              </a:rPr>
              <a:t>weapon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3246120"/>
            <a:ext cx="2194560" cy="36576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1100">
                <a:solidFill>
                  <a:srgbClr val="5A5147"/>
                </a:solidFill>
              </a:rPr>
              <a:t>46 techs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" y="3813048"/>
            <a:ext cx="1371600" cy="36576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6B5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200" b="0">
                <a:solidFill>
                  <a:srgbClr val="2B2418"/>
                </a:solidFill>
              </a:rPr>
              <a:t>apparel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92808" y="3813048"/>
            <a:ext cx="2194560" cy="36576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1100">
                <a:solidFill>
                  <a:srgbClr val="5A5147"/>
                </a:solidFill>
              </a:rPr>
              <a:t>47 techs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" y="4379976"/>
            <a:ext cx="1371600" cy="36576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6B5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200" b="0">
                <a:solidFill>
                  <a:srgbClr val="2B2418"/>
                </a:solidFill>
              </a:rPr>
              <a:t>power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92808" y="4379976"/>
            <a:ext cx="2194560" cy="36576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1100">
                <a:solidFill>
                  <a:srgbClr val="5A5147"/>
                </a:solidFill>
              </a:rPr>
              <a:t>26 techs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4528" y="978408"/>
            <a:ext cx="1371600" cy="36576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6B5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200" b="0">
                <a:solidFill>
                  <a:srgbClr val="2B2418"/>
                </a:solidFill>
              </a:rPr>
              <a:t>biological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33288" y="978408"/>
            <a:ext cx="2194560" cy="36576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1100">
                <a:solidFill>
                  <a:srgbClr val="5A5147"/>
                </a:solidFill>
              </a:rPr>
              <a:t>21 techs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4528" y="1545336"/>
            <a:ext cx="1371600" cy="36576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6B5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200" b="0">
                <a:solidFill>
                  <a:srgbClr val="2B2418"/>
                </a:solidFill>
              </a:rPr>
              <a:t>industry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33288" y="1545336"/>
            <a:ext cx="2194560" cy="36576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1100">
                <a:solidFill>
                  <a:srgbClr val="5A5147"/>
                </a:solidFill>
              </a:rPr>
              <a:t>34 techs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24528" y="2112264"/>
            <a:ext cx="1371600" cy="36576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6B5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200" b="0">
                <a:solidFill>
                  <a:srgbClr val="2B2418"/>
                </a:solidFill>
              </a:rPr>
              <a:t>culture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33288" y="2112264"/>
            <a:ext cx="2194560" cy="36576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1100">
                <a:solidFill>
                  <a:srgbClr val="5A5147"/>
                </a:solidFill>
              </a:rPr>
              <a:t>23 techs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24528" y="2679192"/>
            <a:ext cx="1371600" cy="36576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6B5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200" b="0">
                <a:solidFill>
                  <a:srgbClr val="2B2418"/>
                </a:solidFill>
              </a:rPr>
              <a:t>life_support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33288" y="2679192"/>
            <a:ext cx="2194560" cy="36576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1100">
                <a:solidFill>
                  <a:srgbClr val="5A5147"/>
                </a:solidFill>
              </a:rPr>
              <a:t>34 techs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24528" y="3246120"/>
            <a:ext cx="1371600" cy="365760"/>
          </a:xfrm>
          <a:prstGeom prst="roundRect">
            <a:avLst/>
          </a:prstGeom>
          <a:solidFill>
            <a:srgbClr val="D8C8B8"/>
          </a:solidFill>
          <a:ln w="9525">
            <a:solidFill>
              <a:srgbClr val="6B5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200" b="0">
                <a:solidFill>
                  <a:srgbClr val="2B2418"/>
                </a:solidFill>
              </a:rPr>
              <a:t>equipment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33288" y="3246120"/>
            <a:ext cx="2194560" cy="36576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1100">
                <a:solidFill>
                  <a:srgbClr val="5A5147"/>
                </a:solidFill>
              </a:rPr>
              <a:t>8 techs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24528" y="3813048"/>
            <a:ext cx="1371600" cy="365760"/>
          </a:xfrm>
          <a:prstGeom prst="roundRect">
            <a:avLst/>
          </a:prstGeom>
          <a:solidFill>
            <a:srgbClr val="C8C8C8"/>
          </a:solidFill>
          <a:ln w="9525">
            <a:solidFill>
              <a:srgbClr val="6B5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200" b="0">
                <a:solidFill>
                  <a:srgbClr val="2B2418"/>
                </a:solidFill>
              </a:rPr>
              <a:t>general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33288" y="3813048"/>
            <a:ext cx="2194560" cy="36576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1100">
                <a:solidFill>
                  <a:srgbClr val="5A5147"/>
                </a:solidFill>
              </a:rPr>
              <a:t>18 techs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" y="6035040"/>
            <a:ext cx="11277295" cy="5486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1100">
                <a:solidFill>
                  <a:srgbClr val="5A5147"/>
                </a:solidFill>
              </a:rPr>
              <a:t>Columns run T0 (primitive) left → T4 (advanced) right, cost-sorted within a tier. Colors are keyword-derived — recolor a box to correct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C2A06A"/>
                </a:solidFill>
              </a:rPr>
              <a:t>Scavenger  </a:t>
            </a:r>
            <a:r>
              <a:rPr sz="1100">
                <a:solidFill>
                  <a:srgbClr val="D8CFC0"/>
                </a:solidFill>
              </a:rPr>
              <a:t>the pride-free floor — fire, water, food, hide, door, trap   (41 techs)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" y="713232"/>
            <a:ext cx="2339583" cy="237744"/>
          </a:xfrm>
          <a:prstGeom prst="roundRect">
            <a:avLst/>
          </a:prstGeom>
          <a:solidFill>
            <a:srgbClr val="F2EAD9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T0 · ≤600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" y="992124"/>
            <a:ext cx="743285" cy="274320"/>
          </a:xfrm>
          <a:prstGeom prst="roundRect">
            <a:avLst/>
          </a:prstGeom>
          <a:solidFill>
            <a:srgbClr val="C8C8C8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lateral thinking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" y="1307592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organization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" y="1623060"/>
            <a:ext cx="743285" cy="274320"/>
          </a:xfrm>
          <a:prstGeom prst="roundRect">
            <a:avLst/>
          </a:prstGeom>
          <a:solidFill>
            <a:srgbClr val="C8C8C8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food preparation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" y="1938528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simple apparel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" y="2253996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agriculture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" y="2569464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animal handling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" y="2884932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construction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" y="3200400"/>
            <a:ext cx="743285" cy="274320"/>
          </a:xfrm>
          <a:prstGeom prst="roundRect">
            <a:avLst/>
          </a:prstGeom>
          <a:solidFill>
            <a:srgbClr val="F0A860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crafting facilities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" y="3515868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cultivation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" y="3831336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fire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" y="4146804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hunting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" y="4462272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mining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" y="4777740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tribalwear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728" y="5093208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weapons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" y="5408676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bow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9728" y="5724144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medicine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" y="6039612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Small trap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9728" y="6355080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fishing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7877" y="992124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hinges and gates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877" y="1307592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simple curtains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7877" y="1623060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Kibble Dispenser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877" y="1938528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heating elements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877" y="2253996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primitive lighting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7877" y="2569464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primitive rugs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7877" y="2884932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primitive storage vessels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7877" y="3200400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passive cooler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7877" y="3515868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recurve bow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7877" y="3831336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air conditioning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7877" y="4146804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mushroom cultivation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7877" y="4462272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pemmican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7877" y="4777740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prisoner containment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7877" y="5093208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autodoor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7877" y="5408676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berry cultivation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7877" y="572414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firefoam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7877" y="6039612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greatbow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504175" y="713232"/>
            <a:ext cx="2339583" cy="237744"/>
          </a:xfrm>
          <a:prstGeom prst="roundRect">
            <a:avLst/>
          </a:prstGeom>
          <a:solidFill>
            <a:srgbClr val="E8DCC0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T1 · 600–1600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504175" y="992124"/>
            <a:ext cx="743285" cy="274320"/>
          </a:xfrm>
          <a:prstGeom prst="roundRect">
            <a:avLst/>
          </a:prstGeom>
          <a:solidFill>
            <a:srgbClr val="C8C8C8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mushroom mastery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504175" y="1307592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Star Wars Doors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04175" y="1623060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remote doors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504175" y="1938528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600" b="0">
                <a:solidFill>
                  <a:srgbClr val="2B2418"/>
                </a:solidFill>
              </a:rPr>
              <a:t>Atmospheric Moisture Collection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504175" y="2253996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succulent sowing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504175" y="2569464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specialized fungi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98622" y="713232"/>
            <a:ext cx="2339583" cy="237744"/>
          </a:xfrm>
          <a:prstGeom prst="roundRect">
            <a:avLst/>
          </a:prstGeom>
          <a:solidFill>
            <a:srgbClr val="DDCDA6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T2 · 1600–3000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93069" y="713232"/>
            <a:ext cx="2339583" cy="237744"/>
          </a:xfrm>
          <a:prstGeom prst="roundRect">
            <a:avLst/>
          </a:prstGeom>
          <a:solidFill>
            <a:srgbClr val="CDB989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T3 · 3000–5000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687516" y="713232"/>
            <a:ext cx="2339583" cy="237744"/>
          </a:xfrm>
          <a:prstGeom prst="roundRect">
            <a:avLst/>
          </a:prstGeom>
          <a:solidFill>
            <a:srgbClr val="BDA36C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T4 · 5000+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B98A4E"/>
                </a:solidFill>
              </a:rPr>
              <a:t>The Hearth  </a:t>
            </a:r>
            <a:r>
              <a:rPr sz="1100">
                <a:solidFill>
                  <a:srgbClr val="D8CFC0"/>
                </a:solidFill>
              </a:rPr>
              <a:t>comfort &amp; culture — cooking, brew, furniture, art, music, cloth   (49 techs)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" y="713232"/>
            <a:ext cx="2339583" cy="237744"/>
          </a:xfrm>
          <a:prstGeom prst="roundRect">
            <a:avLst/>
          </a:prstGeom>
          <a:solidFill>
            <a:srgbClr val="F2EAD9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T0 · ≤600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" y="992124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furniture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" y="1307592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culture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" y="1623060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basic furniture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" y="1938528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primitive furniture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" y="2253996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saunas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" y="2569464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semiconductor lights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" y="2884932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stew cooking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" y="3200400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beer brewing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" y="3515868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complex furniture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" y="3831336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grilling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" y="4146804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nutrient paste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" y="4462272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soup cooking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" y="4777740"/>
            <a:ext cx="743285" cy="274320"/>
          </a:xfrm>
          <a:prstGeom prst="roundRect">
            <a:avLst/>
          </a:prstGeom>
          <a:solidFill>
            <a:srgbClr val="C8C8C8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carvings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728" y="5093208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food condiments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" y="5408676"/>
            <a:ext cx="743285" cy="274320"/>
          </a:xfrm>
          <a:prstGeom prst="roundRect">
            <a:avLst/>
          </a:prstGeom>
          <a:solidFill>
            <a:srgbClr val="C8C8C8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obelisks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9728" y="5724144"/>
            <a:ext cx="743285" cy="274320"/>
          </a:xfrm>
          <a:prstGeom prst="roundRect">
            <a:avLst/>
          </a:prstGeom>
          <a:solidFill>
            <a:srgbClr val="C8C8C8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pottery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" y="6039612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survival meals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9728" y="6355080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Jewelry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7877" y="992124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canning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877" y="1307592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casual wear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7877" y="1623060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complex clothing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877" y="1938528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deep frying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877" y="2253996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formal wear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7877" y="2569464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modern bathroom fixtures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04175" y="713232"/>
            <a:ext cx="2339583" cy="237744"/>
          </a:xfrm>
          <a:prstGeom prst="roundRect">
            <a:avLst/>
          </a:prstGeom>
          <a:solidFill>
            <a:srgbClr val="E8DCC0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T1 · 600–1600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04175" y="992124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liquor brewing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04175" y="1307592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cheese making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04175" y="1623060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artisan furniture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04175" y="1938528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carpet-making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504175" y="2253996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devilstrand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04175" y="2569464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modern furniture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04175" y="2884932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power showers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504175" y="3200400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mixology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504175" y="3515868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Holographic Recreation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504175" y="3831336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Jizz Instruments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504175" y="4146804"/>
            <a:ext cx="743285" cy="274320"/>
          </a:xfrm>
          <a:prstGeom prst="roundRect">
            <a:avLst/>
          </a:prstGeom>
          <a:solidFill>
            <a:srgbClr val="C8C8C8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Pazaak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504175" y="4462272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artful display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504175" y="4777740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cocoa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04175" y="5093208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military clothing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504175" y="5408676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rugs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504175" y="5724144"/>
            <a:ext cx="743285" cy="274320"/>
          </a:xfrm>
          <a:prstGeom prst="roundRect">
            <a:avLst/>
          </a:prstGeom>
          <a:solidFill>
            <a:srgbClr val="C8C8C8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statues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504175" y="6039612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tree sowing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504175" y="6355080"/>
            <a:ext cx="743285" cy="274320"/>
          </a:xfrm>
          <a:prstGeom prst="roundRect">
            <a:avLst/>
          </a:prstGeom>
          <a:solidFill>
            <a:srgbClr val="C8C8C8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wallpapers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302324" y="992124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work attire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302324" y="1307592"/>
            <a:ext cx="743285" cy="274320"/>
          </a:xfrm>
          <a:prstGeom prst="roundRect">
            <a:avLst/>
          </a:prstGeom>
          <a:solidFill>
            <a:srgbClr val="C8C8C8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waste disposal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302324" y="1623060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smart toilets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302324" y="1938528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spacer furniture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98622" y="713232"/>
            <a:ext cx="2339583" cy="237744"/>
          </a:xfrm>
          <a:prstGeom prst="roundRect">
            <a:avLst/>
          </a:prstGeom>
          <a:solidFill>
            <a:srgbClr val="DDCDA6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T2 · 1600–3000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898622" y="992124"/>
            <a:ext cx="743285" cy="274320"/>
          </a:xfrm>
          <a:prstGeom prst="roundRect">
            <a:avLst/>
          </a:prstGeom>
          <a:solidFill>
            <a:srgbClr val="C8C8C8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monuments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898622" y="1307592"/>
            <a:ext cx="743285" cy="274320"/>
          </a:xfrm>
          <a:prstGeom prst="roundRect">
            <a:avLst/>
          </a:prstGeom>
          <a:solidFill>
            <a:srgbClr val="C8C8C8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holograms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898622" y="1623060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hot tubs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293069" y="713232"/>
            <a:ext cx="2339583" cy="237744"/>
          </a:xfrm>
          <a:prstGeom prst="roundRect">
            <a:avLst/>
          </a:prstGeom>
          <a:solidFill>
            <a:srgbClr val="CDB989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T3 · 3000–5000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687516" y="713232"/>
            <a:ext cx="2339583" cy="237744"/>
          </a:xfrm>
          <a:prstGeom prst="roundRect">
            <a:avLst/>
          </a:prstGeom>
          <a:solidFill>
            <a:srgbClr val="BDA36C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T4 · 5000+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A8764E"/>
                </a:solidFill>
              </a:rPr>
              <a:t>The Refinery  </a:t>
            </a:r>
            <a:r>
              <a:rPr sz="1100">
                <a:solidFill>
                  <a:srgbClr val="D8CFC0"/>
                </a:solidFill>
              </a:rPr>
              <a:t>what sand and wreck become — fuels, chems, drugs, ores, synthetics   (52 techs)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" y="713232"/>
            <a:ext cx="2339583" cy="237744"/>
          </a:xfrm>
          <a:prstGeom prst="roundRect">
            <a:avLst/>
          </a:prstGeom>
          <a:solidFill>
            <a:srgbClr val="F2EAD9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T0 · ≤600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" y="992124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psychite refining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" y="1307592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Napalm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" y="1623060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chemistry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" y="1938528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drug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" y="2253996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paleontology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" y="2569464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penoxycyline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" y="2884932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psychoid brewing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" y="3200400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toxifier generator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" y="3515868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sterile materials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" y="3831336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tox gas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" y="4146804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wake-up production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04175" y="713232"/>
            <a:ext cx="2339583" cy="237744"/>
          </a:xfrm>
          <a:prstGeom prst="roundRect">
            <a:avLst/>
          </a:prstGeom>
          <a:solidFill>
            <a:srgbClr val="E8DCC0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T1 · 600–1600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04175" y="99212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biofuel refining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04175" y="1307592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nitrous oxide production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04175" y="1623060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tear gas production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04175" y="1938528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Artificial Flooring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04175" y="2253996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Durasteel production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04175" y="256946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Kolto Applications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04175" y="2884932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bone refining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04175" y="3200400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deep drilling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504175" y="3515868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go-juice production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04175" y="3831336"/>
            <a:ext cx="743285" cy="274320"/>
          </a:xfrm>
          <a:prstGeom prst="roundRect">
            <a:avLst/>
          </a:prstGeom>
          <a:solidFill>
            <a:srgbClr val="D8C8B8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ground-penetrating scanner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04175" y="4146804"/>
            <a:ext cx="743285" cy="274320"/>
          </a:xfrm>
          <a:prstGeom prst="roundRect">
            <a:avLst/>
          </a:prstGeom>
          <a:solidFill>
            <a:srgbClr val="F0A860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minecraft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04175" y="4462272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600" b="0">
                <a:solidFill>
                  <a:srgbClr val="2B2418"/>
                </a:solidFill>
              </a:rPr>
              <a:t>mobile mineral sonar: enhanced scan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04175" y="4777740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crystallization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04175" y="5093208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Chemfuel Refining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04175" y="5408676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Synthylene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04175" y="5724144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advanced bone refining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04175" y="6039612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medicine production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504175" y="6355080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mobile mineral sonar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02324" y="992124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mustard gas production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898622" y="713232"/>
            <a:ext cx="2339583" cy="237744"/>
          </a:xfrm>
          <a:prstGeom prst="roundRect">
            <a:avLst/>
          </a:prstGeom>
          <a:solidFill>
            <a:srgbClr val="DDCDA6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T2 · 1600–3000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98622" y="992124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gas extraction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898622" y="1307592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Synthread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898622" y="1623060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industrial mining techniques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898622" y="1938528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long-range scanners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898622" y="2253996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toxin filtration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98622" y="2569464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Drill for oil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898622" y="2884932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Mushroom Soil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898622" y="3200400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Reinforced Materials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898622" y="3515868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Synthylene Components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98622" y="3831336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halothane production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98622" y="4146804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600" b="0">
                <a:solidFill>
                  <a:srgbClr val="2B2418"/>
                </a:solidFill>
              </a:rPr>
              <a:t>Advanced Synthylene Components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898622" y="4462272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Spice Applications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898622" y="4777740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Synthamide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293069" y="713232"/>
            <a:ext cx="2339583" cy="237744"/>
          </a:xfrm>
          <a:prstGeom prst="roundRect">
            <a:avLst/>
          </a:prstGeom>
          <a:solidFill>
            <a:srgbClr val="CDB989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T3 · 3000–5000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293069" y="992124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Hyperweave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293069" y="1307592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Plasteel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293069" y="1623060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Synthamide Composite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293069" y="1938528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VX nerve agent production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293069" y="2253996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Neutroamine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293069" y="2569464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Rhydonium Fuel Processing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293069" y="2884932"/>
            <a:ext cx="743285" cy="274320"/>
          </a:xfrm>
          <a:prstGeom prst="roundRect">
            <a:avLst/>
          </a:prstGeom>
          <a:solidFill>
            <a:srgbClr val="D8C8B8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wastepack atomizer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687516" y="713232"/>
            <a:ext cx="2339583" cy="237744"/>
          </a:xfrm>
          <a:prstGeom prst="roundRect">
            <a:avLst/>
          </a:prstGeom>
          <a:solidFill>
            <a:srgbClr val="BDA36C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T4 · 5000+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687516" y="992124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Deep Wells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687516" y="1307592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Ultra Component Fabrication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BD6F4E"/>
                </a:solidFill>
              </a:rPr>
              <a:t>The Workshop  </a:t>
            </a:r>
            <a:r>
              <a:rPr sz="1100">
                <a:solidFill>
                  <a:srgbClr val="D8CFC0"/>
                </a:solidFill>
              </a:rPr>
              <a:t>making &amp; mending — smithing, machining, electronics, vehicles, power   (54 techs)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" y="713232"/>
            <a:ext cx="2339583" cy="237744"/>
          </a:xfrm>
          <a:prstGeom prst="roundRect">
            <a:avLst/>
          </a:prstGeom>
          <a:solidFill>
            <a:srgbClr val="F2EAD9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T0 · ≤600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" y="992124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concrete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" y="1307592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dynamos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" y="1623060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farming techniques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" y="1938528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stonecutting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" y="2253996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battery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" y="2569464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circuitry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" y="2884932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electricity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" y="3200400"/>
            <a:ext cx="743285" cy="274320"/>
          </a:xfrm>
          <a:prstGeom prst="roundRect">
            <a:avLst/>
          </a:prstGeom>
          <a:solidFill>
            <a:srgbClr val="C8C8C8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industrial lathe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" y="3515868"/>
            <a:ext cx="743285" cy="274320"/>
          </a:xfrm>
          <a:prstGeom prst="roundRect">
            <a:avLst/>
          </a:prstGeom>
          <a:solidFill>
            <a:srgbClr val="C8C8C8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sprinklers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" y="3831336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solar panel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04175" y="713232"/>
            <a:ext cx="2339583" cy="237744"/>
          </a:xfrm>
          <a:prstGeom prst="roundRect">
            <a:avLst/>
          </a:prstGeom>
          <a:solidFill>
            <a:srgbClr val="E8DCC0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T1 · 600–1600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04175" y="992124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Recycling assembly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04175" y="1307592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hydroponics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04175" y="1623060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renewable energy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04175" y="1938528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smithing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04175" y="2253996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Laser Sculpting Table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04175" y="2569464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heavy bridges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04175" y="2884932"/>
            <a:ext cx="743285" cy="274320"/>
          </a:xfrm>
          <a:prstGeom prst="roundRect">
            <a:avLst/>
          </a:prstGeom>
          <a:solidFill>
            <a:srgbClr val="C8C8C8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ENIAC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04175" y="3200400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SpaceBase Furniture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04175" y="3515868"/>
            <a:ext cx="743285" cy="274320"/>
          </a:xfrm>
          <a:prstGeom prst="roundRect">
            <a:avLst/>
          </a:prstGeom>
          <a:solidFill>
            <a:srgbClr val="D8C8B8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Tinkering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504175" y="3831336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basic electronics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04175" y="4146804"/>
            <a:ext cx="743285" cy="274320"/>
          </a:xfrm>
          <a:prstGeom prst="roundRect">
            <a:avLst/>
          </a:prstGeom>
          <a:solidFill>
            <a:srgbClr val="F0A860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basic vehicles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04175" y="4462272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machining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04175" y="4777740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transport pod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04175" y="5093208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hospital bed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04175" y="5408676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moisture pump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04175" y="5724144"/>
            <a:ext cx="743285" cy="274320"/>
          </a:xfrm>
          <a:prstGeom prst="roundRect">
            <a:avLst/>
          </a:prstGeom>
          <a:solidFill>
            <a:srgbClr val="D8C8B8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Biocode Hacking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04175" y="6039612"/>
            <a:ext cx="743285" cy="274320"/>
          </a:xfrm>
          <a:prstGeom prst="roundRect">
            <a:avLst/>
          </a:prstGeom>
          <a:solidFill>
            <a:srgbClr val="F0A860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aerial vehicles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04175" y="6355080"/>
            <a:ext cx="743285" cy="274320"/>
          </a:xfrm>
          <a:prstGeom prst="roundRect">
            <a:avLst/>
          </a:prstGeom>
          <a:solidFill>
            <a:srgbClr val="F0A860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combat vehicles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2324" y="992124"/>
            <a:ext cx="743285" cy="274320"/>
          </a:xfrm>
          <a:prstGeom prst="roundRect">
            <a:avLst/>
          </a:prstGeom>
          <a:solidFill>
            <a:srgbClr val="F0A860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complex vehicles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02324" y="1307592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basic upgrading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898622" y="713232"/>
            <a:ext cx="2339583" cy="237744"/>
          </a:xfrm>
          <a:prstGeom prst="roundRect">
            <a:avLst/>
          </a:prstGeom>
          <a:solidFill>
            <a:srgbClr val="DDCDA6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T2 · 1600–3000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98622" y="992124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industrial generators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898622" y="1307592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advanced battery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898622" y="1623060"/>
            <a:ext cx="743285" cy="274320"/>
          </a:xfrm>
          <a:prstGeom prst="roundRect">
            <a:avLst/>
          </a:prstGeom>
          <a:solidFill>
            <a:srgbClr val="C8C8C8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artificial ecosystems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898622" y="1938528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600" b="0">
                <a:solidFill>
                  <a:srgbClr val="2B2418"/>
                </a:solidFill>
              </a:rPr>
              <a:t>automated smelter restoration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898622" y="2253996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complex electronics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98622" y="2569464"/>
            <a:ext cx="743285" cy="274320"/>
          </a:xfrm>
          <a:prstGeom prst="roundRect">
            <a:avLst/>
          </a:prstGeom>
          <a:solidFill>
            <a:srgbClr val="C8C8C8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holo-projection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898622" y="2884932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microelectronics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898622" y="3200400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spacer electronics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898622" y="3515868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utility columns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98622" y="3831336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utility wall pads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98622" y="4146804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advanced power sources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898622" y="4462272"/>
            <a:ext cx="743285" cy="274320"/>
          </a:xfrm>
          <a:prstGeom prst="roundRect">
            <a:avLst/>
          </a:prstGeom>
          <a:solidFill>
            <a:srgbClr val="D8C8B8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vitals monitor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293069" y="713232"/>
            <a:ext cx="2339583" cy="237744"/>
          </a:xfrm>
          <a:prstGeom prst="roundRect">
            <a:avLst/>
          </a:prstGeom>
          <a:solidFill>
            <a:srgbClr val="CDB989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T3 · 3000–5000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293069" y="992124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passive generators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293069" y="1307592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tidal power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293069" y="1623060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nuclear power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293069" y="1938528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advanced fabrication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293069" y="2253996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advanced upgrading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293069" y="256946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fabrication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293069" y="2884932"/>
            <a:ext cx="743285" cy="274320"/>
          </a:xfrm>
          <a:prstGeom prst="roundRect">
            <a:avLst/>
          </a:prstGeom>
          <a:solidFill>
            <a:srgbClr val="D8C8B8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multi-analyzer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293069" y="3200400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basic factories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687516" y="713232"/>
            <a:ext cx="2339583" cy="237744"/>
          </a:xfrm>
          <a:prstGeom prst="roundRect">
            <a:avLst/>
          </a:prstGeom>
          <a:solidFill>
            <a:srgbClr val="BDA36C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T4 · 5000+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687516" y="992124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complex factories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687516" y="1307592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expert upgrading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687516" y="1623060"/>
            <a:ext cx="743285" cy="274320"/>
          </a:xfrm>
          <a:prstGeom prst="roundRect">
            <a:avLst/>
          </a:prstGeom>
          <a:solidFill>
            <a:srgbClr val="C8C8C8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repulsor technology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687516" y="1938528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Hypertech Fabrication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8A8A6A"/>
                </a:solidFill>
              </a:rPr>
              <a:t>Powder &amp; Slug  </a:t>
            </a:r>
            <a:r>
              <a:rPr sz="1100">
                <a:solidFill>
                  <a:srgbClr val="D8CFC0"/>
                </a:solidFill>
              </a:rPr>
              <a:t>kills by MASS — guns, cannon, mortars, blades, the Watch   (37 techs)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" y="713232"/>
            <a:ext cx="2339583" cy="237744"/>
          </a:xfrm>
          <a:prstGeom prst="roundRect">
            <a:avLst/>
          </a:prstGeom>
          <a:solidFill>
            <a:srgbClr val="F2EAD9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T0 · ≤600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" y="992124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long blades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" y="1307592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Animal Warning 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" y="1623060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IEDs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" y="1938528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alert speaker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" y="2253996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blowback operation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" y="2569464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gun turrets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" y="2884932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gunsmithing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" y="3200400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watch telescope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" y="3515868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Automated Camera System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04175" y="713232"/>
            <a:ext cx="2339583" cy="237744"/>
          </a:xfrm>
          <a:prstGeom prst="roundRect">
            <a:avLst/>
          </a:prstGeom>
          <a:solidFill>
            <a:srgbClr val="E8DCC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T1 · 600–1600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04175" y="992124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industrial cannons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04175" y="1307592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Advanced camera lens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04175" y="1623060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Security camera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04175" y="1938528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foam turret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04175" y="2253996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siege equipment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04175" y="256946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Advanced Munitions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04175" y="2884932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defence columns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04175" y="3200400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gas operation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04175" y="3515868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trench warfare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04175" y="3831336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concealed defenses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504175" y="4146804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weaponized gas IEDs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04175" y="4462272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precision rifling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04175" y="4777740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autocannon turret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04175" y="5093208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hunter drone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04175" y="5408676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weaponized gas shells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98622" y="713232"/>
            <a:ext cx="2339583" cy="237744"/>
          </a:xfrm>
          <a:prstGeom prst="roundRect">
            <a:avLst/>
          </a:prstGeom>
          <a:solidFill>
            <a:srgbClr val="DDCDA6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T2 · 1600–3000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98622" y="992124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Dedicated Defence Systems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98622" y="1307592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Advanced Light Sensor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98622" y="1623060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explosives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98622" y="1938528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heavy artillery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898622" y="2253996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heavy weapons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898622" y="2569464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mortars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98622" y="2884932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railgun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898622" y="3200400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multibarrel weapons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898622" y="3515868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blast doors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898622" y="3831336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rocketswarm launcher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898622" y="4146804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uranium slug turret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93069" y="713232"/>
            <a:ext cx="2339583" cy="237744"/>
          </a:xfrm>
          <a:prstGeom prst="roundRect">
            <a:avLst/>
          </a:prstGeom>
          <a:solidFill>
            <a:srgbClr val="CDB989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T3 · 3000–5000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293069" y="992124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Baradium Explosives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293069" y="1307592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mounted cannons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687516" y="713232"/>
            <a:ext cx="2339583" cy="237744"/>
          </a:xfrm>
          <a:prstGeom prst="roundRect">
            <a:avLst/>
          </a:prstGeom>
          <a:solidFill>
            <a:srgbClr val="BDA36C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T4 · 5000+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C25A4A"/>
                </a:solidFill>
              </a:rPr>
              <a:t>Blasterworks  </a:t>
            </a:r>
            <a:r>
              <a:rPr sz="1100">
                <a:solidFill>
                  <a:srgbClr val="D8CFC0"/>
                </a:solidFill>
              </a:rPr>
              <a:t>kills by HEAT — the blaster spine, plasma, beam, tibanna   (18 techs)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" y="713232"/>
            <a:ext cx="2339583" cy="237744"/>
          </a:xfrm>
          <a:prstGeom prst="roundRect">
            <a:avLst/>
          </a:prstGeom>
          <a:solidFill>
            <a:srgbClr val="F2EAD9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T0 · ≤600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" y="992124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incendiary weapons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04175" y="713232"/>
            <a:ext cx="2339583" cy="237744"/>
          </a:xfrm>
          <a:prstGeom prst="roundRect">
            <a:avLst/>
          </a:prstGeom>
          <a:solidFill>
            <a:srgbClr val="E8DCC0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T1 · 600–1600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04175" y="992124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Light Installations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4175" y="1307592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Plasma Applications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04175" y="1623060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compact blaster weaponry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04175" y="1938528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droid-mounted weapons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04175" y="2253996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heavy blaster weaponry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98622" y="713232"/>
            <a:ext cx="2339583" cy="237744"/>
          </a:xfrm>
          <a:prstGeom prst="roundRect">
            <a:avLst/>
          </a:prstGeom>
          <a:solidFill>
            <a:srgbClr val="DDCDA6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T2 · 1600–3000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8622" y="992124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Light Turrets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98622" y="1307592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Medium Installations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8622" y="1623060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Weapon Systems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98622" y="1938528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Medium Turrets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98622" y="2253996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blaster weaponry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98622" y="256946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pulse-charged munitions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93069" y="713232"/>
            <a:ext cx="2339583" cy="237744"/>
          </a:xfrm>
          <a:prstGeom prst="roundRect">
            <a:avLst/>
          </a:prstGeom>
          <a:solidFill>
            <a:srgbClr val="CDB989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T3 · 3000–5000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93069" y="992124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Heavy Installations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93069" y="1307592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Heavy Turrets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93069" y="1623060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beam weapons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93069" y="1938528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heavy weaponry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93069" y="2253996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Tibanna Processing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87516" y="713232"/>
            <a:ext cx="2339583" cy="237744"/>
          </a:xfrm>
          <a:prstGeom prst="roundRect">
            <a:avLst/>
          </a:prstGeom>
          <a:solidFill>
            <a:srgbClr val="BDA36C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T4 · 5000+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87516" y="992124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disruptor weaponry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9C6B8A"/>
                </a:solidFill>
              </a:rPr>
              <a:t>The Strange Schools  </a:t>
            </a:r>
            <a:r>
              <a:rPr sz="1100">
                <a:solidFill>
                  <a:srgbClr val="D8CFC0"/>
                </a:solidFill>
              </a:rPr>
              <a:t>kills by STRANGER physics — ion, sonic, vibro, relics, saber   (7 techs)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" y="713232"/>
            <a:ext cx="2339583" cy="237744"/>
          </a:xfrm>
          <a:prstGeom prst="roundRect">
            <a:avLst/>
          </a:prstGeom>
          <a:solidFill>
            <a:srgbClr val="F2EAD9"/>
          </a:solidFill>
          <a:ln w="9525">
            <a:solidFill>
              <a:srgbClr val="9C6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T0 · ≤600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" y="992124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9C6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Jawa ion weaponry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04175" y="713232"/>
            <a:ext cx="2339583" cy="237744"/>
          </a:xfrm>
          <a:prstGeom prst="roundRect">
            <a:avLst/>
          </a:prstGeom>
          <a:solidFill>
            <a:srgbClr val="E8DCC0"/>
          </a:solidFill>
          <a:ln w="9525">
            <a:solidFill>
              <a:srgbClr val="9C6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T1 · 600–1600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04175" y="992124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9C6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EMP weapons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4175" y="1307592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9C6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electromagnetic pulse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98622" y="713232"/>
            <a:ext cx="2339583" cy="237744"/>
          </a:xfrm>
          <a:prstGeom prst="roundRect">
            <a:avLst/>
          </a:prstGeom>
          <a:solidFill>
            <a:srgbClr val="DDCDA6"/>
          </a:solidFill>
          <a:ln w="9525">
            <a:solidFill>
              <a:srgbClr val="9C6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T2 · 1600–3000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8622" y="992124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9C6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vibration weaponry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93069" y="713232"/>
            <a:ext cx="2339583" cy="237744"/>
          </a:xfrm>
          <a:prstGeom prst="roundRect">
            <a:avLst/>
          </a:prstGeom>
          <a:solidFill>
            <a:srgbClr val="CDB989"/>
          </a:solidFill>
          <a:ln w="9525">
            <a:solidFill>
              <a:srgbClr val="9C6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T3 · 3000–5000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93069" y="992124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9C6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energy field weaponry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87516" y="713232"/>
            <a:ext cx="2339583" cy="237744"/>
          </a:xfrm>
          <a:prstGeom prst="roundRect">
            <a:avLst/>
          </a:prstGeom>
          <a:solidFill>
            <a:srgbClr val="BDA36C"/>
          </a:solidFill>
          <a:ln w="9525">
            <a:solidFill>
              <a:srgbClr val="9C6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T4 · 5000+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87516" y="992124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9C6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grav weapon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87516" y="1307592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9C6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Stygium Cloaking Devices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7089A0"/>
                </a:solidFill>
              </a:rPr>
              <a:t>The Shell  </a:t>
            </a:r>
            <a:r>
              <a:rPr sz="1100">
                <a:solidFill>
                  <a:srgbClr val="D8CFC0"/>
                </a:solidFill>
              </a:rPr>
              <a:t>not dying — armors, shields, warcaskets, the maker doctrines   (32 techs)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" y="713232"/>
            <a:ext cx="2339583" cy="237744"/>
          </a:xfrm>
          <a:prstGeom prst="roundRect">
            <a:avLst/>
          </a:prstGeom>
          <a:solidFill>
            <a:srgbClr val="F2EAD9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T0 · ≤600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" y="992124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smokepop packs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" y="1307592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plate armor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04175" y="713232"/>
            <a:ext cx="2339583" cy="237744"/>
          </a:xfrm>
          <a:prstGeom prst="roundRect">
            <a:avLst/>
          </a:prstGeom>
          <a:solidFill>
            <a:srgbClr val="E8DCC0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T1 · 600–1600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4175" y="992124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Tusken Raider equipment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04175" y="1307592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Jawa equipment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04175" y="1623060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shields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04175" y="1938528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flak armor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98622" y="713232"/>
            <a:ext cx="2339583" cy="237744"/>
          </a:xfrm>
          <a:prstGeom prst="roundRect">
            <a:avLst/>
          </a:prstGeom>
          <a:solidFill>
            <a:srgbClr val="DDCDA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T2 · 1600–3000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8622" y="992124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Kajidic equipment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98622" y="1307592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Republic equipment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8622" y="1623060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armoursmithing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98622" y="1938528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light armors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98622" y="2253996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stim belts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98622" y="2569464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tech belts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98622" y="2884932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vambraces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8622" y="3200400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Czerka equipment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98622" y="3515868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Echani energy shielding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93069" y="713232"/>
            <a:ext cx="2339583" cy="237744"/>
          </a:xfrm>
          <a:prstGeom prst="roundRect">
            <a:avLst/>
          </a:prstGeom>
          <a:solidFill>
            <a:srgbClr val="CDB989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T3 · 3000–5000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93069" y="99212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Exchange equipment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93069" y="1307592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heavy armour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93069" y="1623060"/>
            <a:ext cx="743285" cy="274320"/>
          </a:xfrm>
          <a:prstGeom prst="roundRect">
            <a:avLst/>
          </a:prstGeom>
          <a:solidFill>
            <a:srgbClr val="D8C8B8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jetpacks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93069" y="1938528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medium armors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93069" y="2253996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portable shield tech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93069" y="256946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deflector shields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93069" y="2884932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heavy shield generators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87516" y="713232"/>
            <a:ext cx="2339583" cy="237744"/>
          </a:xfrm>
          <a:prstGeom prst="roundRect">
            <a:avLst/>
          </a:prstGeom>
          <a:solidFill>
            <a:srgbClr val="BDA36C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T4 · 5000+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87516" y="992124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Sith equipment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7516" y="1307592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basic shield tech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87516" y="1623060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energy shielding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87516" y="1938528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heavy armors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87516" y="2253996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marine armor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87516" y="2569464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recon armor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87516" y="2884932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warcasket removal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687516" y="3200400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Wookiee equipment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87516" y="3515868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Mandalorian equipment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687516" y="3831336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advanced shield tech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6F9083"/>
                </a:solidFill>
              </a:rPr>
              <a:t>Droidsmith  </a:t>
            </a:r>
            <a:r>
              <a:rPr sz="1100">
                <a:solidFill>
                  <a:srgbClr val="D8CFC0"/>
                </a:solidFill>
              </a:rPr>
              <a:t>the scavenger's honest skill — repair, reconstruction, maintenance   (9 techs)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" y="713232"/>
            <a:ext cx="2339583" cy="237744"/>
          </a:xfrm>
          <a:prstGeom prst="roundRect">
            <a:avLst/>
          </a:prstGeom>
          <a:solidFill>
            <a:srgbClr val="F2EAD9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T0 · ≤600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" y="99212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basic mechtech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" y="1307592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droid shields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04175" y="713232"/>
            <a:ext cx="2339583" cy="237744"/>
          </a:xfrm>
          <a:prstGeom prst="roundRect">
            <a:avLst/>
          </a:prstGeom>
          <a:solidFill>
            <a:srgbClr val="E8DCC0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T1 · 600–1600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4175" y="99212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Replacement Parts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04175" y="1307592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interchangeable parts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04175" y="1623060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synstruct stimulators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04175" y="1938528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wireless charging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98622" y="713232"/>
            <a:ext cx="2339583" cy="237744"/>
          </a:xfrm>
          <a:prstGeom prst="roundRect">
            <a:avLst/>
          </a:prstGeom>
          <a:solidFill>
            <a:srgbClr val="DDCDA6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T2 · 1600–3000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8622" y="99212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Energy Systems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98622" y="1307592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droid armor plating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8622" y="1623060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Mechanoid Utility Packs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93069" y="713232"/>
            <a:ext cx="2339583" cy="237744"/>
          </a:xfrm>
          <a:prstGeom prst="roundRect">
            <a:avLst/>
          </a:prstGeom>
          <a:solidFill>
            <a:srgbClr val="CDB989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T3 · 3000–5000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87516" y="713232"/>
            <a:ext cx="2339583" cy="237744"/>
          </a:xfrm>
          <a:prstGeom prst="roundRect">
            <a:avLst/>
          </a:prstGeom>
          <a:solidFill>
            <a:srgbClr val="BDA36C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T4 · 5000+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5F8A74"/>
                </a:solidFill>
              </a:rPr>
              <a:t>The Waking Mind  </a:t>
            </a:r>
            <a:r>
              <a:rPr sz="1100">
                <a:solidFill>
                  <a:srgbClr val="D8CFC0"/>
                </a:solidFill>
              </a:rPr>
              <a:t>minds you make and minds you bind — the AI ladder   (10 techs)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" y="713232"/>
            <a:ext cx="2339583" cy="237744"/>
          </a:xfrm>
          <a:prstGeom prst="roundRect">
            <a:avLst/>
          </a:prstGeom>
          <a:solidFill>
            <a:srgbClr val="F2EAD9"/>
          </a:solidFill>
          <a:ln w="9525">
            <a:solidFill>
              <a:srgbClr val="5F8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T0 · ≤600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04175" y="713232"/>
            <a:ext cx="2339583" cy="237744"/>
          </a:xfrm>
          <a:prstGeom prst="roundRect">
            <a:avLst/>
          </a:prstGeom>
          <a:solidFill>
            <a:srgbClr val="E8DCC0"/>
          </a:solidFill>
          <a:ln w="9525">
            <a:solidFill>
              <a:srgbClr val="5F8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T1 · 600–1600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04175" y="992124"/>
            <a:ext cx="743285" cy="274320"/>
          </a:xfrm>
          <a:prstGeom prst="roundRect">
            <a:avLst/>
          </a:prstGeom>
          <a:solidFill>
            <a:srgbClr val="D8C8B8"/>
          </a:solidFill>
          <a:ln w="9525">
            <a:solidFill>
              <a:srgbClr val="5F8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600" b="0">
                <a:solidFill>
                  <a:srgbClr val="2B2418"/>
                </a:solidFill>
              </a:rPr>
              <a:t>gravitational-wave communication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8622" y="713232"/>
            <a:ext cx="2339583" cy="237744"/>
          </a:xfrm>
          <a:prstGeom prst="roundRect">
            <a:avLst/>
          </a:prstGeom>
          <a:solidFill>
            <a:srgbClr val="DDCDA6"/>
          </a:solidFill>
          <a:ln w="9525">
            <a:solidFill>
              <a:srgbClr val="5F8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T2 · 1600–3000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98622" y="99212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5F8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600" b="0">
                <a:solidFill>
                  <a:srgbClr val="2B2418"/>
                </a:solidFill>
              </a:rPr>
              <a:t>Subspace gravitic penetration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98622" y="1307592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5F8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600" b="0">
                <a:solidFill>
                  <a:srgbClr val="2B2418"/>
                </a:solidFill>
              </a:rPr>
              <a:t>RimAI - Level 1 Artificial Intelligence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93069" y="713232"/>
            <a:ext cx="2339583" cy="237744"/>
          </a:xfrm>
          <a:prstGeom prst="roundRect">
            <a:avLst/>
          </a:prstGeom>
          <a:solidFill>
            <a:srgbClr val="CDB989"/>
          </a:solidFill>
          <a:ln w="9525">
            <a:solidFill>
              <a:srgbClr val="5F8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T3 · 3000–5000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93069" y="99212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5F8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600" b="0">
                <a:solidFill>
                  <a:srgbClr val="2B2418"/>
                </a:solidFill>
              </a:rPr>
              <a:t>RimAI - Level 2 Artificial Intelligence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87516" y="713232"/>
            <a:ext cx="2339583" cy="237744"/>
          </a:xfrm>
          <a:prstGeom prst="roundRect">
            <a:avLst/>
          </a:prstGeom>
          <a:solidFill>
            <a:srgbClr val="BDA36C"/>
          </a:solidFill>
          <a:ln w="9525">
            <a:solidFill>
              <a:srgbClr val="5F8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T4 · 5000+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87516" y="992124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5F8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crypto-harmonization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87516" y="1307592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5F8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mechanoid beamcasting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87516" y="1623060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5F8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quantum pulse messaging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87516" y="1938528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5F8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voidlink connectivity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87516" y="2253996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5F8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600" b="0">
                <a:solidFill>
                  <a:srgbClr val="2B2418"/>
                </a:solidFill>
              </a:rPr>
              <a:t>RimAI - Level 3 Artificial Intelligence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87516" y="256946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5F8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Positronic Brain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4A7D86"/>
                </a:solidFill>
              </a:rPr>
              <a:t>THE SHIP  </a:t>
            </a:r>
            <a:r>
              <a:rPr sz="1100">
                <a:solidFill>
                  <a:srgbClr val="D8CFC0"/>
                </a:solidFill>
              </a:rPr>
              <a:t>the Utinni herself — gravtech, her systems, her guns, her memory   (29 techs)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" y="713232"/>
            <a:ext cx="2339583" cy="237744"/>
          </a:xfrm>
          <a:prstGeom prst="roundRect">
            <a:avLst/>
          </a:prstGeom>
          <a:solidFill>
            <a:srgbClr val="F2EAD9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T0 · ≤600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" y="992124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basic gravtech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" y="1307592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orbital tech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04175" y="713232"/>
            <a:ext cx="2339583" cy="237744"/>
          </a:xfrm>
          <a:prstGeom prst="roundRect">
            <a:avLst/>
          </a:prstGeom>
          <a:solidFill>
            <a:srgbClr val="E8DCC0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T1 · 600–1600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4175" y="992124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drill turret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04175" y="1307592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efficient drilling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04175" y="1623060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shuttle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98622" y="713232"/>
            <a:ext cx="2339583" cy="237744"/>
          </a:xfrm>
          <a:prstGeom prst="roundRect">
            <a:avLst/>
          </a:prstGeom>
          <a:solidFill>
            <a:srgbClr val="DDCDA6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T2 · 1600–3000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98622" y="992124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vacuum cryptosleep casket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8622" y="1307592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machine persuasion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93069" y="713232"/>
            <a:ext cx="2339583" cy="237744"/>
          </a:xfrm>
          <a:prstGeom prst="roundRect">
            <a:avLst/>
          </a:prstGeom>
          <a:solidFill>
            <a:srgbClr val="CDB989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T3 · 3000–5000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93069" y="992124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astrofuel refining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93069" y="1307592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compact workspaces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93069" y="1623060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gravship living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93069" y="1938528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gravship power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93069" y="2253996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heat dissipation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93069" y="2569464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oxygen network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93069" y="2884932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standard gravtech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93069" y="3200400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starflight basics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93069" y="3515868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starflight sensors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93069" y="3831336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gravship weaponry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93069" y="4146804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Ancient Era Ship Designs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93069" y="4462272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Clone Wars Era Ship Designs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93069" y="4777740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Empire Era Ship Designs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87516" y="713232"/>
            <a:ext cx="2339583" cy="237744"/>
          </a:xfrm>
          <a:prstGeom prst="roundRect">
            <a:avLst/>
          </a:prstGeom>
          <a:solidFill>
            <a:srgbClr val="BDA36C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T4 · 5000+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87516" y="992124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grav forge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87516" y="1307592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Johnson-Tanaka drive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87516" y="1623060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Manufacturing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7516" y="1938528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advanced gravtech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87516" y="2253996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precise grav tuning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87516" y="2569464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starship reactor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87516" y="2884932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advanced ship parts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87516" y="3200400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big cannons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87516" y="3515868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taming a Black Hole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8A6B9C"/>
                </a:solidFill>
              </a:rPr>
              <a:t>The Reach  </a:t>
            </a:r>
            <a:r>
              <a:rPr sz="1100">
                <a:solidFill>
                  <a:srgbClr val="D8CFC0"/>
                </a:solidFill>
              </a:rPr>
              <a:t>the trap — flesh, genes, bionics, archotech, priced brutally   (8 techs)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" y="713232"/>
            <a:ext cx="2339583" cy="237744"/>
          </a:xfrm>
          <a:prstGeom prst="roundRect">
            <a:avLst/>
          </a:prstGeom>
          <a:solidFill>
            <a:srgbClr val="F2EAD9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T0 · ≤600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" y="992124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prosthetics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04175" y="713232"/>
            <a:ext cx="2339583" cy="237744"/>
          </a:xfrm>
          <a:prstGeom prst="roundRect">
            <a:avLst/>
          </a:prstGeom>
          <a:solidFill>
            <a:srgbClr val="E8DCC0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T1 · 600–1600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04175" y="992124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Xenobiology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98622" y="713232"/>
            <a:ext cx="2339583" cy="237744"/>
          </a:xfrm>
          <a:prstGeom prst="roundRect">
            <a:avLst/>
          </a:prstGeom>
          <a:solidFill>
            <a:srgbClr val="DDCDA6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T2 · 1600–3000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98622" y="992124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Adv. Physiology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8622" y="1307592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bionic replacements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98622" y="1623060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cryptosleep casket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93069" y="713232"/>
            <a:ext cx="2339583" cy="237744"/>
          </a:xfrm>
          <a:prstGeom prst="roundRect">
            <a:avLst/>
          </a:prstGeom>
          <a:solidFill>
            <a:srgbClr val="CDB989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T3 · 3000–5000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93069" y="992124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Adv. Modular Implant Systems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87516" y="713232"/>
            <a:ext cx="2339583" cy="237744"/>
          </a:xfrm>
          <a:prstGeom prst="roundRect">
            <a:avLst/>
          </a:prstGeom>
          <a:solidFill>
            <a:srgbClr val="BDA36C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T4 · 5000+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87516" y="992124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grav bionics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87516" y="1307592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Modular Implant Systems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A8503F"/>
                </a:solidFill>
              </a:rPr>
              <a:t>The Junker Yards  </a:t>
            </a:r>
            <a:r>
              <a:rPr sz="1100">
                <a:solidFill>
                  <a:srgbClr val="D8CFC0"/>
                </a:solidFill>
              </a:rPr>
              <a:t>LOCKED · Junkers — everything warcasket; raid loot and quests only   (6 techs)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" y="713232"/>
            <a:ext cx="2339583" cy="237744"/>
          </a:xfrm>
          <a:prstGeom prst="roundRect">
            <a:avLst/>
          </a:prstGeom>
          <a:solidFill>
            <a:srgbClr val="F2EAD9"/>
          </a:solidFill>
          <a:ln w="9525">
            <a:solidFill>
              <a:srgbClr val="A85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T0 · ≤600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04175" y="713232"/>
            <a:ext cx="2339583" cy="237744"/>
          </a:xfrm>
          <a:prstGeom prst="roundRect">
            <a:avLst/>
          </a:prstGeom>
          <a:solidFill>
            <a:srgbClr val="E8DCC0"/>
          </a:solidFill>
          <a:ln w="9525">
            <a:solidFill>
              <a:srgbClr val="A85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T1 · 600–1600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8622" y="713232"/>
            <a:ext cx="2339583" cy="237744"/>
          </a:xfrm>
          <a:prstGeom prst="roundRect">
            <a:avLst/>
          </a:prstGeom>
          <a:solidFill>
            <a:srgbClr val="DDCDA6"/>
          </a:solidFill>
          <a:ln w="9525">
            <a:solidFill>
              <a:srgbClr val="A85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T2 · 1600–3000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8622" y="992124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A85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warcasket weaponry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98622" y="1307592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A85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spacer warcasket weaponry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98622" y="1623060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A85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600" b="0">
                <a:solidFill>
                  <a:srgbClr val="2B2418"/>
                </a:solidFill>
              </a:rPr>
              <a:t>warcaskets (salvaged shells only)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93069" y="713232"/>
            <a:ext cx="2339583" cy="237744"/>
          </a:xfrm>
          <a:prstGeom prst="roundRect">
            <a:avLst/>
          </a:prstGeom>
          <a:solidFill>
            <a:srgbClr val="CDB989"/>
          </a:solidFill>
          <a:ln w="9525">
            <a:solidFill>
              <a:srgbClr val="A85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T3 · 3000–5000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93069" y="992124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A85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advanced warcaskets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93069" y="1307592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A85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specialised warcaskets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87516" y="713232"/>
            <a:ext cx="2339583" cy="237744"/>
          </a:xfrm>
          <a:prstGeom prst="roundRect">
            <a:avLst/>
          </a:prstGeom>
          <a:solidFill>
            <a:srgbClr val="BDA36C"/>
          </a:solidFill>
          <a:ln w="9525">
            <a:solidFill>
              <a:srgbClr val="A85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T4 · 5000+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87516" y="992124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A85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spacer warcaskets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7D9C5A"/>
                </a:solidFill>
              </a:rPr>
              <a:t>The Foundry Hive  </a:t>
            </a:r>
            <a:r>
              <a:rPr sz="1100">
                <a:solidFill>
                  <a:srgbClr val="D8CFC0"/>
                </a:solidFill>
              </a:rPr>
              <a:t>LOCKED · Foundry Hive — sonic, hivetech, battle droids; they trade   (4 techs)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" y="713232"/>
            <a:ext cx="2339583" cy="237744"/>
          </a:xfrm>
          <a:prstGeom prst="roundRect">
            <a:avLst/>
          </a:prstGeom>
          <a:solidFill>
            <a:srgbClr val="F2EAD9"/>
          </a:solidFill>
          <a:ln w="9525">
            <a:solidFill>
              <a:srgbClr val="7D9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T0 · ≤600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04175" y="713232"/>
            <a:ext cx="2339583" cy="237744"/>
          </a:xfrm>
          <a:prstGeom prst="roundRect">
            <a:avLst/>
          </a:prstGeom>
          <a:solidFill>
            <a:srgbClr val="E8DCC0"/>
          </a:solidFill>
          <a:ln w="9525">
            <a:solidFill>
              <a:srgbClr val="7D9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T1 · 600–1600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04175" y="992124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D9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basic hivetech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04175" y="1307592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7D9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standard hivetech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98622" y="713232"/>
            <a:ext cx="2339583" cy="237744"/>
          </a:xfrm>
          <a:prstGeom prst="roundRect">
            <a:avLst/>
          </a:prstGeom>
          <a:solidFill>
            <a:srgbClr val="DDCDA6"/>
          </a:solidFill>
          <a:ln w="9525">
            <a:solidFill>
              <a:srgbClr val="7D9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T2 · 1600–3000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98622" y="992124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7D9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exotic hivetech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8622" y="1307592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7D9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sonic weaponry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93069" y="713232"/>
            <a:ext cx="2339583" cy="237744"/>
          </a:xfrm>
          <a:prstGeom prst="roundRect">
            <a:avLst/>
          </a:prstGeom>
          <a:solidFill>
            <a:srgbClr val="CDB989"/>
          </a:solidFill>
          <a:ln w="9525">
            <a:solidFill>
              <a:srgbClr val="7D9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T3 · 3000–5000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87516" y="713232"/>
            <a:ext cx="2339583" cy="237744"/>
          </a:xfrm>
          <a:prstGeom prst="roundRect">
            <a:avLst/>
          </a:prstGeom>
          <a:solidFill>
            <a:srgbClr val="BDA36C"/>
          </a:solidFill>
          <a:ln w="9525">
            <a:solidFill>
              <a:srgbClr val="7D9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T4 · 5000+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8A6B9C"/>
                </a:solidFill>
              </a:rPr>
              <a:t>The Ascendant Ladder  </a:t>
            </a:r>
            <a:r>
              <a:rPr sz="1100">
                <a:solidFill>
                  <a:srgbClr val="D8CFC0"/>
                </a:solidFill>
              </a:rPr>
              <a:t>LOCKED · Helix — genes, biosculpting, the flesh ladder   (8 techs)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" y="713232"/>
            <a:ext cx="2339583" cy="237744"/>
          </a:xfrm>
          <a:prstGeom prst="roundRect">
            <a:avLst/>
          </a:prstGeom>
          <a:solidFill>
            <a:srgbClr val="F2EAD9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T0 · ≤600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" y="992124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growth vats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04175" y="713232"/>
            <a:ext cx="2339583" cy="237744"/>
          </a:xfrm>
          <a:prstGeom prst="roundRect">
            <a:avLst/>
          </a:prstGeom>
          <a:solidFill>
            <a:srgbClr val="E8DCC0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T1 · 600–1600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04175" y="992124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fertility procedures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4175" y="1307592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xenogenetics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04175" y="1623060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biosculpting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04175" y="1938528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gene processor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04175" y="2253996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neural supercharger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98622" y="713232"/>
            <a:ext cx="2339583" cy="237744"/>
          </a:xfrm>
          <a:prstGeom prst="roundRect">
            <a:avLst/>
          </a:prstGeom>
          <a:solidFill>
            <a:srgbClr val="DDCDA6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T2 · 1600–3000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8622" y="992124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archogenetics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93069" y="713232"/>
            <a:ext cx="2339583" cy="237744"/>
          </a:xfrm>
          <a:prstGeom prst="roundRect">
            <a:avLst/>
          </a:prstGeom>
          <a:solidFill>
            <a:srgbClr val="CDB989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T3 · 3000–5000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93069" y="992124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bioregeneration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87516" y="713232"/>
            <a:ext cx="2339583" cy="237744"/>
          </a:xfrm>
          <a:prstGeom prst="roundRect">
            <a:avLst/>
          </a:prstGeom>
          <a:solidFill>
            <a:srgbClr val="BDA36C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T4 · 5000+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6F9083"/>
                </a:solidFill>
              </a:rPr>
              <a:t>The Unbolting  </a:t>
            </a:r>
            <a:r>
              <a:rPr sz="1100">
                <a:solidFill>
                  <a:srgbClr val="D8CFC0"/>
                </a:solidFill>
              </a:rPr>
              <a:t>LOCKED · Free Droid Enclaves — building droids at all   (34 techs)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" y="713232"/>
            <a:ext cx="2339583" cy="237744"/>
          </a:xfrm>
          <a:prstGeom prst="roundRect">
            <a:avLst/>
          </a:prstGeom>
          <a:solidFill>
            <a:srgbClr val="F2EAD9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T0 · ≤600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" y="99212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light alpha mechs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" y="1307592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standard alpha mechs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04175" y="713232"/>
            <a:ext cx="2339583" cy="237744"/>
          </a:xfrm>
          <a:prstGeom prst="roundRect">
            <a:avLst/>
          </a:prstGeom>
          <a:solidFill>
            <a:srgbClr val="E8DCC0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T1 · 600–1600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4175" y="99212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heavy alpha mechs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04175" y="1307592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standard mechtech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04175" y="1623060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core assistants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04175" y="1938528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synstruct infrastructure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04175" y="2253996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ultra parts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8622" y="713232"/>
            <a:ext cx="2339583" cy="237744"/>
          </a:xfrm>
          <a:prstGeom prst="roundRect">
            <a:avLst/>
          </a:prstGeom>
          <a:solidFill>
            <a:srgbClr val="DDCDA6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T2 · 1600–3000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98622" y="99212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Advanced Parts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8622" y="1307592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Advanced Systems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98622" y="1623060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Assassin Droids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98622" y="1938528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Astromech Droids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98622" y="2253996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Battle Droids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98622" y="256946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Labor Droids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8622" y="2884932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Maintenance Droids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98622" y="3200400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Medical Droids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98622" y="3515868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Overclocked Parts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98622" y="3831336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Power Droids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98622" y="414680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Protocol Droids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98622" y="4462272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Security Droids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98622" y="4777740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adv. combat droids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98622" y="5093208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adv. labor droids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98622" y="5408676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adv. utility droids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98622" y="572414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assassin droids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98622" y="6039612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simple droids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98622" y="6355080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ultra-heavy alpha mechs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96771" y="99212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high mechtech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93069" y="713232"/>
            <a:ext cx="2339583" cy="237744"/>
          </a:xfrm>
          <a:prstGeom prst="roundRect">
            <a:avLst/>
          </a:prstGeom>
          <a:solidFill>
            <a:srgbClr val="CDB989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T3 · 3000–5000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93069" y="99212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Droid Engineering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93069" y="1307592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droid upgrades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293069" y="1623060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synstruct optimization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93069" y="1938528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Sith war droids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93069" y="2253996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assault droids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93069" y="256946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ultra mechtech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687516" y="713232"/>
            <a:ext cx="2339583" cy="237744"/>
          </a:xfrm>
          <a:prstGeom prst="roundRect">
            <a:avLst/>
          </a:prstGeom>
          <a:solidFill>
            <a:srgbClr val="BDA36C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T4 · 5000+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687516" y="99212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specialist droids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687516" y="1307592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HK-51 assassin droids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