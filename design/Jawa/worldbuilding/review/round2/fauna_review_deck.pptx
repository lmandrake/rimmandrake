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png"/><Relationship Id="rId25" Type="http://schemas.openxmlformats.org/officeDocument/2006/relationships/image" Target="../media/image24.png"/><Relationship Id="rId26" Type="http://schemas.openxmlformats.org/officeDocument/2006/relationships/image" Target="../media/image25.png"/><Relationship Id="rId27" Type="http://schemas.openxmlformats.org/officeDocument/2006/relationships/image" Target="../media/image26.png"/><Relationship Id="rId28" Type="http://schemas.openxmlformats.org/officeDocument/2006/relationships/image" Target="../media/image27.png"/><Relationship Id="rId29" Type="http://schemas.openxmlformats.org/officeDocument/2006/relationships/image" Target="../media/image28.png"/><Relationship Id="rId30" Type="http://schemas.openxmlformats.org/officeDocument/2006/relationships/image" Target="../media/image29.png"/><Relationship Id="rId31" Type="http://schemas.openxmlformats.org/officeDocument/2006/relationships/image" Target="../media/image30.png"/><Relationship Id="rId32" Type="http://schemas.openxmlformats.org/officeDocument/2006/relationships/image" Target="../media/image31.png"/><Relationship Id="rId33" Type="http://schemas.openxmlformats.org/officeDocument/2006/relationships/image" Target="../media/image32.png"/><Relationship Id="rId34" Type="http://schemas.openxmlformats.org/officeDocument/2006/relationships/image" Target="../media/image33.png"/><Relationship Id="rId35" Type="http://schemas.openxmlformats.org/officeDocument/2006/relationships/image" Target="../media/image34.png"/><Relationship Id="rId36" Type="http://schemas.openxmlformats.org/officeDocument/2006/relationships/image" Target="../media/image35.png"/><Relationship Id="rId37" Type="http://schemas.openxmlformats.org/officeDocument/2006/relationships/image" Target="../media/image36.png"/><Relationship Id="rId38" Type="http://schemas.openxmlformats.org/officeDocument/2006/relationships/image" Target="../media/image37.png"/><Relationship Id="rId39" Type="http://schemas.openxmlformats.org/officeDocument/2006/relationships/image" Target="../media/image38.png"/><Relationship Id="rId40" Type="http://schemas.openxmlformats.org/officeDocument/2006/relationships/image" Target="../media/image39.png"/><Relationship Id="rId41" Type="http://schemas.openxmlformats.org/officeDocument/2006/relationships/image" Target="../media/image40.png"/><Relationship Id="rId42" Type="http://schemas.openxmlformats.org/officeDocument/2006/relationships/image" Target="../media/image41.png"/><Relationship Id="rId43" Type="http://schemas.openxmlformats.org/officeDocument/2006/relationships/image" Target="../media/image42.png"/><Relationship Id="rId44" Type="http://schemas.openxmlformats.org/officeDocument/2006/relationships/image" Target="../media/image43.png"/><Relationship Id="rId45" Type="http://schemas.openxmlformats.org/officeDocument/2006/relationships/image" Target="../media/image44.png"/><Relationship Id="rId46" Type="http://schemas.openxmlformats.org/officeDocument/2006/relationships/image" Target="../media/image45.png"/><Relationship Id="rId47" Type="http://schemas.openxmlformats.org/officeDocument/2006/relationships/image" Target="../media/image46.png"/><Relationship Id="rId48" Type="http://schemas.openxmlformats.org/officeDocument/2006/relationships/image" Target="../media/image4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 Id="rId13" Type="http://schemas.openxmlformats.org/officeDocument/2006/relationships/image" Target="../media/image56.png"/><Relationship Id="rId14" Type="http://schemas.openxmlformats.org/officeDocument/2006/relationships/image" Target="../media/image57.png"/><Relationship Id="rId15" Type="http://schemas.openxmlformats.org/officeDocument/2006/relationships/image" Target="../media/image58.png"/><Relationship Id="rId16" Type="http://schemas.openxmlformats.org/officeDocument/2006/relationships/image" Target="../media/image59.png"/><Relationship Id="rId17" Type="http://schemas.openxmlformats.org/officeDocument/2006/relationships/image" Target="../media/image60.png"/><Relationship Id="rId18" Type="http://schemas.openxmlformats.org/officeDocument/2006/relationships/image" Target="../media/image61.png"/><Relationship Id="rId19" Type="http://schemas.openxmlformats.org/officeDocument/2006/relationships/image" Target="../media/image62.png"/><Relationship Id="rId20" Type="http://schemas.openxmlformats.org/officeDocument/2006/relationships/image" Target="../media/image63.png"/><Relationship Id="rId21" Type="http://schemas.openxmlformats.org/officeDocument/2006/relationships/image" Target="../media/image64.png"/><Relationship Id="rId22" Type="http://schemas.openxmlformats.org/officeDocument/2006/relationships/image" Target="../media/image65.png"/><Relationship Id="rId23" Type="http://schemas.openxmlformats.org/officeDocument/2006/relationships/image" Target="../media/image66.png"/><Relationship Id="rId24" Type="http://schemas.openxmlformats.org/officeDocument/2006/relationships/image" Target="../media/image67.png"/><Relationship Id="rId25" Type="http://schemas.openxmlformats.org/officeDocument/2006/relationships/image" Target="../media/image68.png"/><Relationship Id="rId26" Type="http://schemas.openxmlformats.org/officeDocument/2006/relationships/image" Target="../media/image69.png"/><Relationship Id="rId27" Type="http://schemas.openxmlformats.org/officeDocument/2006/relationships/image" Target="../media/image70.png"/><Relationship Id="rId28" Type="http://schemas.openxmlformats.org/officeDocument/2006/relationships/image" Target="../media/image71.png"/><Relationship Id="rId29" Type="http://schemas.openxmlformats.org/officeDocument/2006/relationships/image" Target="../media/image8.png"/><Relationship Id="rId30" Type="http://schemas.openxmlformats.org/officeDocument/2006/relationships/image" Target="../media/image72.png"/><Relationship Id="rId31" Type="http://schemas.openxmlformats.org/officeDocument/2006/relationships/image" Target="../media/image73.png"/><Relationship Id="rId32" Type="http://schemas.openxmlformats.org/officeDocument/2006/relationships/image" Target="../media/image74.png"/><Relationship Id="rId33" Type="http://schemas.openxmlformats.org/officeDocument/2006/relationships/image" Target="../media/image75.png"/><Relationship Id="rId34" Type="http://schemas.openxmlformats.org/officeDocument/2006/relationships/image" Target="../media/image19.png"/><Relationship Id="rId35" Type="http://schemas.openxmlformats.org/officeDocument/2006/relationships/image" Target="../media/image76.png"/><Relationship Id="rId36" Type="http://schemas.openxmlformats.org/officeDocument/2006/relationships/image" Target="../media/image20.png"/><Relationship Id="rId37" Type="http://schemas.openxmlformats.org/officeDocument/2006/relationships/image" Target="../media/image21.png"/><Relationship Id="rId38" Type="http://schemas.openxmlformats.org/officeDocument/2006/relationships/image" Target="../media/image24.png"/><Relationship Id="rId39" Type="http://schemas.openxmlformats.org/officeDocument/2006/relationships/image" Target="../media/image77.png"/><Relationship Id="rId40" Type="http://schemas.openxmlformats.org/officeDocument/2006/relationships/image" Target="../media/image30.png"/><Relationship Id="rId41" Type="http://schemas.openxmlformats.org/officeDocument/2006/relationships/image" Target="../media/image31.png"/><Relationship Id="rId42" Type="http://schemas.openxmlformats.org/officeDocument/2006/relationships/image" Target="../media/image35.png"/><Relationship Id="rId43" Type="http://schemas.openxmlformats.org/officeDocument/2006/relationships/image" Target="../media/image38.png"/><Relationship Id="rId44" Type="http://schemas.openxmlformats.org/officeDocument/2006/relationships/image" Target="../media/image39.png"/><Relationship Id="rId45" Type="http://schemas.openxmlformats.org/officeDocument/2006/relationships/image" Target="../media/image41.png"/><Relationship Id="rId46" Type="http://schemas.openxmlformats.org/officeDocument/2006/relationships/image" Target="../media/image78.png"/><Relationship Id="rId47" Type="http://schemas.openxmlformats.org/officeDocument/2006/relationships/image" Target="../media/image79.png"/><Relationship Id="rId48" Type="http://schemas.openxmlformats.org/officeDocument/2006/relationships/image" Target="../media/image8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7.png"/><Relationship Id="rId9" Type="http://schemas.openxmlformats.org/officeDocument/2006/relationships/image" Target="../media/image86.png"/><Relationship Id="rId10" Type="http://schemas.openxmlformats.org/officeDocument/2006/relationships/image" Target="../media/image87.pn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90.png"/><Relationship Id="rId14" Type="http://schemas.openxmlformats.org/officeDocument/2006/relationships/image" Target="../media/image91.png"/><Relationship Id="rId15" Type="http://schemas.openxmlformats.org/officeDocument/2006/relationships/image" Target="../media/image92.png"/><Relationship Id="rId16" Type="http://schemas.openxmlformats.org/officeDocument/2006/relationships/image" Target="../media/image93.png"/><Relationship Id="rId17" Type="http://schemas.openxmlformats.org/officeDocument/2006/relationships/image" Target="../media/image94.png"/><Relationship Id="rId18" Type="http://schemas.openxmlformats.org/officeDocument/2006/relationships/image" Target="../media/image95.png"/><Relationship Id="rId19" Type="http://schemas.openxmlformats.org/officeDocument/2006/relationships/image" Target="../media/image96.png"/><Relationship Id="rId20" Type="http://schemas.openxmlformats.org/officeDocument/2006/relationships/image" Target="../media/image97.png"/><Relationship Id="rId21" Type="http://schemas.openxmlformats.org/officeDocument/2006/relationships/image" Target="../media/image98.png"/><Relationship Id="rId22" Type="http://schemas.openxmlformats.org/officeDocument/2006/relationships/image" Target="../media/image99.png"/><Relationship Id="rId23" Type="http://schemas.openxmlformats.org/officeDocument/2006/relationships/image" Target="../media/image100.png"/><Relationship Id="rId24" Type="http://schemas.openxmlformats.org/officeDocument/2006/relationships/image" Target="../media/image101.png"/><Relationship Id="rId25" Type="http://schemas.openxmlformats.org/officeDocument/2006/relationships/image" Target="../media/image102.png"/><Relationship Id="rId26" Type="http://schemas.openxmlformats.org/officeDocument/2006/relationships/image" Target="../media/image103.png"/><Relationship Id="rId27" Type="http://schemas.openxmlformats.org/officeDocument/2006/relationships/image" Target="../media/image104.png"/><Relationship Id="rId28" Type="http://schemas.openxmlformats.org/officeDocument/2006/relationships/image" Target="../media/image105.png"/><Relationship Id="rId29" Type="http://schemas.openxmlformats.org/officeDocument/2006/relationships/image" Target="../media/image106.png"/><Relationship Id="rId30" Type="http://schemas.openxmlformats.org/officeDocument/2006/relationships/image" Target="../media/image107.png"/><Relationship Id="rId31" Type="http://schemas.openxmlformats.org/officeDocument/2006/relationships/image" Target="../media/image108.png"/><Relationship Id="rId32" Type="http://schemas.openxmlformats.org/officeDocument/2006/relationships/image" Target="../media/image109.png"/><Relationship Id="rId33" Type="http://schemas.openxmlformats.org/officeDocument/2006/relationships/image" Target="../media/image110.png"/><Relationship Id="rId34" Type="http://schemas.openxmlformats.org/officeDocument/2006/relationships/image" Target="../media/image111.png"/><Relationship Id="rId35" Type="http://schemas.openxmlformats.org/officeDocument/2006/relationships/image" Target="../media/image112.png"/><Relationship Id="rId36" Type="http://schemas.openxmlformats.org/officeDocument/2006/relationships/image" Target="../media/image113.png"/><Relationship Id="rId37" Type="http://schemas.openxmlformats.org/officeDocument/2006/relationships/image" Target="../media/image114.png"/><Relationship Id="rId38" Type="http://schemas.openxmlformats.org/officeDocument/2006/relationships/image" Target="../media/image115.png"/><Relationship Id="rId39" Type="http://schemas.openxmlformats.org/officeDocument/2006/relationships/image" Target="../media/image116.png"/><Relationship Id="rId40" Type="http://schemas.openxmlformats.org/officeDocument/2006/relationships/image" Target="../media/image117.png"/><Relationship Id="rId41" Type="http://schemas.openxmlformats.org/officeDocument/2006/relationships/image" Target="../media/image1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image" Target="../media/image70.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 Id="rId10" Type="http://schemas.openxmlformats.org/officeDocument/2006/relationships/image" Target="../media/image126.png"/><Relationship Id="rId11" Type="http://schemas.openxmlformats.org/officeDocument/2006/relationships/image" Target="../media/image127.png"/><Relationship Id="rId12" Type="http://schemas.openxmlformats.org/officeDocument/2006/relationships/image" Target="../media/image128.png"/><Relationship Id="rId13" Type="http://schemas.openxmlformats.org/officeDocument/2006/relationships/image" Target="../media/image129.png"/><Relationship Id="rId14" Type="http://schemas.openxmlformats.org/officeDocument/2006/relationships/image" Target="../media/image130.png"/><Relationship Id="rId15" Type="http://schemas.openxmlformats.org/officeDocument/2006/relationships/image" Target="../media/image131.png"/><Relationship Id="rId16" Type="http://schemas.openxmlformats.org/officeDocument/2006/relationships/image" Target="../media/image132.png"/><Relationship Id="rId17" Type="http://schemas.openxmlformats.org/officeDocument/2006/relationships/image" Target="../media/image133.png"/><Relationship Id="rId18" Type="http://schemas.openxmlformats.org/officeDocument/2006/relationships/image" Target="../media/image134.png"/><Relationship Id="rId19" Type="http://schemas.openxmlformats.org/officeDocument/2006/relationships/image" Target="../media/image135.png"/><Relationship Id="rId20" Type="http://schemas.openxmlformats.org/officeDocument/2006/relationships/image" Target="../media/image136.png"/><Relationship Id="rId21" Type="http://schemas.openxmlformats.org/officeDocument/2006/relationships/image" Target="../media/image137.png"/><Relationship Id="rId22" Type="http://schemas.openxmlformats.org/officeDocument/2006/relationships/image" Target="../media/image138.png"/><Relationship Id="rId23" Type="http://schemas.openxmlformats.org/officeDocument/2006/relationships/image" Target="../media/image139.png"/><Relationship Id="rId24" Type="http://schemas.openxmlformats.org/officeDocument/2006/relationships/image" Target="../media/image14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image" Target="../media/image146.png"/><Relationship Id="rId8" Type="http://schemas.openxmlformats.org/officeDocument/2006/relationships/image" Target="../media/image147.png"/><Relationship Id="rId9" Type="http://schemas.openxmlformats.org/officeDocument/2006/relationships/image" Target="../media/image148.png"/><Relationship Id="rId10" Type="http://schemas.openxmlformats.org/officeDocument/2006/relationships/image" Target="../media/image17.png"/><Relationship Id="rId11" Type="http://schemas.openxmlformats.org/officeDocument/2006/relationships/image" Target="../media/image149.png"/><Relationship Id="rId12" Type="http://schemas.openxmlformats.org/officeDocument/2006/relationships/image" Target="../media/image21.png"/><Relationship Id="rId13" Type="http://schemas.openxmlformats.org/officeDocument/2006/relationships/image" Target="../media/image24.png"/><Relationship Id="rId14" Type="http://schemas.openxmlformats.org/officeDocument/2006/relationships/image" Target="../media/image77.png"/><Relationship Id="rId15" Type="http://schemas.openxmlformats.org/officeDocument/2006/relationships/image" Target="../media/image150.png"/><Relationship Id="rId16" Type="http://schemas.openxmlformats.org/officeDocument/2006/relationships/image" Target="../media/image29.png"/><Relationship Id="rId17" Type="http://schemas.openxmlformats.org/officeDocument/2006/relationships/image" Target="../media/image32.png"/><Relationship Id="rId18" Type="http://schemas.openxmlformats.org/officeDocument/2006/relationships/image" Target="../media/image130.png"/><Relationship Id="rId19" Type="http://schemas.openxmlformats.org/officeDocument/2006/relationships/image" Target="../media/image41.png"/><Relationship Id="rId20" Type="http://schemas.openxmlformats.org/officeDocument/2006/relationships/image" Target="../media/image151.png"/><Relationship Id="rId21" Type="http://schemas.openxmlformats.org/officeDocument/2006/relationships/image" Target="../media/image15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image" Target="../media/image154.png"/><Relationship Id="rId4" Type="http://schemas.openxmlformats.org/officeDocument/2006/relationships/image" Target="../media/image2.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21.png"/><Relationship Id="rId9" Type="http://schemas.openxmlformats.org/officeDocument/2006/relationships/image" Target="../media/image158.png"/><Relationship Id="rId10" Type="http://schemas.openxmlformats.org/officeDocument/2006/relationships/image" Target="../media/image159.png"/><Relationship Id="rId11" Type="http://schemas.openxmlformats.org/officeDocument/2006/relationships/image" Target="../media/image160.png"/><Relationship Id="rId12" Type="http://schemas.openxmlformats.org/officeDocument/2006/relationships/image" Target="../media/image161.png"/><Relationship Id="rId13" Type="http://schemas.openxmlformats.org/officeDocument/2006/relationships/image" Target="../media/image162.png"/><Relationship Id="rId14" Type="http://schemas.openxmlformats.org/officeDocument/2006/relationships/image" Target="../media/image163.png"/><Relationship Id="rId15" Type="http://schemas.openxmlformats.org/officeDocument/2006/relationships/image" Target="../media/image164.png"/><Relationship Id="rId16" Type="http://schemas.openxmlformats.org/officeDocument/2006/relationships/image" Target="../media/image165.png"/><Relationship Id="rId17" Type="http://schemas.openxmlformats.org/officeDocument/2006/relationships/image" Target="../media/image127.png"/><Relationship Id="rId18" Type="http://schemas.openxmlformats.org/officeDocument/2006/relationships/image" Target="../media/image166.png"/><Relationship Id="rId19" Type="http://schemas.openxmlformats.org/officeDocument/2006/relationships/image" Target="../media/image167.png"/><Relationship Id="rId20" Type="http://schemas.openxmlformats.org/officeDocument/2006/relationships/image" Target="../media/image168.png"/><Relationship Id="rId21" Type="http://schemas.openxmlformats.org/officeDocument/2006/relationships/image" Target="../media/image169.png"/><Relationship Id="rId22" Type="http://schemas.openxmlformats.org/officeDocument/2006/relationships/image" Target="../media/image170.png"/><Relationship Id="rId23" Type="http://schemas.openxmlformats.org/officeDocument/2006/relationships/image" Target="../media/image171.png"/><Relationship Id="rId24" Type="http://schemas.openxmlformats.org/officeDocument/2006/relationships/image" Target="../media/image172.png"/><Relationship Id="rId25" Type="http://schemas.openxmlformats.org/officeDocument/2006/relationships/image" Target="../media/image173.png"/><Relationship Id="rId26" Type="http://schemas.openxmlformats.org/officeDocument/2006/relationships/image" Target="../media/image174.png"/><Relationship Id="rId27" Type="http://schemas.openxmlformats.org/officeDocument/2006/relationships/image" Target="../media/image175.png"/><Relationship Id="rId28" Type="http://schemas.openxmlformats.org/officeDocument/2006/relationships/image" Target="../media/image176.png"/><Relationship Id="rId29" Type="http://schemas.openxmlformats.org/officeDocument/2006/relationships/image" Target="../media/image17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 Id="rId3" Type="http://schemas.openxmlformats.org/officeDocument/2006/relationships/image" Target="../media/image179.png"/><Relationship Id="rId4" Type="http://schemas.openxmlformats.org/officeDocument/2006/relationships/image" Target="../media/image180.png"/><Relationship Id="rId5" Type="http://schemas.openxmlformats.org/officeDocument/2006/relationships/image" Target="../media/image181.png"/><Relationship Id="rId6" Type="http://schemas.openxmlformats.org/officeDocument/2006/relationships/image" Target="../media/image182.png"/><Relationship Id="rId7" Type="http://schemas.openxmlformats.org/officeDocument/2006/relationships/image" Target="../media/image183.png"/><Relationship Id="rId8" Type="http://schemas.openxmlformats.org/officeDocument/2006/relationships/image" Target="../media/image71.png"/><Relationship Id="rId9" Type="http://schemas.openxmlformats.org/officeDocument/2006/relationships/image" Target="../media/image184.png"/><Relationship Id="rId10" Type="http://schemas.openxmlformats.org/officeDocument/2006/relationships/image" Target="../media/image157.png"/><Relationship Id="rId11" Type="http://schemas.openxmlformats.org/officeDocument/2006/relationships/image" Target="../media/image185.png"/><Relationship Id="rId12" Type="http://schemas.openxmlformats.org/officeDocument/2006/relationships/image" Target="../media/image13.png"/><Relationship Id="rId13" Type="http://schemas.openxmlformats.org/officeDocument/2006/relationships/image" Target="../media/image15.png"/><Relationship Id="rId14" Type="http://schemas.openxmlformats.org/officeDocument/2006/relationships/image" Target="../media/image186.png"/><Relationship Id="rId15" Type="http://schemas.openxmlformats.org/officeDocument/2006/relationships/image" Target="../media/image150.png"/><Relationship Id="rId16" Type="http://schemas.openxmlformats.org/officeDocument/2006/relationships/image" Target="../media/image32.png"/><Relationship Id="rId17" Type="http://schemas.openxmlformats.org/officeDocument/2006/relationships/image" Target="../media/image129.png"/><Relationship Id="rId18" Type="http://schemas.openxmlformats.org/officeDocument/2006/relationships/image" Target="../media/image130.png"/><Relationship Id="rId19" Type="http://schemas.openxmlformats.org/officeDocument/2006/relationships/image" Target="../media/image187.png"/><Relationship Id="rId20" Type="http://schemas.openxmlformats.org/officeDocument/2006/relationships/image" Target="../media/image188.png"/><Relationship Id="rId21" Type="http://schemas.openxmlformats.org/officeDocument/2006/relationships/image" Target="../media/image189.png"/><Relationship Id="rId22" Type="http://schemas.openxmlformats.org/officeDocument/2006/relationships/image" Target="../media/image19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91.png"/><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195.png"/><Relationship Id="rId8" Type="http://schemas.openxmlformats.org/officeDocument/2006/relationships/image" Target="../media/image164.png"/><Relationship Id="rId9" Type="http://schemas.openxmlformats.org/officeDocument/2006/relationships/image" Target="../media/image196.png"/><Relationship Id="rId10" Type="http://schemas.openxmlformats.org/officeDocument/2006/relationships/image" Target="../media/image197.png"/><Relationship Id="rId11" Type="http://schemas.openxmlformats.org/officeDocument/2006/relationships/image" Target="../media/image90.png"/><Relationship Id="rId12" Type="http://schemas.openxmlformats.org/officeDocument/2006/relationships/image" Target="../media/image166.png"/><Relationship Id="rId13" Type="http://schemas.openxmlformats.org/officeDocument/2006/relationships/image" Target="../media/image198.png"/><Relationship Id="rId14" Type="http://schemas.openxmlformats.org/officeDocument/2006/relationships/image" Target="../media/image199.png"/><Relationship Id="rId15" Type="http://schemas.openxmlformats.org/officeDocument/2006/relationships/image" Target="../media/image200.png"/><Relationship Id="rId16" Type="http://schemas.openxmlformats.org/officeDocument/2006/relationships/image" Target="../media/image201.png"/><Relationship Id="rId17" Type="http://schemas.openxmlformats.org/officeDocument/2006/relationships/image" Target="../media/image202.png"/><Relationship Id="rId18" Type="http://schemas.openxmlformats.org/officeDocument/2006/relationships/image" Target="../media/image173.png"/><Relationship Id="rId19" Type="http://schemas.openxmlformats.org/officeDocument/2006/relationships/image" Target="../media/image203.png"/><Relationship Id="rId20" Type="http://schemas.openxmlformats.org/officeDocument/2006/relationships/image" Target="../media/image204.png"/><Relationship Id="rId21" Type="http://schemas.openxmlformats.org/officeDocument/2006/relationships/image" Target="../media/image205.png"/><Relationship Id="rId22" Type="http://schemas.openxmlformats.org/officeDocument/2006/relationships/image" Target="../media/image206.png"/><Relationship Id="rId23" Type="http://schemas.openxmlformats.org/officeDocument/2006/relationships/image" Target="../media/image20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 Id="rId3" Type="http://schemas.openxmlformats.org/officeDocument/2006/relationships/image" Target="../media/image209.png"/><Relationship Id="rId4" Type="http://schemas.openxmlformats.org/officeDocument/2006/relationships/image" Target="../media/image210.png"/><Relationship Id="rId5" Type="http://schemas.openxmlformats.org/officeDocument/2006/relationships/image" Target="../media/image211.png"/><Relationship Id="rId6" Type="http://schemas.openxmlformats.org/officeDocument/2006/relationships/image" Target="../media/image212.png"/><Relationship Id="rId7" Type="http://schemas.openxmlformats.org/officeDocument/2006/relationships/image" Target="../media/image213.png"/><Relationship Id="rId8" Type="http://schemas.openxmlformats.org/officeDocument/2006/relationships/image" Target="../media/image214.png"/><Relationship Id="rId9" Type="http://schemas.openxmlformats.org/officeDocument/2006/relationships/image" Target="../media/image94.png"/><Relationship Id="rId10" Type="http://schemas.openxmlformats.org/officeDocument/2006/relationships/image" Target="../media/image215.png"/><Relationship Id="rId11" Type="http://schemas.openxmlformats.org/officeDocument/2006/relationships/image" Target="../media/image216.png"/><Relationship Id="rId12" Type="http://schemas.openxmlformats.org/officeDocument/2006/relationships/image" Target="../media/image217.png"/><Relationship Id="rId13" Type="http://schemas.openxmlformats.org/officeDocument/2006/relationships/image" Target="../media/image2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 Id="rId3" Type="http://schemas.openxmlformats.org/officeDocument/2006/relationships/image" Target="../media/image220.png"/><Relationship Id="rId4" Type="http://schemas.openxmlformats.org/officeDocument/2006/relationships/image" Target="../media/image221.png"/><Relationship Id="rId5" Type="http://schemas.openxmlformats.org/officeDocument/2006/relationships/image" Target="../media/image222.png"/><Relationship Id="rId6" Type="http://schemas.openxmlformats.org/officeDocument/2006/relationships/image" Target="../media/image223.png"/><Relationship Id="rId7" Type="http://schemas.openxmlformats.org/officeDocument/2006/relationships/image" Target="../media/image62.png"/><Relationship Id="rId8" Type="http://schemas.openxmlformats.org/officeDocument/2006/relationships/image" Target="../media/image224.png"/><Relationship Id="rId9" Type="http://schemas.openxmlformats.org/officeDocument/2006/relationships/image" Target="../media/image225.png"/><Relationship Id="rId10" Type="http://schemas.openxmlformats.org/officeDocument/2006/relationships/image" Target="../media/image226.png"/><Relationship Id="rId11" Type="http://schemas.openxmlformats.org/officeDocument/2006/relationships/image" Target="../media/image227.png"/><Relationship Id="rId12" Type="http://schemas.openxmlformats.org/officeDocument/2006/relationships/image" Target="../media/image228.png"/><Relationship Id="rId13" Type="http://schemas.openxmlformats.org/officeDocument/2006/relationships/image" Target="../media/image229.png"/><Relationship Id="rId14" Type="http://schemas.openxmlformats.org/officeDocument/2006/relationships/image" Target="../media/image230.png"/><Relationship Id="rId15" Type="http://schemas.openxmlformats.org/officeDocument/2006/relationships/image" Target="../media/image231.png"/><Relationship Id="rId16" Type="http://schemas.openxmlformats.org/officeDocument/2006/relationships/image" Target="../media/image232.png"/><Relationship Id="rId17" Type="http://schemas.openxmlformats.org/officeDocument/2006/relationships/image" Target="../media/image217.png"/><Relationship Id="rId18" Type="http://schemas.openxmlformats.org/officeDocument/2006/relationships/image" Target="../media/image233.png"/><Relationship Id="rId19" Type="http://schemas.openxmlformats.org/officeDocument/2006/relationships/image" Target="../media/image234.png"/><Relationship Id="rId20" Type="http://schemas.openxmlformats.org/officeDocument/2006/relationships/image" Target="../media/image235.png"/><Relationship Id="rId21" Type="http://schemas.openxmlformats.org/officeDocument/2006/relationships/image" Target="../media/image2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237.png"/><Relationship Id="rId4" Type="http://schemas.openxmlformats.org/officeDocument/2006/relationships/image" Target="../media/image238.png"/><Relationship Id="rId5" Type="http://schemas.openxmlformats.org/officeDocument/2006/relationships/image" Target="../media/image144.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39.png"/><Relationship Id="rId10" Type="http://schemas.openxmlformats.org/officeDocument/2006/relationships/image" Target="../media/image29.png"/><Relationship Id="rId11" Type="http://schemas.openxmlformats.org/officeDocument/2006/relationships/image" Target="../media/image32.png"/><Relationship Id="rId12" Type="http://schemas.openxmlformats.org/officeDocument/2006/relationships/image" Target="../media/image240.png"/><Relationship Id="rId13" Type="http://schemas.openxmlformats.org/officeDocument/2006/relationships/image" Target="../media/image241.png"/><Relationship Id="rId14" Type="http://schemas.openxmlformats.org/officeDocument/2006/relationships/image" Target="../media/image242.png"/><Relationship Id="rId15" Type="http://schemas.openxmlformats.org/officeDocument/2006/relationships/image" Target="../media/image1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243.png"/><Relationship Id="rId4" Type="http://schemas.openxmlformats.org/officeDocument/2006/relationships/image" Target="../media/image8.png"/><Relationship Id="rId5" Type="http://schemas.openxmlformats.org/officeDocument/2006/relationships/image" Target="../media/image244.png"/><Relationship Id="rId6" Type="http://schemas.openxmlformats.org/officeDocument/2006/relationships/image" Target="../media/image245.png"/><Relationship Id="rId7" Type="http://schemas.openxmlformats.org/officeDocument/2006/relationships/image" Target="../media/image246.png"/><Relationship Id="rId8" Type="http://schemas.openxmlformats.org/officeDocument/2006/relationships/image" Target="../media/image247.png"/><Relationship Id="rId9" Type="http://schemas.openxmlformats.org/officeDocument/2006/relationships/image" Target="../media/image29.png"/><Relationship Id="rId10" Type="http://schemas.openxmlformats.org/officeDocument/2006/relationships/image" Target="../media/image230.png"/><Relationship Id="rId11" Type="http://schemas.openxmlformats.org/officeDocument/2006/relationships/image" Target="../media/image248.png"/><Relationship Id="rId12" Type="http://schemas.openxmlformats.org/officeDocument/2006/relationships/image" Target="../media/image249.png"/><Relationship Id="rId13" Type="http://schemas.openxmlformats.org/officeDocument/2006/relationships/image" Target="../media/image79.png"/><Relationship Id="rId14" Type="http://schemas.openxmlformats.org/officeDocument/2006/relationships/image" Target="../media/image250.png"/><Relationship Id="rId15" Type="http://schemas.openxmlformats.org/officeDocument/2006/relationships/image" Target="../media/image251.png"/><Relationship Id="rId16" Type="http://schemas.openxmlformats.org/officeDocument/2006/relationships/image" Target="../media/image17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197.png"/><Relationship Id="rId10" Type="http://schemas.openxmlformats.org/officeDocument/2006/relationships/image" Target="../media/image167.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78.png"/><Relationship Id="rId15" Type="http://schemas.openxmlformats.org/officeDocument/2006/relationships/image" Target="../media/image2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9.png"/><Relationship Id="rId4" Type="http://schemas.openxmlformats.org/officeDocument/2006/relationships/image" Target="../media/image260.png"/><Relationship Id="rId5" Type="http://schemas.openxmlformats.org/officeDocument/2006/relationships/image" Target="../media/image261.png"/><Relationship Id="rId6" Type="http://schemas.openxmlformats.org/officeDocument/2006/relationships/image" Target="../media/image262.png"/><Relationship Id="rId7" Type="http://schemas.openxmlformats.org/officeDocument/2006/relationships/image" Target="../media/image69.png"/><Relationship Id="rId8" Type="http://schemas.openxmlformats.org/officeDocument/2006/relationships/image" Target="../media/image8.png"/><Relationship Id="rId9" Type="http://schemas.openxmlformats.org/officeDocument/2006/relationships/image" Target="../media/image263.png"/><Relationship Id="rId10" Type="http://schemas.openxmlformats.org/officeDocument/2006/relationships/image" Target="../media/image264.png"/><Relationship Id="rId11" Type="http://schemas.openxmlformats.org/officeDocument/2006/relationships/image" Target="../media/image197.png"/><Relationship Id="rId12" Type="http://schemas.openxmlformats.org/officeDocument/2006/relationships/image" Target="../media/image92.png"/><Relationship Id="rId13" Type="http://schemas.openxmlformats.org/officeDocument/2006/relationships/image" Target="../media/image265.png"/><Relationship Id="rId14" Type="http://schemas.openxmlformats.org/officeDocument/2006/relationships/image" Target="../media/image26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7.png"/><Relationship Id="rId3" Type="http://schemas.openxmlformats.org/officeDocument/2006/relationships/image" Target="../media/image268.png"/><Relationship Id="rId4" Type="http://schemas.openxmlformats.org/officeDocument/2006/relationships/image" Target="../media/image269.png"/><Relationship Id="rId5" Type="http://schemas.openxmlformats.org/officeDocument/2006/relationships/image" Target="../media/image270.png"/><Relationship Id="rId6" Type="http://schemas.openxmlformats.org/officeDocument/2006/relationships/image" Target="../media/image271.png"/><Relationship Id="rId7" Type="http://schemas.openxmlformats.org/officeDocument/2006/relationships/image" Target="../media/image272.png"/><Relationship Id="rId8" Type="http://schemas.openxmlformats.org/officeDocument/2006/relationships/image" Target="../media/image273.png"/><Relationship Id="rId9" Type="http://schemas.openxmlformats.org/officeDocument/2006/relationships/image" Target="../media/image75.png"/><Relationship Id="rId10" Type="http://schemas.openxmlformats.org/officeDocument/2006/relationships/image" Target="../media/image165.png"/><Relationship Id="rId11" Type="http://schemas.openxmlformats.org/officeDocument/2006/relationships/image" Target="../media/image274.png"/><Relationship Id="rId12" Type="http://schemas.openxmlformats.org/officeDocument/2006/relationships/image" Target="../media/image275.png"/><Relationship Id="rId13" Type="http://schemas.openxmlformats.org/officeDocument/2006/relationships/image" Target="../media/image276.png"/><Relationship Id="rId14" Type="http://schemas.openxmlformats.org/officeDocument/2006/relationships/image" Target="../media/image27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8.png"/><Relationship Id="rId3" Type="http://schemas.openxmlformats.org/officeDocument/2006/relationships/image" Target="../media/image57.png"/><Relationship Id="rId4" Type="http://schemas.openxmlformats.org/officeDocument/2006/relationships/image" Target="../media/image279.png"/><Relationship Id="rId5" Type="http://schemas.openxmlformats.org/officeDocument/2006/relationships/image" Target="../media/image280.png"/><Relationship Id="rId6" Type="http://schemas.openxmlformats.org/officeDocument/2006/relationships/image" Target="../media/image194.png"/><Relationship Id="rId7" Type="http://schemas.openxmlformats.org/officeDocument/2006/relationships/image" Target="../media/image13.png"/><Relationship Id="rId8" Type="http://schemas.openxmlformats.org/officeDocument/2006/relationships/image" Target="../media/image281.png"/><Relationship Id="rId9" Type="http://schemas.openxmlformats.org/officeDocument/2006/relationships/image" Target="../media/image19.png"/><Relationship Id="rId10" Type="http://schemas.openxmlformats.org/officeDocument/2006/relationships/image" Target="../media/image21.png"/><Relationship Id="rId11" Type="http://schemas.openxmlformats.org/officeDocument/2006/relationships/image" Target="../media/image79.png"/><Relationship Id="rId12" Type="http://schemas.openxmlformats.org/officeDocument/2006/relationships/image" Target="../media/image282.png"/><Relationship Id="rId13" Type="http://schemas.openxmlformats.org/officeDocument/2006/relationships/image" Target="../media/image28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4.png"/><Relationship Id="rId3" Type="http://schemas.openxmlformats.org/officeDocument/2006/relationships/image" Target="../media/image238.png"/><Relationship Id="rId4" Type="http://schemas.openxmlformats.org/officeDocument/2006/relationships/image" Target="../media/image74.png"/><Relationship Id="rId5" Type="http://schemas.openxmlformats.org/officeDocument/2006/relationships/image" Target="../media/image39.png"/><Relationship Id="rId6" Type="http://schemas.openxmlformats.org/officeDocument/2006/relationships/image" Target="../media/image80.png"/><Relationship Id="rId7" Type="http://schemas.openxmlformats.org/officeDocument/2006/relationships/image" Target="../media/image241.png"/><Relationship Id="rId8" Type="http://schemas.openxmlformats.org/officeDocument/2006/relationships/image" Target="../media/image172.png"/><Relationship Id="rId9" Type="http://schemas.openxmlformats.org/officeDocument/2006/relationships/image" Target="../media/image1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5.png"/><Relationship Id="rId3" Type="http://schemas.openxmlformats.org/officeDocument/2006/relationships/image" Target="../media/image286.png"/><Relationship Id="rId4" Type="http://schemas.openxmlformats.org/officeDocument/2006/relationships/image" Target="../media/image287.png"/><Relationship Id="rId5" Type="http://schemas.openxmlformats.org/officeDocument/2006/relationships/image" Target="../media/image288.png"/><Relationship Id="rId6" Type="http://schemas.openxmlformats.org/officeDocument/2006/relationships/image" Target="../media/image165.png"/><Relationship Id="rId7" Type="http://schemas.openxmlformats.org/officeDocument/2006/relationships/image" Target="../media/image289.png"/><Relationship Id="rId8" Type="http://schemas.openxmlformats.org/officeDocument/2006/relationships/image" Target="../media/image290.png"/><Relationship Id="rId9" Type="http://schemas.openxmlformats.org/officeDocument/2006/relationships/image" Target="../media/image1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0.png"/><Relationship Id="rId3" Type="http://schemas.openxmlformats.org/officeDocument/2006/relationships/image" Target="../media/image291.png"/><Relationship Id="rId4" Type="http://schemas.openxmlformats.org/officeDocument/2006/relationships/image" Target="../media/image292.png"/><Relationship Id="rId5" Type="http://schemas.openxmlformats.org/officeDocument/2006/relationships/image" Target="../media/image293.png"/><Relationship Id="rId6" Type="http://schemas.openxmlformats.org/officeDocument/2006/relationships/image" Target="../media/image294.png"/><Relationship Id="rId7" Type="http://schemas.openxmlformats.org/officeDocument/2006/relationships/image" Target="../media/image295.png"/><Relationship Id="rId8" Type="http://schemas.openxmlformats.org/officeDocument/2006/relationships/image" Target="../media/image296.png"/><Relationship Id="rId9" Type="http://schemas.openxmlformats.org/officeDocument/2006/relationships/image" Target="../media/image297.png"/><Relationship Id="rId10" Type="http://schemas.openxmlformats.org/officeDocument/2006/relationships/image" Target="../media/image1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8.png"/><Relationship Id="rId3" Type="http://schemas.openxmlformats.org/officeDocument/2006/relationships/image" Target="../media/image255.png"/><Relationship Id="rId4" Type="http://schemas.openxmlformats.org/officeDocument/2006/relationships/image" Target="../media/image256.png"/><Relationship Id="rId5" Type="http://schemas.openxmlformats.org/officeDocument/2006/relationships/image" Target="../media/image299.png"/><Relationship Id="rId6" Type="http://schemas.openxmlformats.org/officeDocument/2006/relationships/image" Target="../media/image70.png"/><Relationship Id="rId7" Type="http://schemas.openxmlformats.org/officeDocument/2006/relationships/image" Target="../media/image19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0.png"/><Relationship Id="rId3" Type="http://schemas.openxmlformats.org/officeDocument/2006/relationships/image" Target="../media/image2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 Id="rId3" Type="http://schemas.openxmlformats.org/officeDocument/2006/relationships/image" Target="../media/image169.png"/><Relationship Id="rId4" Type="http://schemas.openxmlformats.org/officeDocument/2006/relationships/image" Target="../media/image306.png"/><Relationship Id="rId5" Type="http://schemas.openxmlformats.org/officeDocument/2006/relationships/image" Target="../media/image307.png"/><Relationship Id="rId6" Type="http://schemas.openxmlformats.org/officeDocument/2006/relationships/image" Target="../media/image17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1.png"/><Relationship Id="rId3" Type="http://schemas.openxmlformats.org/officeDocument/2006/relationships/image" Target="../media/image312.png"/><Relationship Id="rId4" Type="http://schemas.openxmlformats.org/officeDocument/2006/relationships/image" Target="../media/image313.png"/><Relationship Id="rId5" Type="http://schemas.openxmlformats.org/officeDocument/2006/relationships/image" Target="../media/image314.png"/><Relationship Id="rId6" Type="http://schemas.openxmlformats.org/officeDocument/2006/relationships/image" Target="../media/image315.png"/><Relationship Id="rId7" Type="http://schemas.openxmlformats.org/officeDocument/2006/relationships/image" Target="../media/image316.png"/><Relationship Id="rId8" Type="http://schemas.openxmlformats.org/officeDocument/2006/relationships/image" Target="../media/image3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9.png"/><Relationship Id="rId3" Type="http://schemas.openxmlformats.org/officeDocument/2006/relationships/image" Target="../media/image320.png"/><Relationship Id="rId4" Type="http://schemas.openxmlformats.org/officeDocument/2006/relationships/image" Target="../media/image321.png"/><Relationship Id="rId5" Type="http://schemas.openxmlformats.org/officeDocument/2006/relationships/image" Target="../media/image145.png"/><Relationship Id="rId6" Type="http://schemas.openxmlformats.org/officeDocument/2006/relationships/image" Target="../media/image322.png"/><Relationship Id="rId7" Type="http://schemas.openxmlformats.org/officeDocument/2006/relationships/image" Target="../media/image323.png"/><Relationship Id="rId8" Type="http://schemas.openxmlformats.org/officeDocument/2006/relationships/image" Target="../media/image281.png"/><Relationship Id="rId9" Type="http://schemas.openxmlformats.org/officeDocument/2006/relationships/image" Target="../media/image324.png"/><Relationship Id="rId10" Type="http://schemas.openxmlformats.org/officeDocument/2006/relationships/image" Target="../media/image325.png"/><Relationship Id="rId11" Type="http://schemas.openxmlformats.org/officeDocument/2006/relationships/image" Target="../media/image326.png"/><Relationship Id="rId12" Type="http://schemas.openxmlformats.org/officeDocument/2006/relationships/image" Target="../media/image327.png"/><Relationship Id="rId13" Type="http://schemas.openxmlformats.org/officeDocument/2006/relationships/image" Target="../media/image328.png"/><Relationship Id="rId14" Type="http://schemas.openxmlformats.org/officeDocument/2006/relationships/image" Target="../media/image329.png"/><Relationship Id="rId15" Type="http://schemas.openxmlformats.org/officeDocument/2006/relationships/image" Target="../media/image330.png"/><Relationship Id="rId16" Type="http://schemas.openxmlformats.org/officeDocument/2006/relationships/image" Target="../media/image331.png"/><Relationship Id="rId17" Type="http://schemas.openxmlformats.org/officeDocument/2006/relationships/image" Target="../media/image332.png"/><Relationship Id="rId18" Type="http://schemas.openxmlformats.org/officeDocument/2006/relationships/image" Target="../media/image29.png"/><Relationship Id="rId19" Type="http://schemas.openxmlformats.org/officeDocument/2006/relationships/image" Target="../media/image333.png"/><Relationship Id="rId20" Type="http://schemas.openxmlformats.org/officeDocument/2006/relationships/image" Target="../media/image334.png"/><Relationship Id="rId21" Type="http://schemas.openxmlformats.org/officeDocument/2006/relationships/image" Target="../media/image91.png"/><Relationship Id="rId22" Type="http://schemas.openxmlformats.org/officeDocument/2006/relationships/image" Target="../media/image335.png"/><Relationship Id="rId23" Type="http://schemas.openxmlformats.org/officeDocument/2006/relationships/image" Target="../media/image166.png"/><Relationship Id="rId24" Type="http://schemas.openxmlformats.org/officeDocument/2006/relationships/image" Target="../media/image214.png"/><Relationship Id="rId25" Type="http://schemas.openxmlformats.org/officeDocument/2006/relationships/image" Target="../media/image336.png"/><Relationship Id="rId26" Type="http://schemas.openxmlformats.org/officeDocument/2006/relationships/image" Target="../media/image337.png"/><Relationship Id="rId27" Type="http://schemas.openxmlformats.org/officeDocument/2006/relationships/image" Target="../media/image3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9.png"/><Relationship Id="rId3" Type="http://schemas.openxmlformats.org/officeDocument/2006/relationships/image" Target="../media/image340.png"/><Relationship Id="rId4" Type="http://schemas.openxmlformats.org/officeDocument/2006/relationships/image" Target="../media/image341.png"/><Relationship Id="rId5" Type="http://schemas.openxmlformats.org/officeDocument/2006/relationships/image" Target="../media/image3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19.png"/><Relationship Id="rId4" Type="http://schemas.openxmlformats.org/officeDocument/2006/relationships/image" Target="../media/image3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3.png"/><Relationship Id="rId3" Type="http://schemas.openxmlformats.org/officeDocument/2006/relationships/image" Target="../media/image344.png"/><Relationship Id="rId4" Type="http://schemas.openxmlformats.org/officeDocument/2006/relationships/image" Target="../media/image345.png"/><Relationship Id="rId5" Type="http://schemas.openxmlformats.org/officeDocument/2006/relationships/image" Target="../media/image346.png"/><Relationship Id="rId6" Type="http://schemas.openxmlformats.org/officeDocument/2006/relationships/image" Target="../media/image347.png"/><Relationship Id="rId7" Type="http://schemas.openxmlformats.org/officeDocument/2006/relationships/image" Target="../media/image348.png"/><Relationship Id="rId8" Type="http://schemas.openxmlformats.org/officeDocument/2006/relationships/image" Target="../media/image349.png"/><Relationship Id="rId9" Type="http://schemas.openxmlformats.org/officeDocument/2006/relationships/image" Target="../media/image350.png"/><Relationship Id="rId10" Type="http://schemas.openxmlformats.org/officeDocument/2006/relationships/image" Target="../media/image351.png"/><Relationship Id="rId11" Type="http://schemas.openxmlformats.org/officeDocument/2006/relationships/image" Target="../media/image352.png"/><Relationship Id="rId12" Type="http://schemas.openxmlformats.org/officeDocument/2006/relationships/image" Target="../media/image35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4.png"/><Relationship Id="rId3" Type="http://schemas.openxmlformats.org/officeDocument/2006/relationships/image" Target="../media/image355.png"/><Relationship Id="rId4" Type="http://schemas.openxmlformats.org/officeDocument/2006/relationships/image" Target="../media/image356.png"/><Relationship Id="rId5" Type="http://schemas.openxmlformats.org/officeDocument/2006/relationships/image" Target="../media/image319.png"/><Relationship Id="rId6" Type="http://schemas.openxmlformats.org/officeDocument/2006/relationships/image" Target="../media/image357.png"/><Relationship Id="rId7" Type="http://schemas.openxmlformats.org/officeDocument/2006/relationships/image" Target="../media/image358.png"/><Relationship Id="rId8" Type="http://schemas.openxmlformats.org/officeDocument/2006/relationships/image" Target="../media/image359.png"/><Relationship Id="rId9" Type="http://schemas.openxmlformats.org/officeDocument/2006/relationships/image" Target="../media/image360.png"/><Relationship Id="rId10" Type="http://schemas.openxmlformats.org/officeDocument/2006/relationships/image" Target="../media/image361.png"/><Relationship Id="rId11" Type="http://schemas.openxmlformats.org/officeDocument/2006/relationships/image" Target="../media/image362.png"/><Relationship Id="rId12" Type="http://schemas.openxmlformats.org/officeDocument/2006/relationships/image" Target="../media/image363.png"/><Relationship Id="rId13" Type="http://schemas.openxmlformats.org/officeDocument/2006/relationships/image" Target="../media/image364.png"/><Relationship Id="rId14" Type="http://schemas.openxmlformats.org/officeDocument/2006/relationships/image" Target="../media/image328.png"/><Relationship Id="rId15" Type="http://schemas.openxmlformats.org/officeDocument/2006/relationships/image" Target="../media/image365.png"/><Relationship Id="rId16" Type="http://schemas.openxmlformats.org/officeDocument/2006/relationships/image" Target="../media/image366.png"/><Relationship Id="rId17" Type="http://schemas.openxmlformats.org/officeDocument/2006/relationships/image" Target="../media/image367.png"/><Relationship Id="rId18" Type="http://schemas.openxmlformats.org/officeDocument/2006/relationships/image" Target="../media/image368.png"/><Relationship Id="rId19" Type="http://schemas.openxmlformats.org/officeDocument/2006/relationships/image" Target="../media/image369.png"/><Relationship Id="rId20" Type="http://schemas.openxmlformats.org/officeDocument/2006/relationships/image" Target="../media/image370.png"/><Relationship Id="rId21" Type="http://schemas.openxmlformats.org/officeDocument/2006/relationships/image" Target="../media/image371.png"/><Relationship Id="rId22" Type="http://schemas.openxmlformats.org/officeDocument/2006/relationships/image" Target="../media/image372.png"/><Relationship Id="rId23" Type="http://schemas.openxmlformats.org/officeDocument/2006/relationships/image" Target="../media/image373.png"/><Relationship Id="rId24" Type="http://schemas.openxmlformats.org/officeDocument/2006/relationships/image" Target="../media/image37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arid_shrubland</a:t>
            </a:r>
            <a:r>
              <a:rPr sz="1100">
                <a:solidFill>
                  <a:srgbClr val="B9A488"/>
                </a:solidFill>
              </a:rPr>
              <a:t>   43 animals · 10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ronto" descr="ronto (Ronto)&#10;drawSize 6.0 · assigned here · art:improve"/>
          <p:cNvPicPr>
            <a:picLocks noChangeAspect="1"/>
          </p:cNvPicPr>
          <p:nvPr/>
        </p:nvPicPr>
        <p:blipFill>
          <a:blip r:embed="rId2"/>
          <a:stretch>
            <a:fillRect/>
          </a:stretch>
        </p:blipFill>
        <p:spPr>
          <a:xfrm>
            <a:off x="274320" y="932688"/>
            <a:ext cx="1128567" cy="1128567"/>
          </a:xfrm>
          <a:prstGeom prst="rect">
            <a:avLst/>
          </a:prstGeom>
        </p:spPr>
      </p:pic>
      <p:sp>
        <p:nvSpPr>
          <p:cNvPr id="5" name="Oval 4"/>
          <p:cNvSpPr/>
          <p:nvPr/>
        </p:nvSpPr>
        <p:spPr>
          <a:xfrm>
            <a:off x="1320591"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70399"/>
            <a:ext cx="1128567" cy="146304"/>
          </a:xfrm>
          <a:prstGeom prst="rect">
            <a:avLst/>
          </a:prstGeom>
          <a:noFill/>
        </p:spPr>
        <p:txBody>
          <a:bodyPr wrap="none">
            <a:spAutoFit/>
          </a:bodyPr>
          <a:lstStyle/>
          <a:p>
            <a:pPr algn="ctr"/>
            <a:r>
              <a:rPr sz="600">
                <a:solidFill>
                  <a:srgbClr val="B9A488"/>
                </a:solidFill>
              </a:rPr>
              <a:t>ronto</a:t>
            </a:r>
          </a:p>
        </p:txBody>
      </p:sp>
      <p:pic>
        <p:nvPicPr>
          <p:cNvPr id="7" name="wildpod" descr="wildpod (AA_Wildpod)&#10;drawSize 4.0 · assigned here · art:improve&#10;“8 squares”"/>
          <p:cNvPicPr>
            <a:picLocks noChangeAspect="1"/>
          </p:cNvPicPr>
          <p:nvPr/>
        </p:nvPicPr>
        <p:blipFill>
          <a:blip r:embed="rId3"/>
          <a:stretch>
            <a:fillRect/>
          </a:stretch>
        </p:blipFill>
        <p:spPr>
          <a:xfrm>
            <a:off x="1530903" y="932688"/>
            <a:ext cx="1128567" cy="1128567"/>
          </a:xfrm>
          <a:prstGeom prst="rect">
            <a:avLst/>
          </a:prstGeom>
        </p:spPr>
      </p:pic>
      <p:sp>
        <p:nvSpPr>
          <p:cNvPr id="8" name="Oval 7"/>
          <p:cNvSpPr/>
          <p:nvPr/>
        </p:nvSpPr>
        <p:spPr>
          <a:xfrm>
            <a:off x="257717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30903" y="2070399"/>
            <a:ext cx="1128567" cy="146304"/>
          </a:xfrm>
          <a:prstGeom prst="rect">
            <a:avLst/>
          </a:prstGeom>
          <a:noFill/>
        </p:spPr>
        <p:txBody>
          <a:bodyPr wrap="none">
            <a:spAutoFit/>
          </a:bodyPr>
          <a:lstStyle/>
          <a:p>
            <a:pPr algn="ctr"/>
            <a:r>
              <a:rPr sz="600">
                <a:solidFill>
                  <a:srgbClr val="B9A488"/>
                </a:solidFill>
              </a:rPr>
              <a:t>wildpod</a:t>
            </a:r>
          </a:p>
        </p:txBody>
      </p:sp>
      <p:pic>
        <p:nvPicPr>
          <p:cNvPr id="10" name="bantha" descr="bantha (Bantha)&#10;drawSize 4.0 · assigned here · art:keep"/>
          <p:cNvPicPr>
            <a:picLocks noChangeAspect="1"/>
          </p:cNvPicPr>
          <p:nvPr/>
        </p:nvPicPr>
        <p:blipFill>
          <a:blip r:embed="rId4"/>
          <a:stretch>
            <a:fillRect/>
          </a:stretch>
        </p:blipFill>
        <p:spPr>
          <a:xfrm>
            <a:off x="2787486" y="932688"/>
            <a:ext cx="1128567" cy="1128567"/>
          </a:xfrm>
          <a:prstGeom prst="rect">
            <a:avLst/>
          </a:prstGeom>
        </p:spPr>
      </p:pic>
      <p:sp>
        <p:nvSpPr>
          <p:cNvPr id="11" name="Oval 10"/>
          <p:cNvSpPr/>
          <p:nvPr/>
        </p:nvSpPr>
        <p:spPr>
          <a:xfrm>
            <a:off x="3833757"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7486" y="2070399"/>
            <a:ext cx="1128567" cy="146304"/>
          </a:xfrm>
          <a:prstGeom prst="rect">
            <a:avLst/>
          </a:prstGeom>
          <a:noFill/>
        </p:spPr>
        <p:txBody>
          <a:bodyPr wrap="none">
            <a:spAutoFit/>
          </a:bodyPr>
          <a:lstStyle/>
          <a:p>
            <a:pPr algn="ctr"/>
            <a:r>
              <a:rPr sz="600">
                <a:solidFill>
                  <a:srgbClr val="B9A488"/>
                </a:solidFill>
              </a:rPr>
              <a:t>bantha</a:t>
            </a:r>
          </a:p>
        </p:txBody>
      </p:sp>
      <p:pic>
        <p:nvPicPr>
          <p:cNvPr id="13" name="corinathoth" descr="corinathoth (Corinathoth)&#10;drawSize 4.0 · assigned here · art:keep"/>
          <p:cNvPicPr>
            <a:picLocks noChangeAspect="1"/>
          </p:cNvPicPr>
          <p:nvPr/>
        </p:nvPicPr>
        <p:blipFill>
          <a:blip r:embed="rId5"/>
          <a:stretch>
            <a:fillRect/>
          </a:stretch>
        </p:blipFill>
        <p:spPr>
          <a:xfrm>
            <a:off x="4044069" y="932688"/>
            <a:ext cx="1128567" cy="1128567"/>
          </a:xfrm>
          <a:prstGeom prst="rect">
            <a:avLst/>
          </a:prstGeom>
        </p:spPr>
      </p:pic>
      <p:sp>
        <p:nvSpPr>
          <p:cNvPr id="14" name="Oval 13"/>
          <p:cNvSpPr/>
          <p:nvPr/>
        </p:nvSpPr>
        <p:spPr>
          <a:xfrm>
            <a:off x="5090340"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44069" y="2070399"/>
            <a:ext cx="1128567" cy="146304"/>
          </a:xfrm>
          <a:prstGeom prst="rect">
            <a:avLst/>
          </a:prstGeom>
          <a:noFill/>
        </p:spPr>
        <p:txBody>
          <a:bodyPr wrap="none">
            <a:spAutoFit/>
          </a:bodyPr>
          <a:lstStyle/>
          <a:p>
            <a:pPr algn="ctr"/>
            <a:r>
              <a:rPr sz="600">
                <a:solidFill>
                  <a:srgbClr val="B9A488"/>
                </a:solidFill>
              </a:rPr>
              <a:t>corinathoth</a:t>
            </a:r>
          </a:p>
        </p:txBody>
      </p:sp>
      <p:pic>
        <p:nvPicPr>
          <p:cNvPr id="16" name="mudhorn" descr="mudhorn (Mudhorn)&#10;drawSize 4.0 · assigned here · art:keep"/>
          <p:cNvPicPr>
            <a:picLocks noChangeAspect="1"/>
          </p:cNvPicPr>
          <p:nvPr/>
        </p:nvPicPr>
        <p:blipFill>
          <a:blip r:embed="rId6"/>
          <a:stretch>
            <a:fillRect/>
          </a:stretch>
        </p:blipFill>
        <p:spPr>
          <a:xfrm>
            <a:off x="5300652" y="932688"/>
            <a:ext cx="1128567" cy="1128567"/>
          </a:xfrm>
          <a:prstGeom prst="rect">
            <a:avLst/>
          </a:prstGeom>
        </p:spPr>
      </p:pic>
      <p:sp>
        <p:nvSpPr>
          <p:cNvPr id="17" name="Oval 16"/>
          <p:cNvSpPr/>
          <p:nvPr/>
        </p:nvSpPr>
        <p:spPr>
          <a:xfrm>
            <a:off x="6346923"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0652" y="2070399"/>
            <a:ext cx="1128567" cy="146304"/>
          </a:xfrm>
          <a:prstGeom prst="rect">
            <a:avLst/>
          </a:prstGeom>
          <a:noFill/>
        </p:spPr>
        <p:txBody>
          <a:bodyPr wrap="none">
            <a:spAutoFit/>
          </a:bodyPr>
          <a:lstStyle/>
          <a:p>
            <a:pPr algn="ctr"/>
            <a:r>
              <a:rPr sz="600">
                <a:solidFill>
                  <a:srgbClr val="B9A488"/>
                </a:solidFill>
              </a:rPr>
              <a:t>mudhorn</a:t>
            </a:r>
          </a:p>
        </p:txBody>
      </p:sp>
      <p:pic>
        <p:nvPicPr>
          <p:cNvPr id="19" name="skalder" descr="skalder (Skalder)&#10;drawSize 4.0 · assigned here · art:keep"/>
          <p:cNvPicPr>
            <a:picLocks noChangeAspect="1"/>
          </p:cNvPicPr>
          <p:nvPr/>
        </p:nvPicPr>
        <p:blipFill>
          <a:blip r:embed="rId7"/>
          <a:stretch>
            <a:fillRect/>
          </a:stretch>
        </p:blipFill>
        <p:spPr>
          <a:xfrm>
            <a:off x="6557235" y="932688"/>
            <a:ext cx="1128567" cy="1128567"/>
          </a:xfrm>
          <a:prstGeom prst="rect">
            <a:avLst/>
          </a:prstGeom>
        </p:spPr>
      </p:pic>
      <p:sp>
        <p:nvSpPr>
          <p:cNvPr id="20" name="Oval 19"/>
          <p:cNvSpPr/>
          <p:nvPr/>
        </p:nvSpPr>
        <p:spPr>
          <a:xfrm>
            <a:off x="7603506"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57235" y="2070399"/>
            <a:ext cx="1128567" cy="146304"/>
          </a:xfrm>
          <a:prstGeom prst="rect">
            <a:avLst/>
          </a:prstGeom>
          <a:noFill/>
        </p:spPr>
        <p:txBody>
          <a:bodyPr wrap="none">
            <a:spAutoFit/>
          </a:bodyPr>
          <a:lstStyle/>
          <a:p>
            <a:pPr algn="ctr"/>
            <a:r>
              <a:rPr sz="600">
                <a:solidFill>
                  <a:srgbClr val="B9A488"/>
                </a:solidFill>
              </a:rPr>
              <a:t>skalder</a:t>
            </a:r>
          </a:p>
        </p:txBody>
      </p:sp>
      <p:pic>
        <p:nvPicPr>
          <p:cNvPr id="22" name="wildpawn" descr="wildpawn (AA_Wildpawn)&#10;drawSize 1.399999976158142 · assigned here · art:keep"/>
          <p:cNvPicPr>
            <a:picLocks noChangeAspect="1"/>
          </p:cNvPicPr>
          <p:nvPr/>
        </p:nvPicPr>
        <p:blipFill>
          <a:blip r:embed="rId8"/>
          <a:stretch>
            <a:fillRect/>
          </a:stretch>
        </p:blipFill>
        <p:spPr>
          <a:xfrm>
            <a:off x="7813818" y="1653089"/>
            <a:ext cx="408165" cy="408165"/>
          </a:xfrm>
          <a:prstGeom prst="rect">
            <a:avLst/>
          </a:prstGeom>
        </p:spPr>
      </p:pic>
      <p:sp>
        <p:nvSpPr>
          <p:cNvPr id="23" name="Oval 22"/>
          <p:cNvSpPr/>
          <p:nvPr/>
        </p:nvSpPr>
        <p:spPr>
          <a:xfrm>
            <a:off x="8139687" y="16348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13818" y="2070399"/>
            <a:ext cx="640080" cy="146304"/>
          </a:xfrm>
          <a:prstGeom prst="rect">
            <a:avLst/>
          </a:prstGeom>
          <a:noFill/>
        </p:spPr>
        <p:txBody>
          <a:bodyPr wrap="none">
            <a:spAutoFit/>
          </a:bodyPr>
          <a:lstStyle/>
          <a:p>
            <a:pPr algn="ctr"/>
            <a:r>
              <a:rPr sz="600">
                <a:solidFill>
                  <a:srgbClr val="B9A488"/>
                </a:solidFill>
              </a:rPr>
              <a:t>wildpawn</a:t>
            </a:r>
          </a:p>
        </p:txBody>
      </p:sp>
      <p:pic>
        <p:nvPicPr>
          <p:cNvPr id="25" name="eopie" descr="eopie (Eopie)&#10;drawSize 1.399999976158142 · assigned here · art:keep"/>
          <p:cNvPicPr>
            <a:picLocks noChangeAspect="1"/>
          </p:cNvPicPr>
          <p:nvPr/>
        </p:nvPicPr>
        <p:blipFill>
          <a:blip r:embed="rId9"/>
          <a:stretch>
            <a:fillRect/>
          </a:stretch>
        </p:blipFill>
        <p:spPr>
          <a:xfrm>
            <a:off x="8349999" y="1653089"/>
            <a:ext cx="408165" cy="408165"/>
          </a:xfrm>
          <a:prstGeom prst="rect">
            <a:avLst/>
          </a:prstGeom>
        </p:spPr>
      </p:pic>
      <p:sp>
        <p:nvSpPr>
          <p:cNvPr id="26" name="Oval 25"/>
          <p:cNvSpPr/>
          <p:nvPr/>
        </p:nvSpPr>
        <p:spPr>
          <a:xfrm>
            <a:off x="8675868" y="16348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9999" y="2070399"/>
            <a:ext cx="640080" cy="146304"/>
          </a:xfrm>
          <a:prstGeom prst="rect">
            <a:avLst/>
          </a:prstGeom>
          <a:noFill/>
        </p:spPr>
        <p:txBody>
          <a:bodyPr wrap="none">
            <a:spAutoFit/>
          </a:bodyPr>
          <a:lstStyle/>
          <a:p>
            <a:pPr algn="ctr"/>
            <a:r>
              <a:rPr sz="600">
                <a:solidFill>
                  <a:srgbClr val="B9A488"/>
                </a:solidFill>
              </a:rPr>
              <a:t>eopie</a:t>
            </a:r>
          </a:p>
        </p:txBody>
      </p:sp>
      <p:pic>
        <p:nvPicPr>
          <p:cNvPr id="28" name="feral nerf" descr="feral nerf (FeralNerf)&#10;drawSize 1.0 · assigned here · art:keep"/>
          <p:cNvPicPr>
            <a:picLocks noChangeAspect="1"/>
          </p:cNvPicPr>
          <p:nvPr/>
        </p:nvPicPr>
        <p:blipFill>
          <a:blip r:embed="rId10"/>
          <a:stretch>
            <a:fillRect/>
          </a:stretch>
        </p:blipFill>
        <p:spPr>
          <a:xfrm>
            <a:off x="8886180" y="1769708"/>
            <a:ext cx="291546" cy="291546"/>
          </a:xfrm>
          <a:prstGeom prst="rect">
            <a:avLst/>
          </a:prstGeom>
        </p:spPr>
      </p:pic>
      <p:sp>
        <p:nvSpPr>
          <p:cNvPr id="29" name="Oval 28"/>
          <p:cNvSpPr/>
          <p:nvPr/>
        </p:nvSpPr>
        <p:spPr>
          <a:xfrm>
            <a:off x="9095430" y="175142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86180" y="2070399"/>
            <a:ext cx="640080" cy="146304"/>
          </a:xfrm>
          <a:prstGeom prst="rect">
            <a:avLst/>
          </a:prstGeom>
          <a:noFill/>
        </p:spPr>
        <p:txBody>
          <a:bodyPr wrap="none">
            <a:spAutoFit/>
          </a:bodyPr>
          <a:lstStyle/>
          <a:p>
            <a:pPr algn="ctr"/>
            <a:r>
              <a:rPr sz="600">
                <a:solidFill>
                  <a:srgbClr val="B9A488"/>
                </a:solidFill>
              </a:rPr>
              <a:t>feral nerf</a:t>
            </a:r>
          </a:p>
        </p:txBody>
      </p:sp>
      <p:pic>
        <p:nvPicPr>
          <p:cNvPr id="31" name="kybuck" descr="kybuck (Kybuck)&#10;drawSize 1.0 · assigned here · art:keep"/>
          <p:cNvPicPr>
            <a:picLocks noChangeAspect="1"/>
          </p:cNvPicPr>
          <p:nvPr/>
        </p:nvPicPr>
        <p:blipFill>
          <a:blip r:embed="rId11"/>
          <a:stretch>
            <a:fillRect/>
          </a:stretch>
        </p:blipFill>
        <p:spPr>
          <a:xfrm>
            <a:off x="9305742" y="1769708"/>
            <a:ext cx="291546" cy="291546"/>
          </a:xfrm>
          <a:prstGeom prst="rect">
            <a:avLst/>
          </a:prstGeom>
        </p:spPr>
      </p:pic>
      <p:sp>
        <p:nvSpPr>
          <p:cNvPr id="32" name="Oval 31"/>
          <p:cNvSpPr/>
          <p:nvPr/>
        </p:nvSpPr>
        <p:spPr>
          <a:xfrm>
            <a:off x="9514993" y="175142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05742" y="2070399"/>
            <a:ext cx="640080" cy="146304"/>
          </a:xfrm>
          <a:prstGeom prst="rect">
            <a:avLst/>
          </a:prstGeom>
          <a:noFill/>
        </p:spPr>
        <p:txBody>
          <a:bodyPr wrap="none">
            <a:spAutoFit/>
          </a:bodyPr>
          <a:lstStyle/>
          <a:p>
            <a:pPr algn="ctr"/>
            <a:r>
              <a:rPr sz="600">
                <a:solidFill>
                  <a:srgbClr val="B9A488"/>
                </a:solidFill>
              </a:rPr>
              <a:t>kybuck</a:t>
            </a:r>
          </a:p>
        </p:txBody>
      </p:sp>
      <p:pic>
        <p:nvPicPr>
          <p:cNvPr id="34" name="qormot" descr="qormot (Qormot)&#10;drawSize 1.0 · assigned here · art:keep"/>
          <p:cNvPicPr>
            <a:picLocks noChangeAspect="1"/>
          </p:cNvPicPr>
          <p:nvPr/>
        </p:nvPicPr>
        <p:blipFill>
          <a:blip r:embed="rId12"/>
          <a:stretch>
            <a:fillRect/>
          </a:stretch>
        </p:blipFill>
        <p:spPr>
          <a:xfrm>
            <a:off x="9725305" y="1769708"/>
            <a:ext cx="291546" cy="291546"/>
          </a:xfrm>
          <a:prstGeom prst="rect">
            <a:avLst/>
          </a:prstGeom>
        </p:spPr>
      </p:pic>
      <p:sp>
        <p:nvSpPr>
          <p:cNvPr id="35" name="Oval 34"/>
          <p:cNvSpPr/>
          <p:nvPr/>
        </p:nvSpPr>
        <p:spPr>
          <a:xfrm>
            <a:off x="9934555" y="175142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25305" y="2070399"/>
            <a:ext cx="640080" cy="146304"/>
          </a:xfrm>
          <a:prstGeom prst="rect">
            <a:avLst/>
          </a:prstGeom>
          <a:noFill/>
        </p:spPr>
        <p:txBody>
          <a:bodyPr wrap="none">
            <a:spAutoFit/>
          </a:bodyPr>
          <a:lstStyle/>
          <a:p>
            <a:pPr algn="ctr"/>
            <a:r>
              <a:rPr sz="600">
                <a:solidFill>
                  <a:srgbClr val="B9A488"/>
                </a:solidFill>
              </a:rPr>
              <a:t>qormot</a:t>
            </a:r>
          </a:p>
        </p:txBody>
      </p:sp>
      <p:pic>
        <p:nvPicPr>
          <p:cNvPr id="37" name="strill" descr="strill (Strill)&#10;drawSize 1.0 · assigned here · art:keep"/>
          <p:cNvPicPr>
            <a:picLocks noChangeAspect="1"/>
          </p:cNvPicPr>
          <p:nvPr/>
        </p:nvPicPr>
        <p:blipFill>
          <a:blip r:embed="rId13"/>
          <a:stretch>
            <a:fillRect/>
          </a:stretch>
        </p:blipFill>
        <p:spPr>
          <a:xfrm>
            <a:off x="10144867" y="1769708"/>
            <a:ext cx="291546" cy="291546"/>
          </a:xfrm>
          <a:prstGeom prst="rect">
            <a:avLst/>
          </a:prstGeom>
        </p:spPr>
      </p:pic>
      <p:sp>
        <p:nvSpPr>
          <p:cNvPr id="38" name="Oval 37"/>
          <p:cNvSpPr/>
          <p:nvPr/>
        </p:nvSpPr>
        <p:spPr>
          <a:xfrm>
            <a:off x="10354118" y="175142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44867" y="2070399"/>
            <a:ext cx="640080" cy="146304"/>
          </a:xfrm>
          <a:prstGeom prst="rect">
            <a:avLst/>
          </a:prstGeom>
          <a:noFill/>
        </p:spPr>
        <p:txBody>
          <a:bodyPr wrap="none">
            <a:spAutoFit/>
          </a:bodyPr>
          <a:lstStyle/>
          <a:p>
            <a:pPr algn="ctr"/>
            <a:r>
              <a:rPr sz="600">
                <a:solidFill>
                  <a:srgbClr val="B9A488"/>
                </a:solidFill>
              </a:rPr>
              <a:t>strill</a:t>
            </a:r>
          </a:p>
        </p:txBody>
      </p:sp>
      <p:pic>
        <p:nvPicPr>
          <p:cNvPr id="40" name="anooba" descr="anooba (Anooba)&#10;drawSize 0.949999988079071 · assigned here · art:improve"/>
          <p:cNvPicPr>
            <a:picLocks noChangeAspect="1"/>
          </p:cNvPicPr>
          <p:nvPr/>
        </p:nvPicPr>
        <p:blipFill>
          <a:blip r:embed="rId14"/>
          <a:stretch>
            <a:fillRect/>
          </a:stretch>
        </p:blipFill>
        <p:spPr>
          <a:xfrm>
            <a:off x="10564430" y="1784285"/>
            <a:ext cx="276969" cy="276969"/>
          </a:xfrm>
          <a:prstGeom prst="rect">
            <a:avLst/>
          </a:prstGeom>
        </p:spPr>
      </p:pic>
      <p:sp>
        <p:nvSpPr>
          <p:cNvPr id="41" name="Oval 40"/>
          <p:cNvSpPr/>
          <p:nvPr/>
        </p:nvSpPr>
        <p:spPr>
          <a:xfrm>
            <a:off x="10759103" y="176599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64430" y="2070399"/>
            <a:ext cx="640080" cy="146304"/>
          </a:xfrm>
          <a:prstGeom prst="rect">
            <a:avLst/>
          </a:prstGeom>
          <a:noFill/>
        </p:spPr>
        <p:txBody>
          <a:bodyPr wrap="none">
            <a:spAutoFit/>
          </a:bodyPr>
          <a:lstStyle/>
          <a:p>
            <a:pPr algn="ctr"/>
            <a:r>
              <a:rPr sz="600">
                <a:solidFill>
                  <a:srgbClr val="B9A488"/>
                </a:solidFill>
              </a:rPr>
              <a:t>anooba</a:t>
            </a:r>
          </a:p>
        </p:txBody>
      </p:sp>
      <p:pic>
        <p:nvPicPr>
          <p:cNvPr id="43" name="cannok" descr="cannok (Cannok)&#10;drawSize 0.8500000238418579 · assigned here · art:keep"/>
          <p:cNvPicPr>
            <a:picLocks noChangeAspect="1"/>
          </p:cNvPicPr>
          <p:nvPr/>
        </p:nvPicPr>
        <p:blipFill>
          <a:blip r:embed="rId15"/>
          <a:stretch>
            <a:fillRect/>
          </a:stretch>
        </p:blipFill>
        <p:spPr>
          <a:xfrm>
            <a:off x="10969415" y="1813440"/>
            <a:ext cx="247814" cy="247814"/>
          </a:xfrm>
          <a:prstGeom prst="rect">
            <a:avLst/>
          </a:prstGeom>
        </p:spPr>
      </p:pic>
      <p:sp>
        <p:nvSpPr>
          <p:cNvPr id="44" name="Oval 43"/>
          <p:cNvSpPr/>
          <p:nvPr/>
        </p:nvSpPr>
        <p:spPr>
          <a:xfrm>
            <a:off x="11134933" y="17951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69415" y="2070399"/>
            <a:ext cx="640080" cy="146304"/>
          </a:xfrm>
          <a:prstGeom prst="rect">
            <a:avLst/>
          </a:prstGeom>
          <a:noFill/>
        </p:spPr>
        <p:txBody>
          <a:bodyPr wrap="none">
            <a:spAutoFit/>
          </a:bodyPr>
          <a:lstStyle/>
          <a:p>
            <a:pPr algn="ctr"/>
            <a:r>
              <a:rPr sz="600">
                <a:solidFill>
                  <a:srgbClr val="B9A488"/>
                </a:solidFill>
              </a:rPr>
              <a:t>cannok</a:t>
            </a:r>
          </a:p>
        </p:txBody>
      </p:sp>
      <p:pic>
        <p:nvPicPr>
          <p:cNvPr id="46" name="Grank" descr="Grank (Grank)&#10;drawSize 0.8500000238418579 · assigned here · art:improve"/>
          <p:cNvPicPr>
            <a:picLocks noChangeAspect="1"/>
          </p:cNvPicPr>
          <p:nvPr/>
        </p:nvPicPr>
        <p:blipFill>
          <a:blip r:embed="rId16"/>
          <a:stretch>
            <a:fillRect/>
          </a:stretch>
        </p:blipFill>
        <p:spPr>
          <a:xfrm>
            <a:off x="11345245" y="1813440"/>
            <a:ext cx="247814" cy="247814"/>
          </a:xfrm>
          <a:prstGeom prst="rect">
            <a:avLst/>
          </a:prstGeom>
        </p:spPr>
      </p:pic>
      <p:sp>
        <p:nvSpPr>
          <p:cNvPr id="47" name="Oval 46"/>
          <p:cNvSpPr/>
          <p:nvPr/>
        </p:nvSpPr>
        <p:spPr>
          <a:xfrm>
            <a:off x="11510764" y="17951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345245" y="2070399"/>
            <a:ext cx="640080" cy="146304"/>
          </a:xfrm>
          <a:prstGeom prst="rect">
            <a:avLst/>
          </a:prstGeom>
          <a:noFill/>
        </p:spPr>
        <p:txBody>
          <a:bodyPr wrap="none">
            <a:spAutoFit/>
          </a:bodyPr>
          <a:lstStyle/>
          <a:p>
            <a:pPr algn="ctr"/>
            <a:r>
              <a:rPr sz="600">
                <a:solidFill>
                  <a:srgbClr val="B9A488"/>
                </a:solidFill>
              </a:rPr>
              <a:t>Grank</a:t>
            </a:r>
          </a:p>
        </p:txBody>
      </p:sp>
      <p:pic>
        <p:nvPicPr>
          <p:cNvPr id="49" name="massiff" descr="massiff (Massiff)&#10;drawSize 0.8500000238418579 · assigned here · art:keep"/>
          <p:cNvPicPr>
            <a:picLocks noChangeAspect="1"/>
          </p:cNvPicPr>
          <p:nvPr/>
        </p:nvPicPr>
        <p:blipFill>
          <a:blip r:embed="rId17"/>
          <a:stretch>
            <a:fillRect/>
          </a:stretch>
        </p:blipFill>
        <p:spPr>
          <a:xfrm>
            <a:off x="274320" y="2298999"/>
            <a:ext cx="247814" cy="247814"/>
          </a:xfrm>
          <a:prstGeom prst="rect">
            <a:avLst/>
          </a:prstGeom>
        </p:spPr>
      </p:pic>
      <p:sp>
        <p:nvSpPr>
          <p:cNvPr id="50" name="Oval 49"/>
          <p:cNvSpPr/>
          <p:nvPr/>
        </p:nvSpPr>
        <p:spPr>
          <a:xfrm>
            <a:off x="439838" y="228071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2555957"/>
            <a:ext cx="640080" cy="146304"/>
          </a:xfrm>
          <a:prstGeom prst="rect">
            <a:avLst/>
          </a:prstGeom>
          <a:noFill/>
        </p:spPr>
        <p:txBody>
          <a:bodyPr wrap="none">
            <a:spAutoFit/>
          </a:bodyPr>
          <a:lstStyle/>
          <a:p>
            <a:pPr algn="ctr"/>
            <a:r>
              <a:rPr sz="600">
                <a:solidFill>
                  <a:srgbClr val="B9A488"/>
                </a:solidFill>
              </a:rPr>
              <a:t>massiff</a:t>
            </a:r>
          </a:p>
        </p:txBody>
      </p:sp>
      <p:pic>
        <p:nvPicPr>
          <p:cNvPr id="52" name="needlepost" descr="needlepost (AA_Needlepost)&#10;drawSize 0.7900000214576721 · assigned here · art:keep"/>
          <p:cNvPicPr>
            <a:picLocks noChangeAspect="1"/>
          </p:cNvPicPr>
          <p:nvPr/>
        </p:nvPicPr>
        <p:blipFill>
          <a:blip r:embed="rId18"/>
          <a:stretch>
            <a:fillRect/>
          </a:stretch>
        </p:blipFill>
        <p:spPr>
          <a:xfrm>
            <a:off x="650150" y="2316491"/>
            <a:ext cx="230321" cy="230321"/>
          </a:xfrm>
          <a:prstGeom prst="rect">
            <a:avLst/>
          </a:prstGeom>
        </p:spPr>
      </p:pic>
      <p:sp>
        <p:nvSpPr>
          <p:cNvPr id="53" name="Oval 52"/>
          <p:cNvSpPr/>
          <p:nvPr/>
        </p:nvSpPr>
        <p:spPr>
          <a:xfrm>
            <a:off x="798176" y="229820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0150" y="2555957"/>
            <a:ext cx="640080" cy="146304"/>
          </a:xfrm>
          <a:prstGeom prst="rect">
            <a:avLst/>
          </a:prstGeom>
          <a:noFill/>
        </p:spPr>
        <p:txBody>
          <a:bodyPr wrap="none">
            <a:spAutoFit/>
          </a:bodyPr>
          <a:lstStyle/>
          <a:p>
            <a:pPr algn="ctr"/>
            <a:r>
              <a:rPr sz="600">
                <a:solidFill>
                  <a:srgbClr val="B9A488"/>
                </a:solidFill>
              </a:rPr>
              <a:t>needlepost</a:t>
            </a:r>
          </a:p>
        </p:txBody>
      </p:sp>
      <p:pic>
        <p:nvPicPr>
          <p:cNvPr id="55" name="urusai" descr="urusai (Urusai)&#10;drawSize 0.75 · assigned here · art:keep"/>
          <p:cNvPicPr>
            <a:picLocks noChangeAspect="1"/>
          </p:cNvPicPr>
          <p:nvPr/>
        </p:nvPicPr>
        <p:blipFill>
          <a:blip r:embed="rId19"/>
          <a:stretch>
            <a:fillRect/>
          </a:stretch>
        </p:blipFill>
        <p:spPr>
          <a:xfrm>
            <a:off x="1008488" y="2328153"/>
            <a:ext cx="218659" cy="218659"/>
          </a:xfrm>
          <a:prstGeom prst="rect">
            <a:avLst/>
          </a:prstGeom>
        </p:spPr>
      </p:pic>
      <p:sp>
        <p:nvSpPr>
          <p:cNvPr id="56" name="Oval 55"/>
          <p:cNvSpPr/>
          <p:nvPr/>
        </p:nvSpPr>
        <p:spPr>
          <a:xfrm>
            <a:off x="1144852" y="23098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08488" y="2555957"/>
            <a:ext cx="640080" cy="146304"/>
          </a:xfrm>
          <a:prstGeom prst="rect">
            <a:avLst/>
          </a:prstGeom>
          <a:noFill/>
        </p:spPr>
        <p:txBody>
          <a:bodyPr wrap="none">
            <a:spAutoFit/>
          </a:bodyPr>
          <a:lstStyle/>
          <a:p>
            <a:pPr algn="ctr"/>
            <a:r>
              <a:rPr sz="600">
                <a:solidFill>
                  <a:srgbClr val="B9A488"/>
                </a:solidFill>
              </a:rPr>
              <a:t>urusai</a:t>
            </a:r>
          </a:p>
        </p:txBody>
      </p:sp>
      <p:pic>
        <p:nvPicPr>
          <p:cNvPr id="58" name="iriaz" descr="iriaz (Iriaz)&#10;drawSize 0.699999988079071 · assigned here · art:keep"/>
          <p:cNvPicPr>
            <a:picLocks noChangeAspect="1"/>
          </p:cNvPicPr>
          <p:nvPr/>
        </p:nvPicPr>
        <p:blipFill>
          <a:blip r:embed="rId20"/>
          <a:stretch>
            <a:fillRect/>
          </a:stretch>
        </p:blipFill>
        <p:spPr>
          <a:xfrm>
            <a:off x="1355164" y="2342730"/>
            <a:ext cx="204082" cy="204082"/>
          </a:xfrm>
          <a:prstGeom prst="rect">
            <a:avLst/>
          </a:prstGeom>
        </p:spPr>
      </p:pic>
      <p:sp>
        <p:nvSpPr>
          <p:cNvPr id="59" name="Oval 58"/>
          <p:cNvSpPr/>
          <p:nvPr/>
        </p:nvSpPr>
        <p:spPr>
          <a:xfrm>
            <a:off x="1476950" y="232444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355164" y="2555957"/>
            <a:ext cx="640080" cy="146304"/>
          </a:xfrm>
          <a:prstGeom prst="rect">
            <a:avLst/>
          </a:prstGeom>
          <a:noFill/>
        </p:spPr>
        <p:txBody>
          <a:bodyPr wrap="none">
            <a:spAutoFit/>
          </a:bodyPr>
          <a:lstStyle/>
          <a:p>
            <a:pPr algn="ctr"/>
            <a:r>
              <a:rPr sz="600">
                <a:solidFill>
                  <a:srgbClr val="B9A488"/>
                </a:solidFill>
              </a:rPr>
              <a:t>iriaz</a:t>
            </a:r>
          </a:p>
        </p:txBody>
      </p:sp>
      <p:pic>
        <p:nvPicPr>
          <p:cNvPr id="61" name="longtail gorg" descr="longtail gorg (LongtailGorg)&#10;drawSize 0.6000000238418579 · assigned here · art:keep"/>
          <p:cNvPicPr>
            <a:picLocks noChangeAspect="1"/>
          </p:cNvPicPr>
          <p:nvPr/>
        </p:nvPicPr>
        <p:blipFill>
          <a:blip r:embed="rId21"/>
          <a:stretch>
            <a:fillRect/>
          </a:stretch>
        </p:blipFill>
        <p:spPr>
          <a:xfrm>
            <a:off x="1687262" y="2371885"/>
            <a:ext cx="174927" cy="174927"/>
          </a:xfrm>
          <a:prstGeom prst="rect">
            <a:avLst/>
          </a:prstGeom>
        </p:spPr>
      </p:pic>
      <p:sp>
        <p:nvSpPr>
          <p:cNvPr id="62" name="Oval 61"/>
          <p:cNvSpPr/>
          <p:nvPr/>
        </p:nvSpPr>
        <p:spPr>
          <a:xfrm>
            <a:off x="1779894" y="235359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687262" y="2555957"/>
            <a:ext cx="640080" cy="146304"/>
          </a:xfrm>
          <a:prstGeom prst="rect">
            <a:avLst/>
          </a:prstGeom>
          <a:noFill/>
        </p:spPr>
        <p:txBody>
          <a:bodyPr wrap="none">
            <a:spAutoFit/>
          </a:bodyPr>
          <a:lstStyle/>
          <a:p>
            <a:pPr algn="ctr"/>
            <a:r>
              <a:rPr sz="600">
                <a:solidFill>
                  <a:srgbClr val="B9A488"/>
                </a:solidFill>
              </a:rPr>
              <a:t>longtail gorg</a:t>
            </a:r>
          </a:p>
        </p:txBody>
      </p:sp>
      <p:pic>
        <p:nvPicPr>
          <p:cNvPr id="64" name="nuna" descr="nuna (Nuna)&#10;drawSize 0.6000000238418579 · assigned here · art:keep"/>
          <p:cNvPicPr>
            <a:picLocks noChangeAspect="1"/>
          </p:cNvPicPr>
          <p:nvPr/>
        </p:nvPicPr>
        <p:blipFill>
          <a:blip r:embed="rId22"/>
          <a:stretch>
            <a:fillRect/>
          </a:stretch>
        </p:blipFill>
        <p:spPr>
          <a:xfrm>
            <a:off x="1990206" y="2371885"/>
            <a:ext cx="174927" cy="174927"/>
          </a:xfrm>
          <a:prstGeom prst="rect">
            <a:avLst/>
          </a:prstGeom>
        </p:spPr>
      </p:pic>
      <p:sp>
        <p:nvSpPr>
          <p:cNvPr id="65" name="Oval 64"/>
          <p:cNvSpPr/>
          <p:nvPr/>
        </p:nvSpPr>
        <p:spPr>
          <a:xfrm>
            <a:off x="2082838" y="235359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990206" y="2555957"/>
            <a:ext cx="640080" cy="146304"/>
          </a:xfrm>
          <a:prstGeom prst="rect">
            <a:avLst/>
          </a:prstGeom>
          <a:noFill/>
        </p:spPr>
        <p:txBody>
          <a:bodyPr wrap="none">
            <a:spAutoFit/>
          </a:bodyPr>
          <a:lstStyle/>
          <a:p>
            <a:pPr algn="ctr"/>
            <a:r>
              <a:rPr sz="600">
                <a:solidFill>
                  <a:srgbClr val="B9A488"/>
                </a:solidFill>
              </a:rPr>
              <a:t>nuna</a:t>
            </a:r>
          </a:p>
        </p:txBody>
      </p:sp>
      <p:pic>
        <p:nvPicPr>
          <p:cNvPr id="67" name="pikobis" descr="pikobis (Pikobis)&#10;drawSize 0.6000000238418579 · assigned here · art:keep"/>
          <p:cNvPicPr>
            <a:picLocks noChangeAspect="1"/>
          </p:cNvPicPr>
          <p:nvPr/>
        </p:nvPicPr>
        <p:blipFill>
          <a:blip r:embed="rId23"/>
          <a:stretch>
            <a:fillRect/>
          </a:stretch>
        </p:blipFill>
        <p:spPr>
          <a:xfrm>
            <a:off x="2293150" y="2371885"/>
            <a:ext cx="174927" cy="174927"/>
          </a:xfrm>
          <a:prstGeom prst="rect">
            <a:avLst/>
          </a:prstGeom>
        </p:spPr>
      </p:pic>
      <p:sp>
        <p:nvSpPr>
          <p:cNvPr id="68" name="Oval 67"/>
          <p:cNvSpPr/>
          <p:nvPr/>
        </p:nvSpPr>
        <p:spPr>
          <a:xfrm>
            <a:off x="2385782" y="235359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93150" y="2555957"/>
            <a:ext cx="640080" cy="146304"/>
          </a:xfrm>
          <a:prstGeom prst="rect">
            <a:avLst/>
          </a:prstGeom>
          <a:noFill/>
        </p:spPr>
        <p:txBody>
          <a:bodyPr wrap="none">
            <a:spAutoFit/>
          </a:bodyPr>
          <a:lstStyle/>
          <a:p>
            <a:pPr algn="ctr"/>
            <a:r>
              <a:rPr sz="600">
                <a:solidFill>
                  <a:srgbClr val="B9A488"/>
                </a:solidFill>
              </a:rPr>
              <a:t>pikobis</a:t>
            </a:r>
          </a:p>
        </p:txBody>
      </p:sp>
      <p:pic>
        <p:nvPicPr>
          <p:cNvPr id="70" name="terrorworm" descr="terrorworm (Terrorworm)&#10;drawSize 0.6000000238418579 · assigned here · art:keep"/>
          <p:cNvPicPr>
            <a:picLocks noChangeAspect="1"/>
          </p:cNvPicPr>
          <p:nvPr/>
        </p:nvPicPr>
        <p:blipFill>
          <a:blip r:embed="rId24"/>
          <a:stretch>
            <a:fillRect/>
          </a:stretch>
        </p:blipFill>
        <p:spPr>
          <a:xfrm>
            <a:off x="2596094" y="2371885"/>
            <a:ext cx="174927" cy="174927"/>
          </a:xfrm>
          <a:prstGeom prst="rect">
            <a:avLst/>
          </a:prstGeom>
        </p:spPr>
      </p:pic>
      <p:sp>
        <p:nvSpPr>
          <p:cNvPr id="71" name="Oval 70"/>
          <p:cNvSpPr/>
          <p:nvPr/>
        </p:nvSpPr>
        <p:spPr>
          <a:xfrm>
            <a:off x="2688726" y="235359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596094" y="2555957"/>
            <a:ext cx="640080" cy="146304"/>
          </a:xfrm>
          <a:prstGeom prst="rect">
            <a:avLst/>
          </a:prstGeom>
          <a:noFill/>
        </p:spPr>
        <p:txBody>
          <a:bodyPr wrap="none">
            <a:spAutoFit/>
          </a:bodyPr>
          <a:lstStyle/>
          <a:p>
            <a:pPr algn="ctr"/>
            <a:r>
              <a:rPr sz="600">
                <a:solidFill>
                  <a:srgbClr val="B9A488"/>
                </a:solidFill>
              </a:rPr>
              <a:t>terrorworm</a:t>
            </a:r>
          </a:p>
        </p:txBody>
      </p:sp>
      <p:pic>
        <p:nvPicPr>
          <p:cNvPr id="73" name="worrt" descr="worrt (Worrt)&#10;drawSize 0.6000000238418579 · assigned here · art:keep"/>
          <p:cNvPicPr>
            <a:picLocks noChangeAspect="1"/>
          </p:cNvPicPr>
          <p:nvPr/>
        </p:nvPicPr>
        <p:blipFill>
          <a:blip r:embed="rId25"/>
          <a:stretch>
            <a:fillRect/>
          </a:stretch>
        </p:blipFill>
        <p:spPr>
          <a:xfrm>
            <a:off x="2899038" y="2371885"/>
            <a:ext cx="174927" cy="174927"/>
          </a:xfrm>
          <a:prstGeom prst="rect">
            <a:avLst/>
          </a:prstGeom>
        </p:spPr>
      </p:pic>
      <p:sp>
        <p:nvSpPr>
          <p:cNvPr id="74" name="Oval 73"/>
          <p:cNvSpPr/>
          <p:nvPr/>
        </p:nvSpPr>
        <p:spPr>
          <a:xfrm>
            <a:off x="2991670" y="235359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899038" y="2555957"/>
            <a:ext cx="640080" cy="146304"/>
          </a:xfrm>
          <a:prstGeom prst="rect">
            <a:avLst/>
          </a:prstGeom>
          <a:noFill/>
        </p:spPr>
        <p:txBody>
          <a:bodyPr wrap="none">
            <a:spAutoFit/>
          </a:bodyPr>
          <a:lstStyle/>
          <a:p>
            <a:pPr algn="ctr"/>
            <a:r>
              <a:rPr sz="600">
                <a:solidFill>
                  <a:srgbClr val="B9A488"/>
                </a:solidFill>
              </a:rPr>
              <a:t>worrt</a:t>
            </a:r>
          </a:p>
        </p:txBody>
      </p:sp>
      <p:pic>
        <p:nvPicPr>
          <p:cNvPr id="76" name="vulptex" descr="vulptex (Vulptex)&#10;drawSize 0.550000011920929 · assigned here · art:keep"/>
          <p:cNvPicPr>
            <a:picLocks noChangeAspect="1"/>
          </p:cNvPicPr>
          <p:nvPr/>
        </p:nvPicPr>
        <p:blipFill>
          <a:blip r:embed="rId26"/>
          <a:stretch>
            <a:fillRect/>
          </a:stretch>
        </p:blipFill>
        <p:spPr>
          <a:xfrm>
            <a:off x="3201982" y="2386462"/>
            <a:ext cx="160350" cy="160350"/>
          </a:xfrm>
          <a:prstGeom prst="rect">
            <a:avLst/>
          </a:prstGeom>
        </p:spPr>
      </p:pic>
      <p:sp>
        <p:nvSpPr>
          <p:cNvPr id="77" name="Oval 76"/>
          <p:cNvSpPr/>
          <p:nvPr/>
        </p:nvSpPr>
        <p:spPr>
          <a:xfrm>
            <a:off x="3280036" y="236817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201982" y="2555957"/>
            <a:ext cx="640080" cy="146304"/>
          </a:xfrm>
          <a:prstGeom prst="rect">
            <a:avLst/>
          </a:prstGeom>
          <a:noFill/>
        </p:spPr>
        <p:txBody>
          <a:bodyPr wrap="none">
            <a:spAutoFit/>
          </a:bodyPr>
          <a:lstStyle/>
          <a:p>
            <a:pPr algn="ctr"/>
            <a:r>
              <a:rPr sz="600">
                <a:solidFill>
                  <a:srgbClr val="B9A488"/>
                </a:solidFill>
              </a:rPr>
              <a:t>vulptex</a:t>
            </a:r>
          </a:p>
        </p:txBody>
      </p:sp>
      <p:pic>
        <p:nvPicPr>
          <p:cNvPr id="79" name="cactipine" descr="cactipine (AA_Cactipine)&#10;drawSize 0.5 · assigned here · art:keep"/>
          <p:cNvPicPr>
            <a:picLocks noChangeAspect="1"/>
          </p:cNvPicPr>
          <p:nvPr/>
        </p:nvPicPr>
        <p:blipFill>
          <a:blip r:embed="rId27"/>
          <a:stretch>
            <a:fillRect/>
          </a:stretch>
        </p:blipFill>
        <p:spPr>
          <a:xfrm>
            <a:off x="3490348" y="2396337"/>
            <a:ext cx="150475" cy="150475"/>
          </a:xfrm>
          <a:prstGeom prst="rect">
            <a:avLst/>
          </a:prstGeom>
        </p:spPr>
      </p:pic>
      <p:sp>
        <p:nvSpPr>
          <p:cNvPr id="80" name="Oval 79"/>
          <p:cNvSpPr/>
          <p:nvPr/>
        </p:nvSpPr>
        <p:spPr>
          <a:xfrm>
            <a:off x="3558528"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490348" y="2555957"/>
            <a:ext cx="640080" cy="146304"/>
          </a:xfrm>
          <a:prstGeom prst="rect">
            <a:avLst/>
          </a:prstGeom>
          <a:noFill/>
        </p:spPr>
        <p:txBody>
          <a:bodyPr wrap="none">
            <a:spAutoFit/>
          </a:bodyPr>
          <a:lstStyle/>
          <a:p>
            <a:pPr algn="ctr"/>
            <a:r>
              <a:rPr sz="600">
                <a:solidFill>
                  <a:srgbClr val="B9A488"/>
                </a:solidFill>
              </a:rPr>
              <a:t>cactipine</a:t>
            </a:r>
          </a:p>
        </p:txBody>
      </p:sp>
      <p:pic>
        <p:nvPicPr>
          <p:cNvPr id="82" name="Pufferpig" descr="Pufferpig (Pufferpig)&#10;drawSize 0.5 · assigned here · art:keep"/>
          <p:cNvPicPr>
            <a:picLocks noChangeAspect="1"/>
          </p:cNvPicPr>
          <p:nvPr/>
        </p:nvPicPr>
        <p:blipFill>
          <a:blip r:embed="rId28"/>
          <a:stretch>
            <a:fillRect/>
          </a:stretch>
        </p:blipFill>
        <p:spPr>
          <a:xfrm>
            <a:off x="3768840" y="2396337"/>
            <a:ext cx="150475" cy="150475"/>
          </a:xfrm>
          <a:prstGeom prst="rect">
            <a:avLst/>
          </a:prstGeom>
        </p:spPr>
      </p:pic>
      <p:sp>
        <p:nvSpPr>
          <p:cNvPr id="83" name="Oval 82"/>
          <p:cNvSpPr/>
          <p:nvPr/>
        </p:nvSpPr>
        <p:spPr>
          <a:xfrm>
            <a:off x="3837019"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768840" y="2555957"/>
            <a:ext cx="640080" cy="146304"/>
          </a:xfrm>
          <a:prstGeom prst="rect">
            <a:avLst/>
          </a:prstGeom>
          <a:noFill/>
        </p:spPr>
        <p:txBody>
          <a:bodyPr wrap="none">
            <a:spAutoFit/>
          </a:bodyPr>
          <a:lstStyle/>
          <a:p>
            <a:pPr algn="ctr"/>
            <a:r>
              <a:rPr sz="600">
                <a:solidFill>
                  <a:srgbClr val="B9A488"/>
                </a:solidFill>
              </a:rPr>
              <a:t>Pufferpig</a:t>
            </a:r>
          </a:p>
        </p:txBody>
      </p:sp>
      <p:pic>
        <p:nvPicPr>
          <p:cNvPr id="85" name="moss beetle" descr="moss beetle (BMT_MossBeetle)&#10;drawSize 0.44999998807907104 · assigned here · art:keep"/>
          <p:cNvPicPr>
            <a:picLocks noChangeAspect="1"/>
          </p:cNvPicPr>
          <p:nvPr/>
        </p:nvPicPr>
        <p:blipFill>
          <a:blip r:embed="rId29"/>
          <a:stretch>
            <a:fillRect/>
          </a:stretch>
        </p:blipFill>
        <p:spPr>
          <a:xfrm>
            <a:off x="4047331" y="2396337"/>
            <a:ext cx="150475" cy="150475"/>
          </a:xfrm>
          <a:prstGeom prst="rect">
            <a:avLst/>
          </a:prstGeom>
        </p:spPr>
      </p:pic>
      <p:sp>
        <p:nvSpPr>
          <p:cNvPr id="86" name="Oval 85"/>
          <p:cNvSpPr/>
          <p:nvPr/>
        </p:nvSpPr>
        <p:spPr>
          <a:xfrm>
            <a:off x="4115511"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047331" y="2555957"/>
            <a:ext cx="640080" cy="146304"/>
          </a:xfrm>
          <a:prstGeom prst="rect">
            <a:avLst/>
          </a:prstGeom>
          <a:noFill/>
        </p:spPr>
        <p:txBody>
          <a:bodyPr wrap="none">
            <a:spAutoFit/>
          </a:bodyPr>
          <a:lstStyle/>
          <a:p>
            <a:pPr algn="ctr"/>
            <a:r>
              <a:rPr sz="600">
                <a:solidFill>
                  <a:srgbClr val="B9A488"/>
                </a:solidFill>
              </a:rPr>
              <a:t>moss beetle</a:t>
            </a:r>
          </a:p>
        </p:txBody>
      </p:sp>
      <p:pic>
        <p:nvPicPr>
          <p:cNvPr id="88" name="convor" descr="convor (Convor)&#10;drawSize 0.4000000059604645 · assigned here · art:keep"/>
          <p:cNvPicPr>
            <a:picLocks noChangeAspect="1"/>
          </p:cNvPicPr>
          <p:nvPr/>
        </p:nvPicPr>
        <p:blipFill>
          <a:blip r:embed="rId30"/>
          <a:stretch>
            <a:fillRect/>
          </a:stretch>
        </p:blipFill>
        <p:spPr>
          <a:xfrm>
            <a:off x="4325823" y="2396337"/>
            <a:ext cx="150475" cy="150475"/>
          </a:xfrm>
          <a:prstGeom prst="rect">
            <a:avLst/>
          </a:prstGeom>
        </p:spPr>
      </p:pic>
      <p:sp>
        <p:nvSpPr>
          <p:cNvPr id="89" name="Oval 88"/>
          <p:cNvSpPr/>
          <p:nvPr/>
        </p:nvSpPr>
        <p:spPr>
          <a:xfrm>
            <a:off x="4394003"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325823" y="2555957"/>
            <a:ext cx="640080" cy="146304"/>
          </a:xfrm>
          <a:prstGeom prst="rect">
            <a:avLst/>
          </a:prstGeom>
          <a:noFill/>
        </p:spPr>
        <p:txBody>
          <a:bodyPr wrap="none">
            <a:spAutoFit/>
          </a:bodyPr>
          <a:lstStyle/>
          <a:p>
            <a:pPr algn="ctr"/>
            <a:r>
              <a:rPr sz="600">
                <a:solidFill>
                  <a:srgbClr val="B9A488"/>
                </a:solidFill>
              </a:rPr>
              <a:t>convor</a:t>
            </a:r>
          </a:p>
        </p:txBody>
      </p:sp>
      <p:pic>
        <p:nvPicPr>
          <p:cNvPr id="91" name="frilled gorg" descr="frilled gorg (FrilledGorg)&#10;drawSize 0.4000000059604645 · assigned here · art:keep"/>
          <p:cNvPicPr>
            <a:picLocks noChangeAspect="1"/>
          </p:cNvPicPr>
          <p:nvPr/>
        </p:nvPicPr>
        <p:blipFill>
          <a:blip r:embed="rId31"/>
          <a:stretch>
            <a:fillRect/>
          </a:stretch>
        </p:blipFill>
        <p:spPr>
          <a:xfrm>
            <a:off x="4604315" y="2396337"/>
            <a:ext cx="150475" cy="150475"/>
          </a:xfrm>
          <a:prstGeom prst="rect">
            <a:avLst/>
          </a:prstGeom>
        </p:spPr>
      </p:pic>
      <p:sp>
        <p:nvSpPr>
          <p:cNvPr id="92" name="Oval 91"/>
          <p:cNvSpPr/>
          <p:nvPr/>
        </p:nvSpPr>
        <p:spPr>
          <a:xfrm>
            <a:off x="4672494"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604315" y="2555957"/>
            <a:ext cx="640080" cy="146304"/>
          </a:xfrm>
          <a:prstGeom prst="rect">
            <a:avLst/>
          </a:prstGeom>
          <a:noFill/>
        </p:spPr>
        <p:txBody>
          <a:bodyPr wrap="none">
            <a:spAutoFit/>
          </a:bodyPr>
          <a:lstStyle/>
          <a:p>
            <a:pPr algn="ctr"/>
            <a:r>
              <a:rPr sz="600">
                <a:solidFill>
                  <a:srgbClr val="B9A488"/>
                </a:solidFill>
              </a:rPr>
              <a:t>frilled gorg</a:t>
            </a:r>
          </a:p>
        </p:txBody>
      </p:sp>
      <p:pic>
        <p:nvPicPr>
          <p:cNvPr id="94" name="sketto" descr="sketto (Sketto)&#10;drawSize 0.4000000059604645 · assigned here · art:keep"/>
          <p:cNvPicPr>
            <a:picLocks noChangeAspect="1"/>
          </p:cNvPicPr>
          <p:nvPr/>
        </p:nvPicPr>
        <p:blipFill>
          <a:blip r:embed="rId32"/>
          <a:stretch>
            <a:fillRect/>
          </a:stretch>
        </p:blipFill>
        <p:spPr>
          <a:xfrm>
            <a:off x="4882806" y="2396337"/>
            <a:ext cx="150475" cy="150475"/>
          </a:xfrm>
          <a:prstGeom prst="rect">
            <a:avLst/>
          </a:prstGeom>
        </p:spPr>
      </p:pic>
      <p:sp>
        <p:nvSpPr>
          <p:cNvPr id="95" name="Oval 94"/>
          <p:cNvSpPr/>
          <p:nvPr/>
        </p:nvSpPr>
        <p:spPr>
          <a:xfrm>
            <a:off x="4950986"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882806" y="2555957"/>
            <a:ext cx="640080" cy="146304"/>
          </a:xfrm>
          <a:prstGeom prst="rect">
            <a:avLst/>
          </a:prstGeom>
          <a:noFill/>
        </p:spPr>
        <p:txBody>
          <a:bodyPr wrap="none">
            <a:spAutoFit/>
          </a:bodyPr>
          <a:lstStyle/>
          <a:p>
            <a:pPr algn="ctr"/>
            <a:r>
              <a:rPr sz="600">
                <a:solidFill>
                  <a:srgbClr val="B9A488"/>
                </a:solidFill>
              </a:rPr>
              <a:t>sketto</a:t>
            </a:r>
          </a:p>
        </p:txBody>
      </p:sp>
      <p:pic>
        <p:nvPicPr>
          <p:cNvPr id="97" name="whisperbird" descr="whisperbird (Whisperbird)&#10;drawSize 0.4000000059604645 · assigned here · art:improve"/>
          <p:cNvPicPr>
            <a:picLocks noChangeAspect="1"/>
          </p:cNvPicPr>
          <p:nvPr/>
        </p:nvPicPr>
        <p:blipFill>
          <a:blip r:embed="rId33"/>
          <a:stretch>
            <a:fillRect/>
          </a:stretch>
        </p:blipFill>
        <p:spPr>
          <a:xfrm>
            <a:off x="5161298" y="2396337"/>
            <a:ext cx="150475" cy="150475"/>
          </a:xfrm>
          <a:prstGeom prst="rect">
            <a:avLst/>
          </a:prstGeom>
        </p:spPr>
      </p:pic>
      <p:sp>
        <p:nvSpPr>
          <p:cNvPr id="98" name="Oval 97"/>
          <p:cNvSpPr/>
          <p:nvPr/>
        </p:nvSpPr>
        <p:spPr>
          <a:xfrm>
            <a:off x="5229477"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161298" y="2555957"/>
            <a:ext cx="640080" cy="146304"/>
          </a:xfrm>
          <a:prstGeom prst="rect">
            <a:avLst/>
          </a:prstGeom>
          <a:noFill/>
        </p:spPr>
        <p:txBody>
          <a:bodyPr wrap="none">
            <a:spAutoFit/>
          </a:bodyPr>
          <a:lstStyle/>
          <a:p>
            <a:pPr algn="ctr"/>
            <a:r>
              <a:rPr sz="600">
                <a:solidFill>
                  <a:srgbClr val="B9A488"/>
                </a:solidFill>
              </a:rPr>
              <a:t>whisperbird</a:t>
            </a:r>
          </a:p>
        </p:txBody>
      </p:sp>
      <p:pic>
        <p:nvPicPr>
          <p:cNvPr id="100" name="kowakian monkey-lizard" descr="kowakian monkey-lizard (KowakianMonkeyLizard)&#10;drawSize 0.3499999940395355 · assigned here · art:keep"/>
          <p:cNvPicPr>
            <a:picLocks noChangeAspect="1"/>
          </p:cNvPicPr>
          <p:nvPr/>
        </p:nvPicPr>
        <p:blipFill>
          <a:blip r:embed="rId34"/>
          <a:stretch>
            <a:fillRect/>
          </a:stretch>
        </p:blipFill>
        <p:spPr>
          <a:xfrm>
            <a:off x="5439789" y="2396337"/>
            <a:ext cx="150475" cy="150475"/>
          </a:xfrm>
          <a:prstGeom prst="rect">
            <a:avLst/>
          </a:prstGeom>
        </p:spPr>
      </p:pic>
      <p:sp>
        <p:nvSpPr>
          <p:cNvPr id="101" name="Oval 100"/>
          <p:cNvSpPr/>
          <p:nvPr/>
        </p:nvSpPr>
        <p:spPr>
          <a:xfrm>
            <a:off x="5507969"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439789" y="2555957"/>
            <a:ext cx="640080" cy="146304"/>
          </a:xfrm>
          <a:prstGeom prst="rect">
            <a:avLst/>
          </a:prstGeom>
          <a:noFill/>
        </p:spPr>
        <p:txBody>
          <a:bodyPr wrap="none">
            <a:spAutoFit/>
          </a:bodyPr>
          <a:lstStyle/>
          <a:p>
            <a:pPr algn="ctr"/>
            <a:r>
              <a:rPr sz="600">
                <a:solidFill>
                  <a:srgbClr val="B9A488"/>
                </a:solidFill>
              </a:rPr>
              <a:t>kowakian monkey-</a:t>
            </a:r>
          </a:p>
        </p:txBody>
      </p:sp>
      <p:pic>
        <p:nvPicPr>
          <p:cNvPr id="103" name="loth-cat" descr="loth-cat (Lothcat)&#10;drawSize 0.3499999940395355 · assigned here · art:keep"/>
          <p:cNvPicPr>
            <a:picLocks noChangeAspect="1"/>
          </p:cNvPicPr>
          <p:nvPr/>
        </p:nvPicPr>
        <p:blipFill>
          <a:blip r:embed="rId35"/>
          <a:stretch>
            <a:fillRect/>
          </a:stretch>
        </p:blipFill>
        <p:spPr>
          <a:xfrm>
            <a:off x="5718281" y="2396337"/>
            <a:ext cx="150475" cy="150475"/>
          </a:xfrm>
          <a:prstGeom prst="rect">
            <a:avLst/>
          </a:prstGeom>
        </p:spPr>
      </p:pic>
      <p:sp>
        <p:nvSpPr>
          <p:cNvPr id="104" name="Oval 103"/>
          <p:cNvSpPr/>
          <p:nvPr/>
        </p:nvSpPr>
        <p:spPr>
          <a:xfrm>
            <a:off x="5786461"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718281" y="2555957"/>
            <a:ext cx="640080" cy="146304"/>
          </a:xfrm>
          <a:prstGeom prst="rect">
            <a:avLst/>
          </a:prstGeom>
          <a:noFill/>
        </p:spPr>
        <p:txBody>
          <a:bodyPr wrap="none">
            <a:spAutoFit/>
          </a:bodyPr>
          <a:lstStyle/>
          <a:p>
            <a:pPr algn="ctr"/>
            <a:r>
              <a:rPr sz="600">
                <a:solidFill>
                  <a:srgbClr val="B9A488"/>
                </a:solidFill>
              </a:rPr>
              <a:t>loth-cat</a:t>
            </a:r>
          </a:p>
        </p:txBody>
      </p:sp>
      <p:pic>
        <p:nvPicPr>
          <p:cNvPr id="106" name="voorpak" descr="voorpak (Voorpak)&#10;drawSize 0.3499999940395355 · assigned here · art:keep"/>
          <p:cNvPicPr>
            <a:picLocks noChangeAspect="1"/>
          </p:cNvPicPr>
          <p:nvPr/>
        </p:nvPicPr>
        <p:blipFill>
          <a:blip r:embed="rId36"/>
          <a:stretch>
            <a:fillRect/>
          </a:stretch>
        </p:blipFill>
        <p:spPr>
          <a:xfrm>
            <a:off x="5996773" y="2396337"/>
            <a:ext cx="150475" cy="150475"/>
          </a:xfrm>
          <a:prstGeom prst="rect">
            <a:avLst/>
          </a:prstGeom>
        </p:spPr>
      </p:pic>
      <p:sp>
        <p:nvSpPr>
          <p:cNvPr id="107" name="Oval 106"/>
          <p:cNvSpPr/>
          <p:nvPr/>
        </p:nvSpPr>
        <p:spPr>
          <a:xfrm>
            <a:off x="6064952"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996773" y="2555957"/>
            <a:ext cx="640080" cy="146304"/>
          </a:xfrm>
          <a:prstGeom prst="rect">
            <a:avLst/>
          </a:prstGeom>
          <a:noFill/>
        </p:spPr>
        <p:txBody>
          <a:bodyPr wrap="none">
            <a:spAutoFit/>
          </a:bodyPr>
          <a:lstStyle/>
          <a:p>
            <a:pPr algn="ctr"/>
            <a:r>
              <a:rPr sz="600">
                <a:solidFill>
                  <a:srgbClr val="B9A488"/>
                </a:solidFill>
              </a:rPr>
              <a:t>voorpak</a:t>
            </a:r>
          </a:p>
        </p:txBody>
      </p:sp>
      <p:pic>
        <p:nvPicPr>
          <p:cNvPr id="109" name="igitz" descr="igitz (Igitz)&#10;drawSize 0.3199999928474426 · assigned here · art:keep"/>
          <p:cNvPicPr>
            <a:picLocks noChangeAspect="1"/>
          </p:cNvPicPr>
          <p:nvPr/>
        </p:nvPicPr>
        <p:blipFill>
          <a:blip r:embed="rId37"/>
          <a:stretch>
            <a:fillRect/>
          </a:stretch>
        </p:blipFill>
        <p:spPr>
          <a:xfrm>
            <a:off x="6275264" y="2396337"/>
            <a:ext cx="150475" cy="150475"/>
          </a:xfrm>
          <a:prstGeom prst="rect">
            <a:avLst/>
          </a:prstGeom>
        </p:spPr>
      </p:pic>
      <p:sp>
        <p:nvSpPr>
          <p:cNvPr id="110" name="Oval 109"/>
          <p:cNvSpPr/>
          <p:nvPr/>
        </p:nvSpPr>
        <p:spPr>
          <a:xfrm>
            <a:off x="6343444"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275264" y="2555957"/>
            <a:ext cx="640080" cy="146304"/>
          </a:xfrm>
          <a:prstGeom prst="rect">
            <a:avLst/>
          </a:prstGeom>
          <a:noFill/>
        </p:spPr>
        <p:txBody>
          <a:bodyPr wrap="none">
            <a:spAutoFit/>
          </a:bodyPr>
          <a:lstStyle/>
          <a:p>
            <a:pPr algn="ctr"/>
            <a:r>
              <a:rPr sz="600">
                <a:solidFill>
                  <a:srgbClr val="B9A488"/>
                </a:solidFill>
              </a:rPr>
              <a:t>igitz</a:t>
            </a:r>
          </a:p>
        </p:txBody>
      </p:sp>
      <p:pic>
        <p:nvPicPr>
          <p:cNvPr id="112" name="imperial toad" descr="imperial toad (BMT_ImperialToad)&#10;drawSize 0.30000001192092896 · assigned here · art:keep"/>
          <p:cNvPicPr>
            <a:picLocks noChangeAspect="1"/>
          </p:cNvPicPr>
          <p:nvPr/>
        </p:nvPicPr>
        <p:blipFill>
          <a:blip r:embed="rId38"/>
          <a:stretch>
            <a:fillRect/>
          </a:stretch>
        </p:blipFill>
        <p:spPr>
          <a:xfrm>
            <a:off x="6553756" y="2396337"/>
            <a:ext cx="150475" cy="150475"/>
          </a:xfrm>
          <a:prstGeom prst="rect">
            <a:avLst/>
          </a:prstGeom>
        </p:spPr>
      </p:pic>
      <p:sp>
        <p:nvSpPr>
          <p:cNvPr id="113" name="Oval 112"/>
          <p:cNvSpPr/>
          <p:nvPr/>
        </p:nvSpPr>
        <p:spPr>
          <a:xfrm>
            <a:off x="6621935"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553756" y="2555957"/>
            <a:ext cx="640080" cy="146304"/>
          </a:xfrm>
          <a:prstGeom prst="rect">
            <a:avLst/>
          </a:prstGeom>
          <a:noFill/>
        </p:spPr>
        <p:txBody>
          <a:bodyPr wrap="none">
            <a:spAutoFit/>
          </a:bodyPr>
          <a:lstStyle/>
          <a:p>
            <a:pPr algn="ctr"/>
            <a:r>
              <a:rPr sz="600">
                <a:solidFill>
                  <a:srgbClr val="B9A488"/>
                </a:solidFill>
              </a:rPr>
              <a:t>imperial toad</a:t>
            </a:r>
          </a:p>
        </p:txBody>
      </p:sp>
      <p:pic>
        <p:nvPicPr>
          <p:cNvPr id="115" name="gorg" descr="gorg (Gorg)&#10;drawSize 0.30000001192092896 · assigned here · art:keep"/>
          <p:cNvPicPr>
            <a:picLocks noChangeAspect="1"/>
          </p:cNvPicPr>
          <p:nvPr/>
        </p:nvPicPr>
        <p:blipFill>
          <a:blip r:embed="rId39"/>
          <a:stretch>
            <a:fillRect/>
          </a:stretch>
        </p:blipFill>
        <p:spPr>
          <a:xfrm>
            <a:off x="6832247" y="2396337"/>
            <a:ext cx="150475" cy="150475"/>
          </a:xfrm>
          <a:prstGeom prst="rect">
            <a:avLst/>
          </a:prstGeom>
        </p:spPr>
      </p:pic>
      <p:sp>
        <p:nvSpPr>
          <p:cNvPr id="116" name="Oval 115"/>
          <p:cNvSpPr/>
          <p:nvPr/>
        </p:nvSpPr>
        <p:spPr>
          <a:xfrm>
            <a:off x="6900427"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832247" y="2555957"/>
            <a:ext cx="640080" cy="146304"/>
          </a:xfrm>
          <a:prstGeom prst="rect">
            <a:avLst/>
          </a:prstGeom>
          <a:noFill/>
        </p:spPr>
        <p:txBody>
          <a:bodyPr wrap="none">
            <a:spAutoFit/>
          </a:bodyPr>
          <a:lstStyle/>
          <a:p>
            <a:pPr algn="ctr"/>
            <a:r>
              <a:rPr sz="600">
                <a:solidFill>
                  <a:srgbClr val="B9A488"/>
                </a:solidFill>
              </a:rPr>
              <a:t>gorg</a:t>
            </a:r>
          </a:p>
        </p:txBody>
      </p:sp>
      <p:pic>
        <p:nvPicPr>
          <p:cNvPr id="118" name="kreetle" descr="kreetle (Kreetle)&#10;drawSize 0.20000000298023224 · assigned here · art:keep&#10;“arid type only”"/>
          <p:cNvPicPr>
            <a:picLocks noChangeAspect="1"/>
          </p:cNvPicPr>
          <p:nvPr/>
        </p:nvPicPr>
        <p:blipFill>
          <a:blip r:embed="rId40"/>
          <a:stretch>
            <a:fillRect/>
          </a:stretch>
        </p:blipFill>
        <p:spPr>
          <a:xfrm>
            <a:off x="7110739" y="2396337"/>
            <a:ext cx="150475" cy="150475"/>
          </a:xfrm>
          <a:prstGeom prst="rect">
            <a:avLst/>
          </a:prstGeom>
        </p:spPr>
      </p:pic>
      <p:sp>
        <p:nvSpPr>
          <p:cNvPr id="119" name="Oval 118"/>
          <p:cNvSpPr/>
          <p:nvPr/>
        </p:nvSpPr>
        <p:spPr>
          <a:xfrm>
            <a:off x="7178919"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110739" y="2555957"/>
            <a:ext cx="640080" cy="146304"/>
          </a:xfrm>
          <a:prstGeom prst="rect">
            <a:avLst/>
          </a:prstGeom>
          <a:noFill/>
        </p:spPr>
        <p:txBody>
          <a:bodyPr wrap="none">
            <a:spAutoFit/>
          </a:bodyPr>
          <a:lstStyle/>
          <a:p>
            <a:pPr algn="ctr"/>
            <a:r>
              <a:rPr sz="600">
                <a:solidFill>
                  <a:srgbClr val="B9A488"/>
                </a:solidFill>
              </a:rPr>
              <a:t>kreetle</a:t>
            </a:r>
          </a:p>
        </p:txBody>
      </p:sp>
      <p:pic>
        <p:nvPicPr>
          <p:cNvPr id="121" name="scurrier" descr="scurrier (Scurrier)&#10;drawSize 0.20000000298023224 · assigned here · art:keep"/>
          <p:cNvPicPr>
            <a:picLocks noChangeAspect="1"/>
          </p:cNvPicPr>
          <p:nvPr/>
        </p:nvPicPr>
        <p:blipFill>
          <a:blip r:embed="rId41"/>
          <a:stretch>
            <a:fillRect/>
          </a:stretch>
        </p:blipFill>
        <p:spPr>
          <a:xfrm>
            <a:off x="7389231" y="2396337"/>
            <a:ext cx="150475" cy="150475"/>
          </a:xfrm>
          <a:prstGeom prst="rect">
            <a:avLst/>
          </a:prstGeom>
        </p:spPr>
      </p:pic>
      <p:sp>
        <p:nvSpPr>
          <p:cNvPr id="122" name="Oval 121"/>
          <p:cNvSpPr/>
          <p:nvPr/>
        </p:nvSpPr>
        <p:spPr>
          <a:xfrm>
            <a:off x="7457410"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389231" y="2555957"/>
            <a:ext cx="640080" cy="146304"/>
          </a:xfrm>
          <a:prstGeom prst="rect">
            <a:avLst/>
          </a:prstGeom>
          <a:noFill/>
        </p:spPr>
        <p:txBody>
          <a:bodyPr wrap="none">
            <a:spAutoFit/>
          </a:bodyPr>
          <a:lstStyle/>
          <a:p>
            <a:pPr algn="ctr"/>
            <a:r>
              <a:rPr sz="600">
                <a:solidFill>
                  <a:srgbClr val="B9A488"/>
                </a:solidFill>
              </a:rPr>
              <a:t>scurrier</a:t>
            </a:r>
          </a:p>
        </p:txBody>
      </p:sp>
      <p:pic>
        <p:nvPicPr>
          <p:cNvPr id="124" name="kreetle" descr="kreetle (Kreetle)&#10;drawSize 0.20000000298023224 · moved in from the_miasma · art:keep&#10;“arid type only”"/>
          <p:cNvPicPr>
            <a:picLocks noChangeAspect="1"/>
          </p:cNvPicPr>
          <p:nvPr/>
        </p:nvPicPr>
        <p:blipFill>
          <a:blip r:embed="rId40"/>
          <a:stretch>
            <a:fillRect/>
          </a:stretch>
        </p:blipFill>
        <p:spPr>
          <a:xfrm>
            <a:off x="7667722" y="2396337"/>
            <a:ext cx="150475" cy="150475"/>
          </a:xfrm>
          <a:prstGeom prst="rect">
            <a:avLst/>
          </a:prstGeom>
        </p:spPr>
      </p:pic>
      <p:sp>
        <p:nvSpPr>
          <p:cNvPr id="125" name="Oval 124"/>
          <p:cNvSpPr/>
          <p:nvPr/>
        </p:nvSpPr>
        <p:spPr>
          <a:xfrm>
            <a:off x="7735902" y="2378049"/>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667722" y="2555957"/>
            <a:ext cx="640080" cy="146304"/>
          </a:xfrm>
          <a:prstGeom prst="rect">
            <a:avLst/>
          </a:prstGeom>
          <a:noFill/>
        </p:spPr>
        <p:txBody>
          <a:bodyPr wrap="none">
            <a:spAutoFit/>
          </a:bodyPr>
          <a:lstStyle/>
          <a:p>
            <a:pPr algn="ctr"/>
            <a:r>
              <a:rPr sz="600">
                <a:solidFill>
                  <a:srgbClr val="B9A488"/>
                </a:solidFill>
              </a:rPr>
              <a:t>kreetle</a:t>
            </a:r>
          </a:p>
        </p:txBody>
      </p:sp>
      <p:pic>
        <p:nvPicPr>
          <p:cNvPr id="127" name="gizka" descr="gizka (Gizka)&#10;drawSize 0.18000000715255737 · assigned here · art:keep&#10;“not here”"/>
          <p:cNvPicPr>
            <a:picLocks noChangeAspect="1"/>
          </p:cNvPicPr>
          <p:nvPr/>
        </p:nvPicPr>
        <p:blipFill>
          <a:blip r:embed="rId42"/>
          <a:stretch>
            <a:fillRect/>
          </a:stretch>
        </p:blipFill>
        <p:spPr>
          <a:xfrm>
            <a:off x="7946214" y="2396337"/>
            <a:ext cx="150475" cy="150475"/>
          </a:xfrm>
          <a:prstGeom prst="rect">
            <a:avLst/>
          </a:prstGeom>
        </p:spPr>
      </p:pic>
      <p:sp>
        <p:nvSpPr>
          <p:cNvPr id="128" name="Oval 127"/>
          <p:cNvSpPr/>
          <p:nvPr/>
        </p:nvSpPr>
        <p:spPr>
          <a:xfrm>
            <a:off x="8014393"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946214" y="2555957"/>
            <a:ext cx="640080" cy="146304"/>
          </a:xfrm>
          <a:prstGeom prst="rect">
            <a:avLst/>
          </a:prstGeom>
          <a:noFill/>
        </p:spPr>
        <p:txBody>
          <a:bodyPr wrap="none">
            <a:spAutoFit/>
          </a:bodyPr>
          <a:lstStyle/>
          <a:p>
            <a:pPr algn="ctr"/>
            <a:r>
              <a:rPr sz="600">
                <a:solidFill>
                  <a:srgbClr val="B9A488"/>
                </a:solidFill>
              </a:rPr>
              <a:t>gizka</a:t>
            </a:r>
          </a:p>
        </p:txBody>
      </p:sp>
      <p:pic>
        <p:nvPicPr>
          <p:cNvPr id="130" name="porg" descr="porg (Porg)&#10;drawSize 0.18000000715255737 · assigned here · art:keep"/>
          <p:cNvPicPr>
            <a:picLocks noChangeAspect="1"/>
          </p:cNvPicPr>
          <p:nvPr/>
        </p:nvPicPr>
        <p:blipFill>
          <a:blip r:embed="rId43"/>
          <a:stretch>
            <a:fillRect/>
          </a:stretch>
        </p:blipFill>
        <p:spPr>
          <a:xfrm>
            <a:off x="8224705" y="2396337"/>
            <a:ext cx="150475" cy="150475"/>
          </a:xfrm>
          <a:prstGeom prst="rect">
            <a:avLst/>
          </a:prstGeom>
        </p:spPr>
      </p:pic>
      <p:sp>
        <p:nvSpPr>
          <p:cNvPr id="131" name="Oval 130"/>
          <p:cNvSpPr/>
          <p:nvPr/>
        </p:nvSpPr>
        <p:spPr>
          <a:xfrm>
            <a:off x="8292885" y="23780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8224705" y="2555957"/>
            <a:ext cx="640080" cy="146304"/>
          </a:xfrm>
          <a:prstGeom prst="rect">
            <a:avLst/>
          </a:prstGeom>
          <a:noFill/>
        </p:spPr>
        <p:txBody>
          <a:bodyPr wrap="none">
            <a:spAutoFit/>
          </a:bodyPr>
          <a:lstStyle/>
          <a:p>
            <a:pPr algn="ctr"/>
            <a:r>
              <a:rPr sz="600">
                <a:solidFill>
                  <a:srgbClr val="B9A488"/>
                </a:solidFill>
              </a:rPr>
              <a:t>porg</a:t>
            </a:r>
          </a:p>
        </p:txBody>
      </p:sp>
      <p:sp>
        <p:nvSpPr>
          <p:cNvPr id="133" name="TextBox 132"/>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134" name="RG_Plant_Dervish" descr="RG_Plant_Dervish (RG_Plant_Dervish)&#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RG_Plant_Dervish</a:t>
            </a:r>
          </a:p>
        </p:txBody>
      </p:sp>
      <p:sp>
        <p:nvSpPr>
          <p:cNvPr id="135" name="TextBox 134"/>
          <p:cNvSpPr txBox="1"/>
          <p:nvPr/>
        </p:nvSpPr>
        <p:spPr>
          <a:xfrm>
            <a:off x="274320" y="4379975"/>
            <a:ext cx="640080" cy="146304"/>
          </a:xfrm>
          <a:prstGeom prst="rect">
            <a:avLst/>
          </a:prstGeom>
          <a:noFill/>
        </p:spPr>
        <p:txBody>
          <a:bodyPr wrap="none">
            <a:spAutoFit/>
          </a:bodyPr>
          <a:lstStyle/>
          <a:p>
            <a:pPr algn="ctr"/>
            <a:r>
              <a:rPr sz="600">
                <a:solidFill>
                  <a:srgbClr val="B9A488"/>
                </a:solidFill>
              </a:rPr>
              <a:t>RG_Plant_Dervish</a:t>
            </a:r>
          </a:p>
        </p:txBody>
      </p:sp>
      <p:pic>
        <p:nvPicPr>
          <p:cNvPr id="136" name="RG_Plant_AridGrass" descr="RG_Plant_AridGrass (RG_Plant_AridGrass)&#10;"/>
          <p:cNvPicPr>
            <a:picLocks noChangeAspect="1"/>
          </p:cNvPicPr>
          <p:nvPr/>
        </p:nvPicPr>
        <p:blipFill>
          <a:blip r:embed="rId44"/>
          <a:stretch>
            <a:fillRect/>
          </a:stretch>
        </p:blipFill>
        <p:spPr>
          <a:xfrm>
            <a:off x="950975" y="3822191"/>
            <a:ext cx="548639" cy="548639"/>
          </a:xfrm>
          <a:prstGeom prst="rect">
            <a:avLst/>
          </a:prstGeom>
        </p:spPr>
      </p:pic>
      <p:sp>
        <p:nvSpPr>
          <p:cNvPr id="137" name="TextBox 136"/>
          <p:cNvSpPr txBox="1"/>
          <p:nvPr/>
        </p:nvSpPr>
        <p:spPr>
          <a:xfrm>
            <a:off x="950975" y="4379975"/>
            <a:ext cx="640080" cy="146304"/>
          </a:xfrm>
          <a:prstGeom prst="rect">
            <a:avLst/>
          </a:prstGeom>
          <a:noFill/>
        </p:spPr>
        <p:txBody>
          <a:bodyPr wrap="none">
            <a:spAutoFit/>
          </a:bodyPr>
          <a:lstStyle/>
          <a:p>
            <a:pPr algn="ctr"/>
            <a:r>
              <a:rPr sz="600">
                <a:solidFill>
                  <a:srgbClr val="B9A488"/>
                </a:solidFill>
              </a:rPr>
              <a:t>RG_Plant_AridGra</a:t>
            </a:r>
          </a:p>
        </p:txBody>
      </p:sp>
      <p:pic>
        <p:nvPicPr>
          <p:cNvPr id="138" name="Plant_HealrootWild" descr="Plant_HealrootWild (Plant_HealrootWild)&#10;"/>
          <p:cNvPicPr>
            <a:picLocks noChangeAspect="1"/>
          </p:cNvPicPr>
          <p:nvPr/>
        </p:nvPicPr>
        <p:blipFill>
          <a:blip r:embed="rId45"/>
          <a:stretch>
            <a:fillRect/>
          </a:stretch>
        </p:blipFill>
        <p:spPr>
          <a:xfrm>
            <a:off x="1627631" y="3822191"/>
            <a:ext cx="548639" cy="548639"/>
          </a:xfrm>
          <a:prstGeom prst="rect">
            <a:avLst/>
          </a:prstGeom>
        </p:spPr>
      </p:pic>
      <p:sp>
        <p:nvSpPr>
          <p:cNvPr id="139" name="TextBox 138"/>
          <p:cNvSpPr txBox="1"/>
          <p:nvPr/>
        </p:nvSpPr>
        <p:spPr>
          <a:xfrm>
            <a:off x="1627631" y="4379975"/>
            <a:ext cx="640080" cy="146304"/>
          </a:xfrm>
          <a:prstGeom prst="rect">
            <a:avLst/>
          </a:prstGeom>
          <a:noFill/>
        </p:spPr>
        <p:txBody>
          <a:bodyPr wrap="none">
            <a:spAutoFit/>
          </a:bodyPr>
          <a:lstStyle/>
          <a:p>
            <a:pPr algn="ctr"/>
            <a:r>
              <a:rPr sz="600">
                <a:solidFill>
                  <a:srgbClr val="B9A488"/>
                </a:solidFill>
              </a:rPr>
              <a:t>Plant_HealrootWi</a:t>
            </a:r>
          </a:p>
        </p:txBody>
      </p:sp>
      <p:sp>
        <p:nvSpPr>
          <p:cNvPr id="140" name="RG_Plant_CrimsonCushion" descr="RG_Plant_CrimsonCushion (RG_Plant_CrimsonCushion)&#10;&#10;[no cached sprite]"/>
          <p:cNvSpPr/>
          <p:nvPr/>
        </p:nvSpPr>
        <p:spPr>
          <a:xfrm>
            <a:off x="2304287"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RG_Plant_CrimsonCushion</a:t>
            </a:r>
          </a:p>
        </p:txBody>
      </p:sp>
      <p:sp>
        <p:nvSpPr>
          <p:cNvPr id="141" name="TextBox 140"/>
          <p:cNvSpPr txBox="1"/>
          <p:nvPr/>
        </p:nvSpPr>
        <p:spPr>
          <a:xfrm>
            <a:off x="2304287" y="4379975"/>
            <a:ext cx="640080" cy="146304"/>
          </a:xfrm>
          <a:prstGeom prst="rect">
            <a:avLst/>
          </a:prstGeom>
          <a:noFill/>
        </p:spPr>
        <p:txBody>
          <a:bodyPr wrap="none">
            <a:spAutoFit/>
          </a:bodyPr>
          <a:lstStyle/>
          <a:p>
            <a:pPr algn="ctr"/>
            <a:r>
              <a:rPr sz="600">
                <a:solidFill>
                  <a:srgbClr val="B9A488"/>
                </a:solidFill>
              </a:rPr>
              <a:t>RG_Plant_Crimson</a:t>
            </a:r>
          </a:p>
        </p:txBody>
      </p:sp>
      <p:pic>
        <p:nvPicPr>
          <p:cNvPr id="142" name="Plant_Bush" descr="Plant_Bush (Plant_Bush)&#10;"/>
          <p:cNvPicPr>
            <a:picLocks noChangeAspect="1"/>
          </p:cNvPicPr>
          <p:nvPr/>
        </p:nvPicPr>
        <p:blipFill>
          <a:blip r:embed="rId46"/>
          <a:stretch>
            <a:fillRect/>
          </a:stretch>
        </p:blipFill>
        <p:spPr>
          <a:xfrm>
            <a:off x="2980943" y="3822191"/>
            <a:ext cx="548639" cy="548639"/>
          </a:xfrm>
          <a:prstGeom prst="rect">
            <a:avLst/>
          </a:prstGeom>
        </p:spPr>
      </p:pic>
      <p:sp>
        <p:nvSpPr>
          <p:cNvPr id="143" name="TextBox 142"/>
          <p:cNvSpPr txBox="1"/>
          <p:nvPr/>
        </p:nvSpPr>
        <p:spPr>
          <a:xfrm>
            <a:off x="2980943" y="4379975"/>
            <a:ext cx="640080" cy="146304"/>
          </a:xfrm>
          <a:prstGeom prst="rect">
            <a:avLst/>
          </a:prstGeom>
          <a:noFill/>
        </p:spPr>
        <p:txBody>
          <a:bodyPr wrap="none">
            <a:spAutoFit/>
          </a:bodyPr>
          <a:lstStyle/>
          <a:p>
            <a:pPr algn="ctr"/>
            <a:r>
              <a:rPr sz="600">
                <a:solidFill>
                  <a:srgbClr val="B9A488"/>
                </a:solidFill>
              </a:rPr>
              <a:t>Plant_Bush</a:t>
            </a:r>
          </a:p>
        </p:txBody>
      </p:sp>
      <p:pic>
        <p:nvPicPr>
          <p:cNvPr id="144" name="Plant_ShrubLow" descr="Plant_ShrubLow (Plant_ShrubLow)&#10;"/>
          <p:cNvPicPr>
            <a:picLocks noChangeAspect="1"/>
          </p:cNvPicPr>
          <p:nvPr/>
        </p:nvPicPr>
        <p:blipFill>
          <a:blip r:embed="rId47"/>
          <a:stretch>
            <a:fillRect/>
          </a:stretch>
        </p:blipFill>
        <p:spPr>
          <a:xfrm>
            <a:off x="3657599" y="3822191"/>
            <a:ext cx="548639" cy="548639"/>
          </a:xfrm>
          <a:prstGeom prst="rect">
            <a:avLst/>
          </a:prstGeom>
        </p:spPr>
      </p:pic>
      <p:sp>
        <p:nvSpPr>
          <p:cNvPr id="145" name="TextBox 144"/>
          <p:cNvSpPr txBox="1"/>
          <p:nvPr/>
        </p:nvSpPr>
        <p:spPr>
          <a:xfrm>
            <a:off x="3657599" y="4379975"/>
            <a:ext cx="640080" cy="146304"/>
          </a:xfrm>
          <a:prstGeom prst="rect">
            <a:avLst/>
          </a:prstGeom>
          <a:noFill/>
        </p:spPr>
        <p:txBody>
          <a:bodyPr wrap="none">
            <a:spAutoFit/>
          </a:bodyPr>
          <a:lstStyle/>
          <a:p>
            <a:pPr algn="ctr"/>
            <a:r>
              <a:rPr sz="600">
                <a:solidFill>
                  <a:srgbClr val="B9A488"/>
                </a:solidFill>
              </a:rPr>
              <a:t>Plant_ShrubLow</a:t>
            </a:r>
          </a:p>
        </p:txBody>
      </p:sp>
      <p:pic>
        <p:nvPicPr>
          <p:cNvPr id="146" name="Plant_Ripthorn" descr="Plant_Ripthorn (Plant_Ripthorn)&#10;"/>
          <p:cNvPicPr>
            <a:picLocks noChangeAspect="1"/>
          </p:cNvPicPr>
          <p:nvPr/>
        </p:nvPicPr>
        <p:blipFill>
          <a:blip r:embed="rId48"/>
          <a:stretch>
            <a:fillRect/>
          </a:stretch>
        </p:blipFill>
        <p:spPr>
          <a:xfrm>
            <a:off x="4334255" y="3822191"/>
            <a:ext cx="548639" cy="548639"/>
          </a:xfrm>
          <a:prstGeom prst="rect">
            <a:avLst/>
          </a:prstGeom>
        </p:spPr>
      </p:pic>
      <p:sp>
        <p:nvSpPr>
          <p:cNvPr id="147" name="TextBox 146"/>
          <p:cNvSpPr txBox="1"/>
          <p:nvPr/>
        </p:nvSpPr>
        <p:spPr>
          <a:xfrm>
            <a:off x="4334255" y="4379975"/>
            <a:ext cx="640080" cy="146304"/>
          </a:xfrm>
          <a:prstGeom prst="rect">
            <a:avLst/>
          </a:prstGeom>
          <a:noFill/>
        </p:spPr>
        <p:txBody>
          <a:bodyPr wrap="none">
            <a:spAutoFit/>
          </a:bodyPr>
          <a:lstStyle/>
          <a:p>
            <a:pPr algn="ctr"/>
            <a:r>
              <a:rPr sz="600">
                <a:solidFill>
                  <a:srgbClr val="B9A488"/>
                </a:solidFill>
              </a:rPr>
              <a:t>Plant_Ripthorn</a:t>
            </a:r>
          </a:p>
        </p:txBody>
      </p:sp>
      <p:sp>
        <p:nvSpPr>
          <p:cNvPr id="148" name="RG_Plant_CreepStern" descr="RG_Plant_CreepStern (RG_Plant_CreepStern)&#10;&#10;[no cached sprite]"/>
          <p:cNvSpPr/>
          <p:nvPr/>
        </p:nvSpPr>
        <p:spPr>
          <a:xfrm>
            <a:off x="5010912"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RG_Plant_CreepStern</a:t>
            </a:r>
          </a:p>
        </p:txBody>
      </p:sp>
      <p:sp>
        <p:nvSpPr>
          <p:cNvPr id="149" name="TextBox 148"/>
          <p:cNvSpPr txBox="1"/>
          <p:nvPr/>
        </p:nvSpPr>
        <p:spPr>
          <a:xfrm>
            <a:off x="5010912" y="4379975"/>
            <a:ext cx="640080" cy="146304"/>
          </a:xfrm>
          <a:prstGeom prst="rect">
            <a:avLst/>
          </a:prstGeom>
          <a:noFill/>
        </p:spPr>
        <p:txBody>
          <a:bodyPr wrap="none">
            <a:spAutoFit/>
          </a:bodyPr>
          <a:lstStyle/>
          <a:p>
            <a:pPr algn="ctr"/>
            <a:r>
              <a:rPr sz="600">
                <a:solidFill>
                  <a:srgbClr val="B9A488"/>
                </a:solidFill>
              </a:rPr>
              <a:t>RG_Plant_CreepSt</a:t>
            </a:r>
          </a:p>
        </p:txBody>
      </p:sp>
      <p:sp>
        <p:nvSpPr>
          <p:cNvPr id="150" name="Plant_Nysyllin_Wild" descr="Plant_Nysyllin_Wild (Plant_Nysyllin_Wild)&#10;&#10;[no cached sprite]"/>
          <p:cNvSpPr/>
          <p:nvPr/>
        </p:nvSpPr>
        <p:spPr>
          <a:xfrm>
            <a:off x="5687568"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Plant_Nysyllin_Wild</a:t>
            </a:r>
          </a:p>
        </p:txBody>
      </p:sp>
      <p:sp>
        <p:nvSpPr>
          <p:cNvPr id="151" name="TextBox 150"/>
          <p:cNvSpPr txBox="1"/>
          <p:nvPr/>
        </p:nvSpPr>
        <p:spPr>
          <a:xfrm>
            <a:off x="5687568" y="4379975"/>
            <a:ext cx="640080" cy="146304"/>
          </a:xfrm>
          <a:prstGeom prst="rect">
            <a:avLst/>
          </a:prstGeom>
          <a:noFill/>
        </p:spPr>
        <p:txBody>
          <a:bodyPr wrap="none">
            <a:spAutoFit/>
          </a:bodyPr>
          <a:lstStyle/>
          <a:p>
            <a:pPr algn="ctr"/>
            <a:r>
              <a:rPr sz="600">
                <a:solidFill>
                  <a:srgbClr val="B9A488"/>
                </a:solidFill>
              </a:rPr>
              <a:t>Plant_Nysyllin_W</a:t>
            </a:r>
          </a:p>
        </p:txBody>
      </p:sp>
      <p:sp>
        <p:nvSpPr>
          <p:cNvPr id="152" name="Plant_Brambles" descr="Plant_Brambles (Plant_Brambles)&#10;&#10;[no cached sprite]"/>
          <p:cNvSpPr/>
          <p:nvPr/>
        </p:nvSpPr>
        <p:spPr>
          <a:xfrm>
            <a:off x="6364224"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Plant_Brambles</a:t>
            </a:r>
          </a:p>
        </p:txBody>
      </p:sp>
      <p:sp>
        <p:nvSpPr>
          <p:cNvPr id="153" name="TextBox 152"/>
          <p:cNvSpPr txBox="1"/>
          <p:nvPr/>
        </p:nvSpPr>
        <p:spPr>
          <a:xfrm>
            <a:off x="6364224" y="4379975"/>
            <a:ext cx="640080" cy="146304"/>
          </a:xfrm>
          <a:prstGeom prst="rect">
            <a:avLst/>
          </a:prstGeom>
          <a:noFill/>
        </p:spPr>
        <p:txBody>
          <a:bodyPr wrap="none">
            <a:spAutoFit/>
          </a:bodyPr>
          <a:lstStyle/>
          <a:p>
            <a:pPr algn="ctr"/>
            <a:r>
              <a:rPr sz="600">
                <a:solidFill>
                  <a:srgbClr val="B9A488"/>
                </a:solidFill>
              </a:rPr>
              <a:t>Plant_Brambles</a:t>
            </a:r>
          </a:p>
        </p:txBody>
      </p:sp>
      <p:sp>
        <p:nvSpPr>
          <p:cNvPr id="154" name="TextBox 153"/>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before the stormwall, and the planet's power country. Thematic handle: **the hush** — and its gesture: **everything leans toward the light.**_ 🔑 **Read against `desert.md`.** Desert is the shade economy; this is where the shade economy *ends* — the sun drops to 16% of overhead and the terrain flattens, so at the same stroke the land loses its long sightlines and loses the need to hide. Concealment becomes universal and free, and the whole ecology reorganizes around that fact.</a:t>
            </a:r>
          </a:p>
        </p:txBody>
      </p:sp>
      <p:sp>
        <p:nvSpPr>
          <p:cNvPr id="155" name="TextBox 154"/>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(3, deduped — Kreetle already resident): BMT_Stoneback, VAEWaste_Hydra ("venomvine patch predator"), VFEI2_Macrofly. Flier extracted: Convor.
INCONSISTENCIES:
1. Ban 4: no resident LARGE-band creature (large only as juvenile of huge) — the register bins Wildpod, Bantha, Corinathoth, Mudhorn, Ronto, Skalder LARGE. Six standing violations; rebin as juveniles-of-huge or move.
2. VFEI2_Macrofly is a fly — flier-roster candidate that slipped extraction; its hive/Inhabited mechanic could still live here as the hive object.
3. 44 residents is the second-biggest cast — same dilution problem as desert.
OPPORTUNITIES:
1. VAEWaste_Hydra inside venomvine patches is a perfect ban-6 synergy (the one dense flora gets a guardian) — flagship placement.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desert</a:t>
            </a:r>
            <a:r>
              <a:rPr sz="1100">
                <a:solidFill>
                  <a:srgbClr val="B9A488"/>
                </a:solidFill>
              </a:rPr>
              <a:t>   45 animals · 5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horax" descr="horax (Horax)&#10;drawSize 15.0 · assigned here · art:redo"/>
          <p:cNvPicPr>
            <a:picLocks noChangeAspect="1"/>
          </p:cNvPicPr>
          <p:nvPr/>
        </p:nvPicPr>
        <p:blipFill>
          <a:blip r:embed="rId2"/>
          <a:stretch>
            <a:fillRect/>
          </a:stretch>
        </p:blipFill>
        <p:spPr>
          <a:xfrm>
            <a:off x="274320" y="932688"/>
            <a:ext cx="877824" cy="877824"/>
          </a:xfrm>
          <a:prstGeom prst="rect">
            <a:avLst/>
          </a:prstGeom>
        </p:spPr>
      </p:pic>
      <p:sp>
        <p:nvSpPr>
          <p:cNvPr id="5" name="Oval 4"/>
          <p:cNvSpPr/>
          <p:nvPr/>
        </p:nvSpPr>
        <p:spPr>
          <a:xfrm>
            <a:off x="1069848"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819656"/>
            <a:ext cx="877824" cy="146304"/>
          </a:xfrm>
          <a:prstGeom prst="rect">
            <a:avLst/>
          </a:prstGeom>
          <a:noFill/>
        </p:spPr>
        <p:txBody>
          <a:bodyPr wrap="none">
            <a:spAutoFit/>
          </a:bodyPr>
          <a:lstStyle/>
          <a:p>
            <a:pPr algn="ctr"/>
            <a:r>
              <a:rPr sz="600">
                <a:solidFill>
                  <a:srgbClr val="B9A488"/>
                </a:solidFill>
              </a:rPr>
              <a:t>horax</a:t>
            </a:r>
          </a:p>
        </p:txBody>
      </p:sp>
      <p:pic>
        <p:nvPicPr>
          <p:cNvPr id="7" name="ronto" descr="ronto (Ronto)&#10;drawSize 6.0 · assigned here · art:improve"/>
          <p:cNvPicPr>
            <a:picLocks noChangeAspect="1"/>
          </p:cNvPicPr>
          <p:nvPr/>
        </p:nvPicPr>
        <p:blipFill>
          <a:blip r:embed="rId3"/>
          <a:stretch>
            <a:fillRect/>
          </a:stretch>
        </p:blipFill>
        <p:spPr>
          <a:xfrm>
            <a:off x="1280160" y="932688"/>
            <a:ext cx="877824" cy="877824"/>
          </a:xfrm>
          <a:prstGeom prst="rect">
            <a:avLst/>
          </a:prstGeom>
        </p:spPr>
      </p:pic>
      <p:sp>
        <p:nvSpPr>
          <p:cNvPr id="8" name="Oval 7"/>
          <p:cNvSpPr/>
          <p:nvPr/>
        </p:nvSpPr>
        <p:spPr>
          <a:xfrm>
            <a:off x="2075688"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1819656"/>
            <a:ext cx="877824" cy="146304"/>
          </a:xfrm>
          <a:prstGeom prst="rect">
            <a:avLst/>
          </a:prstGeom>
          <a:noFill/>
        </p:spPr>
        <p:txBody>
          <a:bodyPr wrap="none">
            <a:spAutoFit/>
          </a:bodyPr>
          <a:lstStyle/>
          <a:p>
            <a:pPr algn="ctr"/>
            <a:r>
              <a:rPr sz="600">
                <a:solidFill>
                  <a:srgbClr val="B9A488"/>
                </a:solidFill>
              </a:rPr>
              <a:t>ronto</a:t>
            </a:r>
          </a:p>
        </p:txBody>
      </p:sp>
      <p:pic>
        <p:nvPicPr>
          <p:cNvPr id="10" name="bantha" descr="bantha (Bantha)&#10;drawSize 4.0 · assigned here · art:keep"/>
          <p:cNvPicPr>
            <a:picLocks noChangeAspect="1"/>
          </p:cNvPicPr>
          <p:nvPr/>
        </p:nvPicPr>
        <p:blipFill>
          <a:blip r:embed="rId4"/>
          <a:stretch>
            <a:fillRect/>
          </a:stretch>
        </p:blipFill>
        <p:spPr>
          <a:xfrm>
            <a:off x="2286000" y="932688"/>
            <a:ext cx="877824" cy="877824"/>
          </a:xfrm>
          <a:prstGeom prst="rect">
            <a:avLst/>
          </a:prstGeom>
        </p:spPr>
      </p:pic>
      <p:sp>
        <p:nvSpPr>
          <p:cNvPr id="11" name="Oval 10"/>
          <p:cNvSpPr/>
          <p:nvPr/>
        </p:nvSpPr>
        <p:spPr>
          <a:xfrm>
            <a:off x="3081528"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1819656"/>
            <a:ext cx="877824" cy="146304"/>
          </a:xfrm>
          <a:prstGeom prst="rect">
            <a:avLst/>
          </a:prstGeom>
          <a:noFill/>
        </p:spPr>
        <p:txBody>
          <a:bodyPr wrap="none">
            <a:spAutoFit/>
          </a:bodyPr>
          <a:lstStyle/>
          <a:p>
            <a:pPr algn="ctr"/>
            <a:r>
              <a:rPr sz="600">
                <a:solidFill>
                  <a:srgbClr val="B9A488"/>
                </a:solidFill>
              </a:rPr>
              <a:t>bantha</a:t>
            </a:r>
          </a:p>
        </p:txBody>
      </p:sp>
      <p:pic>
        <p:nvPicPr>
          <p:cNvPr id="13" name="skalder" descr="skalder (Skalder)&#10;drawSize 4.0 · assigned here · art:keep"/>
          <p:cNvPicPr>
            <a:picLocks noChangeAspect="1"/>
          </p:cNvPicPr>
          <p:nvPr/>
        </p:nvPicPr>
        <p:blipFill>
          <a:blip r:embed="rId5"/>
          <a:stretch>
            <a:fillRect/>
          </a:stretch>
        </p:blipFill>
        <p:spPr>
          <a:xfrm>
            <a:off x="3291840" y="932688"/>
            <a:ext cx="877824" cy="877824"/>
          </a:xfrm>
          <a:prstGeom prst="rect">
            <a:avLst/>
          </a:prstGeom>
        </p:spPr>
      </p:pic>
      <p:sp>
        <p:nvSpPr>
          <p:cNvPr id="14" name="Oval 13"/>
          <p:cNvSpPr/>
          <p:nvPr/>
        </p:nvSpPr>
        <p:spPr>
          <a:xfrm>
            <a:off x="4087368"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1819656"/>
            <a:ext cx="877824" cy="146304"/>
          </a:xfrm>
          <a:prstGeom prst="rect">
            <a:avLst/>
          </a:prstGeom>
          <a:noFill/>
        </p:spPr>
        <p:txBody>
          <a:bodyPr wrap="none">
            <a:spAutoFit/>
          </a:bodyPr>
          <a:lstStyle/>
          <a:p>
            <a:pPr algn="ctr"/>
            <a:r>
              <a:rPr sz="600">
                <a:solidFill>
                  <a:srgbClr val="B9A488"/>
                </a:solidFill>
              </a:rPr>
              <a:t>skalder</a:t>
            </a:r>
          </a:p>
        </p:txBody>
      </p:sp>
      <p:pic>
        <p:nvPicPr>
          <p:cNvPr id="16" name="mammoth worm" descr="mammoth worm (AA_MammothWorm)&#10;drawSize 3.0 · assigned here · art:keep"/>
          <p:cNvPicPr>
            <a:picLocks noChangeAspect="1"/>
          </p:cNvPicPr>
          <p:nvPr/>
        </p:nvPicPr>
        <p:blipFill>
          <a:blip r:embed="rId6"/>
          <a:stretch>
            <a:fillRect/>
          </a:stretch>
        </p:blipFill>
        <p:spPr>
          <a:xfrm>
            <a:off x="4297680" y="1130198"/>
            <a:ext cx="680313" cy="680313"/>
          </a:xfrm>
          <a:prstGeom prst="rect">
            <a:avLst/>
          </a:prstGeom>
        </p:spPr>
      </p:pic>
      <p:sp>
        <p:nvSpPr>
          <p:cNvPr id="17" name="Oval 16"/>
          <p:cNvSpPr/>
          <p:nvPr/>
        </p:nvSpPr>
        <p:spPr>
          <a:xfrm>
            <a:off x="4895697"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1819656"/>
            <a:ext cx="680313" cy="146304"/>
          </a:xfrm>
          <a:prstGeom prst="rect">
            <a:avLst/>
          </a:prstGeom>
          <a:noFill/>
        </p:spPr>
        <p:txBody>
          <a:bodyPr wrap="none">
            <a:spAutoFit/>
          </a:bodyPr>
          <a:lstStyle/>
          <a:p>
            <a:pPr algn="ctr"/>
            <a:r>
              <a:rPr sz="600">
                <a:solidFill>
                  <a:srgbClr val="B9A488"/>
                </a:solidFill>
              </a:rPr>
              <a:t>mammoth worm</a:t>
            </a:r>
          </a:p>
        </p:txBody>
      </p:sp>
      <p:pic>
        <p:nvPicPr>
          <p:cNvPr id="19" name="bolotaur" descr="bolotaur (Bolotaur)&#10;drawSize 3.0 · assigned here · art:keep"/>
          <p:cNvPicPr>
            <a:picLocks noChangeAspect="1"/>
          </p:cNvPicPr>
          <p:nvPr/>
        </p:nvPicPr>
        <p:blipFill>
          <a:blip r:embed="rId7"/>
          <a:stretch>
            <a:fillRect/>
          </a:stretch>
        </p:blipFill>
        <p:spPr>
          <a:xfrm>
            <a:off x="5106009" y="1130198"/>
            <a:ext cx="680313" cy="680313"/>
          </a:xfrm>
          <a:prstGeom prst="rect">
            <a:avLst/>
          </a:prstGeom>
        </p:spPr>
      </p:pic>
      <p:sp>
        <p:nvSpPr>
          <p:cNvPr id="20" name="Oval 19"/>
          <p:cNvSpPr/>
          <p:nvPr/>
        </p:nvSpPr>
        <p:spPr>
          <a:xfrm>
            <a:off x="5704027"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06009" y="1819656"/>
            <a:ext cx="680313" cy="146304"/>
          </a:xfrm>
          <a:prstGeom prst="rect">
            <a:avLst/>
          </a:prstGeom>
          <a:noFill/>
        </p:spPr>
        <p:txBody>
          <a:bodyPr wrap="none">
            <a:spAutoFit/>
          </a:bodyPr>
          <a:lstStyle/>
          <a:p>
            <a:pPr algn="ctr"/>
            <a:r>
              <a:rPr sz="600">
                <a:solidFill>
                  <a:srgbClr val="B9A488"/>
                </a:solidFill>
              </a:rPr>
              <a:t>bolotaur</a:t>
            </a:r>
          </a:p>
        </p:txBody>
      </p:sp>
      <p:pic>
        <p:nvPicPr>
          <p:cNvPr id="22" name="falumpaset" descr="falumpaset (Falumpaset)&#10;drawSize 3.0 · assigned here · art:keep&#10;“nope, this thing needs large open spaces only”"/>
          <p:cNvPicPr>
            <a:picLocks noChangeAspect="1"/>
          </p:cNvPicPr>
          <p:nvPr/>
        </p:nvPicPr>
        <p:blipFill>
          <a:blip r:embed="rId8"/>
          <a:stretch>
            <a:fillRect/>
          </a:stretch>
        </p:blipFill>
        <p:spPr>
          <a:xfrm>
            <a:off x="5914339" y="1130198"/>
            <a:ext cx="680313" cy="680313"/>
          </a:xfrm>
          <a:prstGeom prst="rect">
            <a:avLst/>
          </a:prstGeom>
        </p:spPr>
      </p:pic>
      <p:sp>
        <p:nvSpPr>
          <p:cNvPr id="23" name="Oval 22"/>
          <p:cNvSpPr/>
          <p:nvPr/>
        </p:nvSpPr>
        <p:spPr>
          <a:xfrm>
            <a:off x="6512356"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14339" y="1819656"/>
            <a:ext cx="680313" cy="146304"/>
          </a:xfrm>
          <a:prstGeom prst="rect">
            <a:avLst/>
          </a:prstGeom>
          <a:noFill/>
        </p:spPr>
        <p:txBody>
          <a:bodyPr wrap="none">
            <a:spAutoFit/>
          </a:bodyPr>
          <a:lstStyle/>
          <a:p>
            <a:pPr algn="ctr"/>
            <a:r>
              <a:rPr sz="600">
                <a:solidFill>
                  <a:srgbClr val="B9A488"/>
                </a:solidFill>
              </a:rPr>
              <a:t>falumpaset</a:t>
            </a:r>
          </a:p>
        </p:txBody>
      </p:sp>
      <p:pic>
        <p:nvPicPr>
          <p:cNvPr id="25" name="iridonian reek" descr="iridonian reek (IridonianReek)&#10;drawSize 3.0 · assigned here · art:keep"/>
          <p:cNvPicPr>
            <a:picLocks noChangeAspect="1"/>
          </p:cNvPicPr>
          <p:nvPr/>
        </p:nvPicPr>
        <p:blipFill>
          <a:blip r:embed="rId9"/>
          <a:stretch>
            <a:fillRect/>
          </a:stretch>
        </p:blipFill>
        <p:spPr>
          <a:xfrm>
            <a:off x="6722668" y="1130198"/>
            <a:ext cx="680313" cy="680313"/>
          </a:xfrm>
          <a:prstGeom prst="rect">
            <a:avLst/>
          </a:prstGeom>
        </p:spPr>
      </p:pic>
      <p:sp>
        <p:nvSpPr>
          <p:cNvPr id="26" name="Oval 25"/>
          <p:cNvSpPr/>
          <p:nvPr/>
        </p:nvSpPr>
        <p:spPr>
          <a:xfrm>
            <a:off x="7320686"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2668" y="1819656"/>
            <a:ext cx="680313" cy="146304"/>
          </a:xfrm>
          <a:prstGeom prst="rect">
            <a:avLst/>
          </a:prstGeom>
          <a:noFill/>
        </p:spPr>
        <p:txBody>
          <a:bodyPr wrap="none">
            <a:spAutoFit/>
          </a:bodyPr>
          <a:lstStyle/>
          <a:p>
            <a:pPr algn="ctr"/>
            <a:r>
              <a:rPr sz="600">
                <a:solidFill>
                  <a:srgbClr val="B9A488"/>
                </a:solidFill>
              </a:rPr>
              <a:t>iridonian reek</a:t>
            </a:r>
          </a:p>
        </p:txBody>
      </p:sp>
      <p:pic>
        <p:nvPicPr>
          <p:cNvPr id="28" name="Kwi" descr="Kwi (Kwi)&#10;drawSize 3.0 · assigned here · art:keep"/>
          <p:cNvPicPr>
            <a:picLocks noChangeAspect="1"/>
          </p:cNvPicPr>
          <p:nvPr/>
        </p:nvPicPr>
        <p:blipFill>
          <a:blip r:embed="rId10"/>
          <a:stretch>
            <a:fillRect/>
          </a:stretch>
        </p:blipFill>
        <p:spPr>
          <a:xfrm>
            <a:off x="7530998" y="1130198"/>
            <a:ext cx="680313" cy="680313"/>
          </a:xfrm>
          <a:prstGeom prst="rect">
            <a:avLst/>
          </a:prstGeom>
        </p:spPr>
      </p:pic>
      <p:sp>
        <p:nvSpPr>
          <p:cNvPr id="29" name="Oval 28"/>
          <p:cNvSpPr/>
          <p:nvPr/>
        </p:nvSpPr>
        <p:spPr>
          <a:xfrm>
            <a:off x="8129016"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30998" y="1819656"/>
            <a:ext cx="680313" cy="146304"/>
          </a:xfrm>
          <a:prstGeom prst="rect">
            <a:avLst/>
          </a:prstGeom>
          <a:noFill/>
        </p:spPr>
        <p:txBody>
          <a:bodyPr wrap="none">
            <a:spAutoFit/>
          </a:bodyPr>
          <a:lstStyle/>
          <a:p>
            <a:pPr algn="ctr"/>
            <a:r>
              <a:rPr sz="600">
                <a:solidFill>
                  <a:srgbClr val="B9A488"/>
                </a:solidFill>
              </a:rPr>
              <a:t>Kwi</a:t>
            </a:r>
          </a:p>
        </p:txBody>
      </p:sp>
      <p:pic>
        <p:nvPicPr>
          <p:cNvPr id="31" name="uvak" descr="uvak (Uvak)&#10;drawSize 3.0 · assigned here · art:keep"/>
          <p:cNvPicPr>
            <a:picLocks noChangeAspect="1"/>
          </p:cNvPicPr>
          <p:nvPr/>
        </p:nvPicPr>
        <p:blipFill>
          <a:blip r:embed="rId11"/>
          <a:stretch>
            <a:fillRect/>
          </a:stretch>
        </p:blipFill>
        <p:spPr>
          <a:xfrm>
            <a:off x="8339328" y="1130198"/>
            <a:ext cx="680313" cy="680313"/>
          </a:xfrm>
          <a:prstGeom prst="rect">
            <a:avLst/>
          </a:prstGeom>
        </p:spPr>
      </p:pic>
      <p:sp>
        <p:nvSpPr>
          <p:cNvPr id="32" name="Oval 31"/>
          <p:cNvSpPr/>
          <p:nvPr/>
        </p:nvSpPr>
        <p:spPr>
          <a:xfrm>
            <a:off x="8937345"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8" y="1819656"/>
            <a:ext cx="680313" cy="146304"/>
          </a:xfrm>
          <a:prstGeom prst="rect">
            <a:avLst/>
          </a:prstGeom>
          <a:noFill/>
        </p:spPr>
        <p:txBody>
          <a:bodyPr wrap="none">
            <a:spAutoFit/>
          </a:bodyPr>
          <a:lstStyle/>
          <a:p>
            <a:pPr algn="ctr"/>
            <a:r>
              <a:rPr sz="600">
                <a:solidFill>
                  <a:srgbClr val="B9A488"/>
                </a:solidFill>
              </a:rPr>
              <a:t>uvak</a:t>
            </a:r>
          </a:p>
        </p:txBody>
      </p:sp>
      <p:pic>
        <p:nvPicPr>
          <p:cNvPr id="34" name="varactyl" descr="varactyl (Varactyl)&#10;drawSize 3.0 · assigned here · art:keep"/>
          <p:cNvPicPr>
            <a:picLocks noChangeAspect="1"/>
          </p:cNvPicPr>
          <p:nvPr/>
        </p:nvPicPr>
        <p:blipFill>
          <a:blip r:embed="rId12"/>
          <a:stretch>
            <a:fillRect/>
          </a:stretch>
        </p:blipFill>
        <p:spPr>
          <a:xfrm>
            <a:off x="9147657" y="1130198"/>
            <a:ext cx="680313" cy="680313"/>
          </a:xfrm>
          <a:prstGeom prst="rect">
            <a:avLst/>
          </a:prstGeom>
        </p:spPr>
      </p:pic>
      <p:sp>
        <p:nvSpPr>
          <p:cNvPr id="35" name="Oval 34"/>
          <p:cNvSpPr/>
          <p:nvPr/>
        </p:nvSpPr>
        <p:spPr>
          <a:xfrm>
            <a:off x="9745675"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7657" y="1819656"/>
            <a:ext cx="680313" cy="146304"/>
          </a:xfrm>
          <a:prstGeom prst="rect">
            <a:avLst/>
          </a:prstGeom>
          <a:noFill/>
        </p:spPr>
        <p:txBody>
          <a:bodyPr wrap="none">
            <a:spAutoFit/>
          </a:bodyPr>
          <a:lstStyle/>
          <a:p>
            <a:pPr algn="ctr"/>
            <a:r>
              <a:rPr sz="600">
                <a:solidFill>
                  <a:srgbClr val="B9A488"/>
                </a:solidFill>
              </a:rPr>
              <a:t>varactyl</a:t>
            </a:r>
          </a:p>
        </p:txBody>
      </p:sp>
      <p:pic>
        <p:nvPicPr>
          <p:cNvPr id="37" name="wraid" descr="wraid (Wraid)&#10;drawSize 3.0 · assigned here · art:keep"/>
          <p:cNvPicPr>
            <a:picLocks noChangeAspect="1"/>
          </p:cNvPicPr>
          <p:nvPr/>
        </p:nvPicPr>
        <p:blipFill>
          <a:blip r:embed="rId13"/>
          <a:stretch>
            <a:fillRect/>
          </a:stretch>
        </p:blipFill>
        <p:spPr>
          <a:xfrm>
            <a:off x="9955987" y="1130198"/>
            <a:ext cx="680313" cy="680313"/>
          </a:xfrm>
          <a:prstGeom prst="rect">
            <a:avLst/>
          </a:prstGeom>
        </p:spPr>
      </p:pic>
      <p:sp>
        <p:nvSpPr>
          <p:cNvPr id="38" name="Oval 37"/>
          <p:cNvSpPr/>
          <p:nvPr/>
        </p:nvSpPr>
        <p:spPr>
          <a:xfrm>
            <a:off x="10554004"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55987" y="1819656"/>
            <a:ext cx="680313" cy="146304"/>
          </a:xfrm>
          <a:prstGeom prst="rect">
            <a:avLst/>
          </a:prstGeom>
          <a:noFill/>
        </p:spPr>
        <p:txBody>
          <a:bodyPr wrap="none">
            <a:spAutoFit/>
          </a:bodyPr>
          <a:lstStyle/>
          <a:p>
            <a:pPr algn="ctr"/>
            <a:r>
              <a:rPr sz="600">
                <a:solidFill>
                  <a:srgbClr val="B9A488"/>
                </a:solidFill>
              </a:rPr>
              <a:t>wraid</a:t>
            </a:r>
          </a:p>
        </p:txBody>
      </p:sp>
      <p:pic>
        <p:nvPicPr>
          <p:cNvPr id="40" name="zeer" descr="zeer (Zeer)&#10;drawSize 3.0 · assigned here · art:keep"/>
          <p:cNvPicPr>
            <a:picLocks noChangeAspect="1"/>
          </p:cNvPicPr>
          <p:nvPr/>
        </p:nvPicPr>
        <p:blipFill>
          <a:blip r:embed="rId14"/>
          <a:stretch>
            <a:fillRect/>
          </a:stretch>
        </p:blipFill>
        <p:spPr>
          <a:xfrm>
            <a:off x="10764316" y="1130198"/>
            <a:ext cx="680313" cy="680313"/>
          </a:xfrm>
          <a:prstGeom prst="rect">
            <a:avLst/>
          </a:prstGeom>
        </p:spPr>
      </p:pic>
      <p:sp>
        <p:nvSpPr>
          <p:cNvPr id="41" name="Oval 40"/>
          <p:cNvSpPr/>
          <p:nvPr/>
        </p:nvSpPr>
        <p:spPr>
          <a:xfrm>
            <a:off x="11362334" y="11119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64316" y="1819656"/>
            <a:ext cx="680313" cy="146304"/>
          </a:xfrm>
          <a:prstGeom prst="rect">
            <a:avLst/>
          </a:prstGeom>
          <a:noFill/>
        </p:spPr>
        <p:txBody>
          <a:bodyPr wrap="none">
            <a:spAutoFit/>
          </a:bodyPr>
          <a:lstStyle/>
          <a:p>
            <a:pPr algn="ctr"/>
            <a:r>
              <a:rPr sz="600">
                <a:solidFill>
                  <a:srgbClr val="B9A488"/>
                </a:solidFill>
              </a:rPr>
              <a:t>zeer</a:t>
            </a:r>
          </a:p>
        </p:txBody>
      </p:sp>
      <p:pic>
        <p:nvPicPr>
          <p:cNvPr id="43" name="jakobeast" descr="jakobeast (Jakobeast)&#10;drawSize 2.5999999046325684 · assigned here · art:keep"/>
          <p:cNvPicPr>
            <a:picLocks noChangeAspect="1"/>
          </p:cNvPicPr>
          <p:nvPr/>
        </p:nvPicPr>
        <p:blipFill>
          <a:blip r:embed="rId15"/>
          <a:stretch>
            <a:fillRect/>
          </a:stretch>
        </p:blipFill>
        <p:spPr>
          <a:xfrm>
            <a:off x="274320" y="2048256"/>
            <a:ext cx="589605" cy="589605"/>
          </a:xfrm>
          <a:prstGeom prst="rect">
            <a:avLst/>
          </a:prstGeom>
        </p:spPr>
      </p:pic>
      <p:sp>
        <p:nvSpPr>
          <p:cNvPr id="44" name="Oval 43"/>
          <p:cNvSpPr/>
          <p:nvPr/>
        </p:nvSpPr>
        <p:spPr>
          <a:xfrm>
            <a:off x="781629" y="202996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2647005"/>
            <a:ext cx="640080" cy="146304"/>
          </a:xfrm>
          <a:prstGeom prst="rect">
            <a:avLst/>
          </a:prstGeom>
          <a:noFill/>
        </p:spPr>
        <p:txBody>
          <a:bodyPr wrap="none">
            <a:spAutoFit/>
          </a:bodyPr>
          <a:lstStyle/>
          <a:p>
            <a:pPr algn="ctr"/>
            <a:r>
              <a:rPr sz="600">
                <a:solidFill>
                  <a:srgbClr val="B9A488"/>
                </a:solidFill>
              </a:rPr>
              <a:t>jakobeast</a:t>
            </a:r>
          </a:p>
        </p:txBody>
      </p:sp>
      <p:pic>
        <p:nvPicPr>
          <p:cNvPr id="46" name="hrumph" descr="hrumph (Hrumph)&#10;drawSize 2.5 · assigned here · art:keep"/>
          <p:cNvPicPr>
            <a:picLocks noChangeAspect="1"/>
          </p:cNvPicPr>
          <p:nvPr/>
        </p:nvPicPr>
        <p:blipFill>
          <a:blip r:embed="rId16"/>
          <a:stretch>
            <a:fillRect/>
          </a:stretch>
        </p:blipFill>
        <p:spPr>
          <a:xfrm>
            <a:off x="991941" y="2070933"/>
            <a:ext cx="566928" cy="566928"/>
          </a:xfrm>
          <a:prstGeom prst="rect">
            <a:avLst/>
          </a:prstGeom>
        </p:spPr>
      </p:pic>
      <p:sp>
        <p:nvSpPr>
          <p:cNvPr id="47" name="Oval 46"/>
          <p:cNvSpPr/>
          <p:nvPr/>
        </p:nvSpPr>
        <p:spPr>
          <a:xfrm>
            <a:off x="1476573" y="205264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1941" y="2647005"/>
            <a:ext cx="640080" cy="146304"/>
          </a:xfrm>
          <a:prstGeom prst="rect">
            <a:avLst/>
          </a:prstGeom>
          <a:noFill/>
        </p:spPr>
        <p:txBody>
          <a:bodyPr wrap="none">
            <a:spAutoFit/>
          </a:bodyPr>
          <a:lstStyle/>
          <a:p>
            <a:pPr algn="ctr"/>
            <a:r>
              <a:rPr sz="600">
                <a:solidFill>
                  <a:srgbClr val="B9A488"/>
                </a:solidFill>
              </a:rPr>
              <a:t>hrumph</a:t>
            </a:r>
          </a:p>
        </p:txBody>
      </p:sp>
      <p:pic>
        <p:nvPicPr>
          <p:cNvPr id="49" name="tee muss" descr="tee muss (TeeMuss)&#10;drawSize 2.0999999046325684 · assigned here · art:keep"/>
          <p:cNvPicPr>
            <a:picLocks noChangeAspect="1"/>
          </p:cNvPicPr>
          <p:nvPr/>
        </p:nvPicPr>
        <p:blipFill>
          <a:blip r:embed="rId17"/>
          <a:stretch>
            <a:fillRect/>
          </a:stretch>
        </p:blipFill>
        <p:spPr>
          <a:xfrm>
            <a:off x="1686885" y="2161641"/>
            <a:ext cx="476219" cy="476219"/>
          </a:xfrm>
          <a:prstGeom prst="rect">
            <a:avLst/>
          </a:prstGeom>
        </p:spPr>
      </p:pic>
      <p:sp>
        <p:nvSpPr>
          <p:cNvPr id="50" name="Oval 49"/>
          <p:cNvSpPr/>
          <p:nvPr/>
        </p:nvSpPr>
        <p:spPr>
          <a:xfrm>
            <a:off x="2080808" y="214335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686885" y="2647005"/>
            <a:ext cx="640080" cy="146304"/>
          </a:xfrm>
          <a:prstGeom prst="rect">
            <a:avLst/>
          </a:prstGeom>
          <a:noFill/>
        </p:spPr>
        <p:txBody>
          <a:bodyPr wrap="none">
            <a:spAutoFit/>
          </a:bodyPr>
          <a:lstStyle/>
          <a:p>
            <a:pPr algn="ctr"/>
            <a:r>
              <a:rPr sz="600">
                <a:solidFill>
                  <a:srgbClr val="B9A488"/>
                </a:solidFill>
              </a:rPr>
              <a:t>tee muss</a:t>
            </a:r>
          </a:p>
        </p:txBody>
      </p:sp>
      <p:pic>
        <p:nvPicPr>
          <p:cNvPr id="52" name="gigantelope" descr="gigantelope (AA_Gigantelope)&#10;drawSize 2.0 · assigned here · art:keep"/>
          <p:cNvPicPr>
            <a:picLocks noChangeAspect="1"/>
          </p:cNvPicPr>
          <p:nvPr/>
        </p:nvPicPr>
        <p:blipFill>
          <a:blip r:embed="rId18"/>
          <a:stretch>
            <a:fillRect/>
          </a:stretch>
        </p:blipFill>
        <p:spPr>
          <a:xfrm>
            <a:off x="2291120" y="2184318"/>
            <a:ext cx="453542" cy="453542"/>
          </a:xfrm>
          <a:prstGeom prst="rect">
            <a:avLst/>
          </a:prstGeom>
        </p:spPr>
      </p:pic>
      <p:sp>
        <p:nvSpPr>
          <p:cNvPr id="53" name="Oval 52"/>
          <p:cNvSpPr/>
          <p:nvPr/>
        </p:nvSpPr>
        <p:spPr>
          <a:xfrm>
            <a:off x="2662366"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291120" y="2647005"/>
            <a:ext cx="640080" cy="146304"/>
          </a:xfrm>
          <a:prstGeom prst="rect">
            <a:avLst/>
          </a:prstGeom>
          <a:noFill/>
        </p:spPr>
        <p:txBody>
          <a:bodyPr wrap="none">
            <a:spAutoFit/>
          </a:bodyPr>
          <a:lstStyle/>
          <a:p>
            <a:pPr algn="ctr"/>
            <a:r>
              <a:rPr sz="600">
                <a:solidFill>
                  <a:srgbClr val="B9A488"/>
                </a:solidFill>
              </a:rPr>
              <a:t>gigantelope</a:t>
            </a:r>
          </a:p>
        </p:txBody>
      </p:sp>
      <p:pic>
        <p:nvPicPr>
          <p:cNvPr id="55" name="sand prowler" descr="sand prowler (AA_SandProwler)&#10;drawSize 2.0 · assigned here · art:keep"/>
          <p:cNvPicPr>
            <a:picLocks noChangeAspect="1"/>
          </p:cNvPicPr>
          <p:nvPr/>
        </p:nvPicPr>
        <p:blipFill>
          <a:blip r:embed="rId19"/>
          <a:stretch>
            <a:fillRect/>
          </a:stretch>
        </p:blipFill>
        <p:spPr>
          <a:xfrm>
            <a:off x="2872678" y="2184318"/>
            <a:ext cx="453542" cy="453542"/>
          </a:xfrm>
          <a:prstGeom prst="rect">
            <a:avLst/>
          </a:prstGeom>
        </p:spPr>
      </p:pic>
      <p:sp>
        <p:nvSpPr>
          <p:cNvPr id="56" name="Oval 55"/>
          <p:cNvSpPr/>
          <p:nvPr/>
        </p:nvSpPr>
        <p:spPr>
          <a:xfrm>
            <a:off x="3243925"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72678" y="2647005"/>
            <a:ext cx="640080" cy="146304"/>
          </a:xfrm>
          <a:prstGeom prst="rect">
            <a:avLst/>
          </a:prstGeom>
          <a:noFill/>
        </p:spPr>
        <p:txBody>
          <a:bodyPr wrap="none">
            <a:spAutoFit/>
          </a:bodyPr>
          <a:lstStyle/>
          <a:p>
            <a:pPr algn="ctr"/>
            <a:r>
              <a:rPr sz="600">
                <a:solidFill>
                  <a:srgbClr val="B9A488"/>
                </a:solidFill>
              </a:rPr>
              <a:t>sand prowler</a:t>
            </a:r>
          </a:p>
        </p:txBody>
      </p:sp>
      <p:pic>
        <p:nvPicPr>
          <p:cNvPr id="58" name="sand squid" descr="sand squid (AA_SandSquid)&#10;drawSize 2.0 · assigned here · art:keep"/>
          <p:cNvPicPr>
            <a:picLocks noChangeAspect="1"/>
          </p:cNvPicPr>
          <p:nvPr/>
        </p:nvPicPr>
        <p:blipFill>
          <a:blip r:embed="rId20"/>
          <a:stretch>
            <a:fillRect/>
          </a:stretch>
        </p:blipFill>
        <p:spPr>
          <a:xfrm>
            <a:off x="3454237" y="2184318"/>
            <a:ext cx="453542" cy="453542"/>
          </a:xfrm>
          <a:prstGeom prst="rect">
            <a:avLst/>
          </a:prstGeom>
        </p:spPr>
      </p:pic>
      <p:sp>
        <p:nvSpPr>
          <p:cNvPr id="59" name="Oval 58"/>
          <p:cNvSpPr/>
          <p:nvPr/>
        </p:nvSpPr>
        <p:spPr>
          <a:xfrm>
            <a:off x="3825483"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54237" y="2647005"/>
            <a:ext cx="640080" cy="146304"/>
          </a:xfrm>
          <a:prstGeom prst="rect">
            <a:avLst/>
          </a:prstGeom>
          <a:noFill/>
        </p:spPr>
        <p:txBody>
          <a:bodyPr wrap="none">
            <a:spAutoFit/>
          </a:bodyPr>
          <a:lstStyle/>
          <a:p>
            <a:pPr algn="ctr"/>
            <a:r>
              <a:rPr sz="600">
                <a:solidFill>
                  <a:srgbClr val="B9A488"/>
                </a:solidFill>
              </a:rPr>
              <a:t>sand squid</a:t>
            </a:r>
          </a:p>
        </p:txBody>
      </p:sp>
      <p:pic>
        <p:nvPicPr>
          <p:cNvPr id="61" name="feral grazer" descr="feral grazer (FeralGrazer)&#10;drawSize 2.0 · assigned here · art:keep"/>
          <p:cNvPicPr>
            <a:picLocks noChangeAspect="1"/>
          </p:cNvPicPr>
          <p:nvPr/>
        </p:nvPicPr>
        <p:blipFill>
          <a:blip r:embed="rId21"/>
          <a:stretch>
            <a:fillRect/>
          </a:stretch>
        </p:blipFill>
        <p:spPr>
          <a:xfrm>
            <a:off x="4035795" y="2184318"/>
            <a:ext cx="453542" cy="453542"/>
          </a:xfrm>
          <a:prstGeom prst="rect">
            <a:avLst/>
          </a:prstGeom>
        </p:spPr>
      </p:pic>
      <p:sp>
        <p:nvSpPr>
          <p:cNvPr id="62" name="Oval 61"/>
          <p:cNvSpPr/>
          <p:nvPr/>
        </p:nvSpPr>
        <p:spPr>
          <a:xfrm>
            <a:off x="4407042"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035795" y="2647005"/>
            <a:ext cx="640080" cy="146304"/>
          </a:xfrm>
          <a:prstGeom prst="rect">
            <a:avLst/>
          </a:prstGeom>
          <a:noFill/>
        </p:spPr>
        <p:txBody>
          <a:bodyPr wrap="none">
            <a:spAutoFit/>
          </a:bodyPr>
          <a:lstStyle/>
          <a:p>
            <a:pPr algn="ctr"/>
            <a:r>
              <a:rPr sz="600">
                <a:solidFill>
                  <a:srgbClr val="B9A488"/>
                </a:solidFill>
              </a:rPr>
              <a:t>feral grazer</a:t>
            </a:r>
          </a:p>
        </p:txBody>
      </p:sp>
      <p:pic>
        <p:nvPicPr>
          <p:cNvPr id="64" name="gutkurr" descr="gutkurr (Gutkurr)&#10;drawSize 2.0 · assigned here · art:keep"/>
          <p:cNvPicPr>
            <a:picLocks noChangeAspect="1"/>
          </p:cNvPicPr>
          <p:nvPr/>
        </p:nvPicPr>
        <p:blipFill>
          <a:blip r:embed="rId22"/>
          <a:stretch>
            <a:fillRect/>
          </a:stretch>
        </p:blipFill>
        <p:spPr>
          <a:xfrm>
            <a:off x="4617354" y="2184318"/>
            <a:ext cx="453542" cy="453542"/>
          </a:xfrm>
          <a:prstGeom prst="rect">
            <a:avLst/>
          </a:prstGeom>
        </p:spPr>
      </p:pic>
      <p:sp>
        <p:nvSpPr>
          <p:cNvPr id="65" name="Oval 64"/>
          <p:cNvSpPr/>
          <p:nvPr/>
        </p:nvSpPr>
        <p:spPr>
          <a:xfrm>
            <a:off x="4988600"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617354" y="2647005"/>
            <a:ext cx="640080" cy="146304"/>
          </a:xfrm>
          <a:prstGeom prst="rect">
            <a:avLst/>
          </a:prstGeom>
          <a:noFill/>
        </p:spPr>
        <p:txBody>
          <a:bodyPr wrap="none">
            <a:spAutoFit/>
          </a:bodyPr>
          <a:lstStyle/>
          <a:p>
            <a:pPr algn="ctr"/>
            <a:r>
              <a:rPr sz="600">
                <a:solidFill>
                  <a:srgbClr val="B9A488"/>
                </a:solidFill>
              </a:rPr>
              <a:t>gutkurr</a:t>
            </a:r>
          </a:p>
        </p:txBody>
      </p:sp>
      <p:pic>
        <p:nvPicPr>
          <p:cNvPr id="67" name="jimvu" descr="jimvu (Jimvu)&#10;drawSize 2.0 · assigned here · art:keep"/>
          <p:cNvPicPr>
            <a:picLocks noChangeAspect="1"/>
          </p:cNvPicPr>
          <p:nvPr/>
        </p:nvPicPr>
        <p:blipFill>
          <a:blip r:embed="rId23"/>
          <a:stretch>
            <a:fillRect/>
          </a:stretch>
        </p:blipFill>
        <p:spPr>
          <a:xfrm>
            <a:off x="5198912" y="2184318"/>
            <a:ext cx="453542" cy="453542"/>
          </a:xfrm>
          <a:prstGeom prst="rect">
            <a:avLst/>
          </a:prstGeom>
        </p:spPr>
      </p:pic>
      <p:sp>
        <p:nvSpPr>
          <p:cNvPr id="68" name="Oval 67"/>
          <p:cNvSpPr/>
          <p:nvPr/>
        </p:nvSpPr>
        <p:spPr>
          <a:xfrm>
            <a:off x="5570158"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98912" y="2647005"/>
            <a:ext cx="640080" cy="146304"/>
          </a:xfrm>
          <a:prstGeom prst="rect">
            <a:avLst/>
          </a:prstGeom>
          <a:noFill/>
        </p:spPr>
        <p:txBody>
          <a:bodyPr wrap="none">
            <a:spAutoFit/>
          </a:bodyPr>
          <a:lstStyle/>
          <a:p>
            <a:pPr algn="ctr"/>
            <a:r>
              <a:rPr sz="600">
                <a:solidFill>
                  <a:srgbClr val="B9A488"/>
                </a:solidFill>
              </a:rPr>
              <a:t>jimvu</a:t>
            </a:r>
          </a:p>
        </p:txBody>
      </p:sp>
      <p:pic>
        <p:nvPicPr>
          <p:cNvPr id="70" name="nerf" descr="nerf (Nerf)&#10;drawSize 2.0 · assigned here · art:keep"/>
          <p:cNvPicPr>
            <a:picLocks noChangeAspect="1"/>
          </p:cNvPicPr>
          <p:nvPr/>
        </p:nvPicPr>
        <p:blipFill>
          <a:blip r:embed="rId24"/>
          <a:stretch>
            <a:fillRect/>
          </a:stretch>
        </p:blipFill>
        <p:spPr>
          <a:xfrm>
            <a:off x="5780470" y="2184318"/>
            <a:ext cx="453542" cy="453542"/>
          </a:xfrm>
          <a:prstGeom prst="rect">
            <a:avLst/>
          </a:prstGeom>
        </p:spPr>
      </p:pic>
      <p:sp>
        <p:nvSpPr>
          <p:cNvPr id="71" name="Oval 70"/>
          <p:cNvSpPr/>
          <p:nvPr/>
        </p:nvSpPr>
        <p:spPr>
          <a:xfrm>
            <a:off x="6151717"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780470" y="2647005"/>
            <a:ext cx="640080" cy="146304"/>
          </a:xfrm>
          <a:prstGeom prst="rect">
            <a:avLst/>
          </a:prstGeom>
          <a:noFill/>
        </p:spPr>
        <p:txBody>
          <a:bodyPr wrap="none">
            <a:spAutoFit/>
          </a:bodyPr>
          <a:lstStyle/>
          <a:p>
            <a:pPr algn="ctr"/>
            <a:r>
              <a:rPr sz="600">
                <a:solidFill>
                  <a:srgbClr val="B9A488"/>
                </a:solidFill>
              </a:rPr>
              <a:t>nerf</a:t>
            </a:r>
          </a:p>
        </p:txBody>
      </p:sp>
      <p:pic>
        <p:nvPicPr>
          <p:cNvPr id="73" name="shaak" descr="shaak (Shaak)&#10;drawSize 2.0 · assigned here · art:keep"/>
          <p:cNvPicPr>
            <a:picLocks noChangeAspect="1"/>
          </p:cNvPicPr>
          <p:nvPr/>
        </p:nvPicPr>
        <p:blipFill>
          <a:blip r:embed="rId25"/>
          <a:stretch>
            <a:fillRect/>
          </a:stretch>
        </p:blipFill>
        <p:spPr>
          <a:xfrm>
            <a:off x="6362029" y="2184318"/>
            <a:ext cx="453542" cy="453542"/>
          </a:xfrm>
          <a:prstGeom prst="rect">
            <a:avLst/>
          </a:prstGeom>
        </p:spPr>
      </p:pic>
      <p:sp>
        <p:nvSpPr>
          <p:cNvPr id="74" name="Oval 73"/>
          <p:cNvSpPr/>
          <p:nvPr/>
        </p:nvSpPr>
        <p:spPr>
          <a:xfrm>
            <a:off x="6733275" y="216603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62029" y="2647005"/>
            <a:ext cx="640080" cy="146304"/>
          </a:xfrm>
          <a:prstGeom prst="rect">
            <a:avLst/>
          </a:prstGeom>
          <a:noFill/>
        </p:spPr>
        <p:txBody>
          <a:bodyPr wrap="none">
            <a:spAutoFit/>
          </a:bodyPr>
          <a:lstStyle/>
          <a:p>
            <a:pPr algn="ctr"/>
            <a:r>
              <a:rPr sz="600">
                <a:solidFill>
                  <a:srgbClr val="B9A488"/>
                </a:solidFill>
              </a:rPr>
              <a:t>shaak</a:t>
            </a:r>
          </a:p>
        </p:txBody>
      </p:sp>
      <p:pic>
        <p:nvPicPr>
          <p:cNvPr id="76" name="Jamel" descr="Jamel (Jamel)&#10;drawSize 1.899999976158142 · assigned here · art:improve"/>
          <p:cNvPicPr>
            <a:picLocks noChangeAspect="1"/>
          </p:cNvPicPr>
          <p:nvPr/>
        </p:nvPicPr>
        <p:blipFill>
          <a:blip r:embed="rId26"/>
          <a:stretch>
            <a:fillRect/>
          </a:stretch>
        </p:blipFill>
        <p:spPr>
          <a:xfrm>
            <a:off x="6943587" y="2206995"/>
            <a:ext cx="430865" cy="430865"/>
          </a:xfrm>
          <a:prstGeom prst="rect">
            <a:avLst/>
          </a:prstGeom>
        </p:spPr>
      </p:pic>
      <p:sp>
        <p:nvSpPr>
          <p:cNvPr id="77" name="Oval 76"/>
          <p:cNvSpPr/>
          <p:nvPr/>
        </p:nvSpPr>
        <p:spPr>
          <a:xfrm>
            <a:off x="7292157" y="218870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43587" y="2647005"/>
            <a:ext cx="640080" cy="146304"/>
          </a:xfrm>
          <a:prstGeom prst="rect">
            <a:avLst/>
          </a:prstGeom>
          <a:noFill/>
        </p:spPr>
        <p:txBody>
          <a:bodyPr wrap="none">
            <a:spAutoFit/>
          </a:bodyPr>
          <a:lstStyle/>
          <a:p>
            <a:pPr algn="ctr"/>
            <a:r>
              <a:rPr sz="600">
                <a:solidFill>
                  <a:srgbClr val="B9A488"/>
                </a:solidFill>
              </a:rPr>
              <a:t>Jamel</a:t>
            </a:r>
          </a:p>
        </p:txBody>
      </p:sp>
      <p:pic>
        <p:nvPicPr>
          <p:cNvPr id="79" name="terramorph" descr="terramorph (AA_Terramorph)&#10;drawSize 1.5 · assigned here · art:keep"/>
          <p:cNvPicPr>
            <a:picLocks noChangeAspect="1"/>
          </p:cNvPicPr>
          <p:nvPr/>
        </p:nvPicPr>
        <p:blipFill>
          <a:blip r:embed="rId27"/>
          <a:stretch>
            <a:fillRect/>
          </a:stretch>
        </p:blipFill>
        <p:spPr>
          <a:xfrm>
            <a:off x="7502469" y="2297704"/>
            <a:ext cx="340156" cy="340156"/>
          </a:xfrm>
          <a:prstGeom prst="rect">
            <a:avLst/>
          </a:prstGeom>
        </p:spPr>
      </p:pic>
      <p:sp>
        <p:nvSpPr>
          <p:cNvPr id="80" name="Oval 79"/>
          <p:cNvSpPr/>
          <p:nvPr/>
        </p:nvSpPr>
        <p:spPr>
          <a:xfrm>
            <a:off x="7760329" y="227941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502469" y="2647005"/>
            <a:ext cx="640080" cy="146304"/>
          </a:xfrm>
          <a:prstGeom prst="rect">
            <a:avLst/>
          </a:prstGeom>
          <a:noFill/>
        </p:spPr>
        <p:txBody>
          <a:bodyPr wrap="none">
            <a:spAutoFit/>
          </a:bodyPr>
          <a:lstStyle/>
          <a:p>
            <a:pPr algn="ctr"/>
            <a:r>
              <a:rPr sz="600">
                <a:solidFill>
                  <a:srgbClr val="B9A488"/>
                </a:solidFill>
              </a:rPr>
              <a:t>terramorph</a:t>
            </a:r>
          </a:p>
        </p:txBody>
      </p:sp>
      <p:pic>
        <p:nvPicPr>
          <p:cNvPr id="82" name="runyip" descr="runyip (Runyip)&#10;drawSize 1.5 · assigned here · art:keep"/>
          <p:cNvPicPr>
            <a:picLocks noChangeAspect="1"/>
          </p:cNvPicPr>
          <p:nvPr/>
        </p:nvPicPr>
        <p:blipFill>
          <a:blip r:embed="rId28"/>
          <a:stretch>
            <a:fillRect/>
          </a:stretch>
        </p:blipFill>
        <p:spPr>
          <a:xfrm>
            <a:off x="7970641" y="2297704"/>
            <a:ext cx="340156" cy="340156"/>
          </a:xfrm>
          <a:prstGeom prst="rect">
            <a:avLst/>
          </a:prstGeom>
        </p:spPr>
      </p:pic>
      <p:sp>
        <p:nvSpPr>
          <p:cNvPr id="83" name="Oval 82"/>
          <p:cNvSpPr/>
          <p:nvPr/>
        </p:nvSpPr>
        <p:spPr>
          <a:xfrm>
            <a:off x="8228502" y="227941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970641" y="2647005"/>
            <a:ext cx="640080" cy="146304"/>
          </a:xfrm>
          <a:prstGeom prst="rect">
            <a:avLst/>
          </a:prstGeom>
          <a:noFill/>
        </p:spPr>
        <p:txBody>
          <a:bodyPr wrap="none">
            <a:spAutoFit/>
          </a:bodyPr>
          <a:lstStyle/>
          <a:p>
            <a:pPr algn="ctr"/>
            <a:r>
              <a:rPr sz="600">
                <a:solidFill>
                  <a:srgbClr val="B9A488"/>
                </a:solidFill>
              </a:rPr>
              <a:t>runyip</a:t>
            </a:r>
          </a:p>
        </p:txBody>
      </p:sp>
      <p:pic>
        <p:nvPicPr>
          <p:cNvPr id="85" name="eopie" descr="eopie (Eopie)&#10;drawSize 1.399999976158142 · assigned here · art:keep"/>
          <p:cNvPicPr>
            <a:picLocks noChangeAspect="1"/>
          </p:cNvPicPr>
          <p:nvPr/>
        </p:nvPicPr>
        <p:blipFill>
          <a:blip r:embed="rId29"/>
          <a:stretch>
            <a:fillRect/>
          </a:stretch>
        </p:blipFill>
        <p:spPr>
          <a:xfrm>
            <a:off x="8438814" y="2320381"/>
            <a:ext cx="317479" cy="317479"/>
          </a:xfrm>
          <a:prstGeom prst="rect">
            <a:avLst/>
          </a:prstGeom>
        </p:spPr>
      </p:pic>
      <p:sp>
        <p:nvSpPr>
          <p:cNvPr id="86" name="Oval 85"/>
          <p:cNvSpPr/>
          <p:nvPr/>
        </p:nvSpPr>
        <p:spPr>
          <a:xfrm>
            <a:off x="8673998" y="230209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438814" y="2647005"/>
            <a:ext cx="640080" cy="146304"/>
          </a:xfrm>
          <a:prstGeom prst="rect">
            <a:avLst/>
          </a:prstGeom>
          <a:noFill/>
        </p:spPr>
        <p:txBody>
          <a:bodyPr wrap="none">
            <a:spAutoFit/>
          </a:bodyPr>
          <a:lstStyle/>
          <a:p>
            <a:pPr algn="ctr"/>
            <a:r>
              <a:rPr sz="600">
                <a:solidFill>
                  <a:srgbClr val="B9A488"/>
                </a:solidFill>
              </a:rPr>
              <a:t>eopie</a:t>
            </a:r>
          </a:p>
        </p:txBody>
      </p:sp>
      <p:pic>
        <p:nvPicPr>
          <p:cNvPr id="88" name="desert ave" descr="desert ave (AA_DesertAve)&#10;drawSize 1.0 · assigned here · art:keep"/>
          <p:cNvPicPr>
            <a:picLocks noChangeAspect="1"/>
          </p:cNvPicPr>
          <p:nvPr/>
        </p:nvPicPr>
        <p:blipFill>
          <a:blip r:embed="rId30"/>
          <a:stretch>
            <a:fillRect/>
          </a:stretch>
        </p:blipFill>
        <p:spPr>
          <a:xfrm>
            <a:off x="8884310" y="2411089"/>
            <a:ext cx="226771" cy="226771"/>
          </a:xfrm>
          <a:prstGeom prst="rect">
            <a:avLst/>
          </a:prstGeom>
        </p:spPr>
      </p:pic>
      <p:sp>
        <p:nvSpPr>
          <p:cNvPr id="89" name="Oval 88"/>
          <p:cNvSpPr/>
          <p:nvPr/>
        </p:nvSpPr>
        <p:spPr>
          <a:xfrm>
            <a:off x="9028785" y="23928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884310" y="2647005"/>
            <a:ext cx="640080" cy="146304"/>
          </a:xfrm>
          <a:prstGeom prst="rect">
            <a:avLst/>
          </a:prstGeom>
          <a:noFill/>
        </p:spPr>
        <p:txBody>
          <a:bodyPr wrap="none">
            <a:spAutoFit/>
          </a:bodyPr>
          <a:lstStyle/>
          <a:p>
            <a:pPr algn="ctr"/>
            <a:r>
              <a:rPr sz="600">
                <a:solidFill>
                  <a:srgbClr val="B9A488"/>
                </a:solidFill>
              </a:rPr>
              <a:t>desert ave</a:t>
            </a:r>
          </a:p>
        </p:txBody>
      </p:sp>
      <p:pic>
        <p:nvPicPr>
          <p:cNvPr id="91" name="krykna" descr="krykna (Krykna)&#10;drawSize 0.800000011920929 · assigned here · art:keep"/>
          <p:cNvPicPr>
            <a:picLocks noChangeAspect="1"/>
          </p:cNvPicPr>
          <p:nvPr/>
        </p:nvPicPr>
        <p:blipFill>
          <a:blip r:embed="rId31"/>
          <a:stretch>
            <a:fillRect/>
          </a:stretch>
        </p:blipFill>
        <p:spPr>
          <a:xfrm>
            <a:off x="9239097" y="2456444"/>
            <a:ext cx="181416" cy="181416"/>
          </a:xfrm>
          <a:prstGeom prst="rect">
            <a:avLst/>
          </a:prstGeom>
        </p:spPr>
      </p:pic>
      <p:sp>
        <p:nvSpPr>
          <p:cNvPr id="92" name="Oval 91"/>
          <p:cNvSpPr/>
          <p:nvPr/>
        </p:nvSpPr>
        <p:spPr>
          <a:xfrm>
            <a:off x="9338218" y="24381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39097" y="2647005"/>
            <a:ext cx="640080" cy="146304"/>
          </a:xfrm>
          <a:prstGeom prst="rect">
            <a:avLst/>
          </a:prstGeom>
          <a:noFill/>
        </p:spPr>
        <p:txBody>
          <a:bodyPr wrap="none">
            <a:spAutoFit/>
          </a:bodyPr>
          <a:lstStyle/>
          <a:p>
            <a:pPr algn="ctr"/>
            <a:r>
              <a:rPr sz="600">
                <a:solidFill>
                  <a:srgbClr val="B9A488"/>
                </a:solidFill>
              </a:rPr>
              <a:t>krykna</a:t>
            </a:r>
          </a:p>
        </p:txBody>
      </p:sp>
      <p:pic>
        <p:nvPicPr>
          <p:cNvPr id="94" name="shyrack" descr="shyrack (Shyrack)&#10;drawSize 0.75 · assigned here · art:keep"/>
          <p:cNvPicPr>
            <a:picLocks noChangeAspect="1"/>
          </p:cNvPicPr>
          <p:nvPr/>
        </p:nvPicPr>
        <p:blipFill>
          <a:blip r:embed="rId32"/>
          <a:stretch>
            <a:fillRect/>
          </a:stretch>
        </p:blipFill>
        <p:spPr>
          <a:xfrm>
            <a:off x="9548530" y="2467782"/>
            <a:ext cx="170078" cy="170078"/>
          </a:xfrm>
          <a:prstGeom prst="rect">
            <a:avLst/>
          </a:prstGeom>
        </p:spPr>
      </p:pic>
      <p:sp>
        <p:nvSpPr>
          <p:cNvPr id="95" name="Oval 94"/>
          <p:cNvSpPr/>
          <p:nvPr/>
        </p:nvSpPr>
        <p:spPr>
          <a:xfrm>
            <a:off x="9636312" y="244949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548530" y="2647005"/>
            <a:ext cx="640080" cy="146304"/>
          </a:xfrm>
          <a:prstGeom prst="rect">
            <a:avLst/>
          </a:prstGeom>
          <a:noFill/>
        </p:spPr>
        <p:txBody>
          <a:bodyPr wrap="none">
            <a:spAutoFit/>
          </a:bodyPr>
          <a:lstStyle/>
          <a:p>
            <a:pPr algn="ctr"/>
            <a:r>
              <a:rPr sz="600">
                <a:solidFill>
                  <a:srgbClr val="B9A488"/>
                </a:solidFill>
              </a:rPr>
              <a:t>shyrack</a:t>
            </a:r>
          </a:p>
        </p:txBody>
      </p:sp>
      <p:pic>
        <p:nvPicPr>
          <p:cNvPr id="97" name="womp rat" descr="womp rat (WompRat)&#10;drawSize 0.75 · assigned here · art:keep"/>
          <p:cNvPicPr>
            <a:picLocks noChangeAspect="1"/>
          </p:cNvPicPr>
          <p:nvPr/>
        </p:nvPicPr>
        <p:blipFill>
          <a:blip r:embed="rId33"/>
          <a:stretch>
            <a:fillRect/>
          </a:stretch>
        </p:blipFill>
        <p:spPr>
          <a:xfrm>
            <a:off x="9846624" y="2467782"/>
            <a:ext cx="170078" cy="170078"/>
          </a:xfrm>
          <a:prstGeom prst="rect">
            <a:avLst/>
          </a:prstGeom>
        </p:spPr>
      </p:pic>
      <p:sp>
        <p:nvSpPr>
          <p:cNvPr id="98" name="Oval 97"/>
          <p:cNvSpPr/>
          <p:nvPr/>
        </p:nvSpPr>
        <p:spPr>
          <a:xfrm>
            <a:off x="9934407" y="244949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846624" y="2647005"/>
            <a:ext cx="640080" cy="146304"/>
          </a:xfrm>
          <a:prstGeom prst="rect">
            <a:avLst/>
          </a:prstGeom>
          <a:noFill/>
        </p:spPr>
        <p:txBody>
          <a:bodyPr wrap="none">
            <a:spAutoFit/>
          </a:bodyPr>
          <a:lstStyle/>
          <a:p>
            <a:pPr algn="ctr"/>
            <a:r>
              <a:rPr sz="600">
                <a:solidFill>
                  <a:srgbClr val="B9A488"/>
                </a:solidFill>
              </a:rPr>
              <a:t>womp rat</a:t>
            </a:r>
          </a:p>
        </p:txBody>
      </p:sp>
      <p:pic>
        <p:nvPicPr>
          <p:cNvPr id="100" name="iriaz" descr="iriaz (Iriaz)&#10;drawSize 0.699999988079071 · assigned here · art:keep"/>
          <p:cNvPicPr>
            <a:picLocks noChangeAspect="1"/>
          </p:cNvPicPr>
          <p:nvPr/>
        </p:nvPicPr>
        <p:blipFill>
          <a:blip r:embed="rId34"/>
          <a:stretch>
            <a:fillRect/>
          </a:stretch>
        </p:blipFill>
        <p:spPr>
          <a:xfrm>
            <a:off x="10144719" y="2479121"/>
            <a:ext cx="158739" cy="158739"/>
          </a:xfrm>
          <a:prstGeom prst="rect">
            <a:avLst/>
          </a:prstGeom>
        </p:spPr>
      </p:pic>
      <p:sp>
        <p:nvSpPr>
          <p:cNvPr id="101" name="Oval 100"/>
          <p:cNvSpPr/>
          <p:nvPr/>
        </p:nvSpPr>
        <p:spPr>
          <a:xfrm>
            <a:off x="10221163" y="246083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144719" y="2647005"/>
            <a:ext cx="640080" cy="146304"/>
          </a:xfrm>
          <a:prstGeom prst="rect">
            <a:avLst/>
          </a:prstGeom>
          <a:noFill/>
        </p:spPr>
        <p:txBody>
          <a:bodyPr wrap="none">
            <a:spAutoFit/>
          </a:bodyPr>
          <a:lstStyle/>
          <a:p>
            <a:pPr algn="ctr"/>
            <a:r>
              <a:rPr sz="600">
                <a:solidFill>
                  <a:srgbClr val="B9A488"/>
                </a:solidFill>
              </a:rPr>
              <a:t>iriaz</a:t>
            </a:r>
          </a:p>
        </p:txBody>
      </p:sp>
      <p:pic>
        <p:nvPicPr>
          <p:cNvPr id="103" name="jellypot" descr="jellypot (BMT_Jellypot)&#10;drawSize 0.6499999761581421 · assigned here · art:keep"/>
          <p:cNvPicPr>
            <a:picLocks noChangeAspect="1"/>
          </p:cNvPicPr>
          <p:nvPr/>
        </p:nvPicPr>
        <p:blipFill>
          <a:blip r:embed="rId35"/>
          <a:stretch>
            <a:fillRect/>
          </a:stretch>
        </p:blipFill>
        <p:spPr>
          <a:xfrm>
            <a:off x="10431475" y="2490459"/>
            <a:ext cx="147401" cy="147401"/>
          </a:xfrm>
          <a:prstGeom prst="rect">
            <a:avLst/>
          </a:prstGeom>
        </p:spPr>
      </p:pic>
      <p:sp>
        <p:nvSpPr>
          <p:cNvPr id="104" name="Oval 103"/>
          <p:cNvSpPr/>
          <p:nvPr/>
        </p:nvSpPr>
        <p:spPr>
          <a:xfrm>
            <a:off x="10496580" y="247217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431475" y="2647005"/>
            <a:ext cx="640080" cy="146304"/>
          </a:xfrm>
          <a:prstGeom prst="rect">
            <a:avLst/>
          </a:prstGeom>
          <a:noFill/>
        </p:spPr>
        <p:txBody>
          <a:bodyPr wrap="none">
            <a:spAutoFit/>
          </a:bodyPr>
          <a:lstStyle/>
          <a:p>
            <a:pPr algn="ctr"/>
            <a:r>
              <a:rPr sz="600">
                <a:solidFill>
                  <a:srgbClr val="B9A488"/>
                </a:solidFill>
              </a:rPr>
              <a:t>jellypot</a:t>
            </a:r>
          </a:p>
        </p:txBody>
      </p:sp>
      <p:pic>
        <p:nvPicPr>
          <p:cNvPr id="106" name="longtail gorg" descr="longtail gorg (LongtailGorg)&#10;drawSize 0.6000000238418579 · assigned here · art:keep"/>
          <p:cNvPicPr>
            <a:picLocks noChangeAspect="1"/>
          </p:cNvPicPr>
          <p:nvPr/>
        </p:nvPicPr>
        <p:blipFill>
          <a:blip r:embed="rId36"/>
          <a:stretch>
            <a:fillRect/>
          </a:stretch>
        </p:blipFill>
        <p:spPr>
          <a:xfrm>
            <a:off x="10706892" y="2501798"/>
            <a:ext cx="136062" cy="136062"/>
          </a:xfrm>
          <a:prstGeom prst="rect">
            <a:avLst/>
          </a:prstGeom>
        </p:spPr>
      </p:pic>
      <p:sp>
        <p:nvSpPr>
          <p:cNvPr id="107" name="Oval 106"/>
          <p:cNvSpPr/>
          <p:nvPr/>
        </p:nvSpPr>
        <p:spPr>
          <a:xfrm>
            <a:off x="10760659" y="24835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706892" y="2647005"/>
            <a:ext cx="640080" cy="146304"/>
          </a:xfrm>
          <a:prstGeom prst="rect">
            <a:avLst/>
          </a:prstGeom>
          <a:noFill/>
        </p:spPr>
        <p:txBody>
          <a:bodyPr wrap="none">
            <a:spAutoFit/>
          </a:bodyPr>
          <a:lstStyle/>
          <a:p>
            <a:pPr algn="ctr"/>
            <a:r>
              <a:rPr sz="600">
                <a:solidFill>
                  <a:srgbClr val="B9A488"/>
                </a:solidFill>
              </a:rPr>
              <a:t>longtail gorg</a:t>
            </a:r>
          </a:p>
        </p:txBody>
      </p:sp>
      <p:pic>
        <p:nvPicPr>
          <p:cNvPr id="109" name="nuna" descr="nuna (Nuna)&#10;drawSize 0.6000000238418579 · assigned here · art:keep"/>
          <p:cNvPicPr>
            <a:picLocks noChangeAspect="1"/>
          </p:cNvPicPr>
          <p:nvPr/>
        </p:nvPicPr>
        <p:blipFill>
          <a:blip r:embed="rId37"/>
          <a:stretch>
            <a:fillRect/>
          </a:stretch>
        </p:blipFill>
        <p:spPr>
          <a:xfrm>
            <a:off x="10970971" y="2501798"/>
            <a:ext cx="136062" cy="136062"/>
          </a:xfrm>
          <a:prstGeom prst="rect">
            <a:avLst/>
          </a:prstGeom>
        </p:spPr>
      </p:pic>
      <p:sp>
        <p:nvSpPr>
          <p:cNvPr id="110" name="Oval 109"/>
          <p:cNvSpPr/>
          <p:nvPr/>
        </p:nvSpPr>
        <p:spPr>
          <a:xfrm>
            <a:off x="11024737" y="24835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970971" y="2647005"/>
            <a:ext cx="640080" cy="146304"/>
          </a:xfrm>
          <a:prstGeom prst="rect">
            <a:avLst/>
          </a:prstGeom>
          <a:noFill/>
        </p:spPr>
        <p:txBody>
          <a:bodyPr wrap="none">
            <a:spAutoFit/>
          </a:bodyPr>
          <a:lstStyle/>
          <a:p>
            <a:pPr algn="ctr"/>
            <a:r>
              <a:rPr sz="600">
                <a:solidFill>
                  <a:srgbClr val="B9A488"/>
                </a:solidFill>
              </a:rPr>
              <a:t>nuna</a:t>
            </a:r>
          </a:p>
        </p:txBody>
      </p:sp>
      <p:pic>
        <p:nvPicPr>
          <p:cNvPr id="112" name="worrt" descr="worrt (Worrt)&#10;drawSize 0.6000000238418579 · assigned here · art:keep"/>
          <p:cNvPicPr>
            <a:picLocks noChangeAspect="1"/>
          </p:cNvPicPr>
          <p:nvPr/>
        </p:nvPicPr>
        <p:blipFill>
          <a:blip r:embed="rId38"/>
          <a:stretch>
            <a:fillRect/>
          </a:stretch>
        </p:blipFill>
        <p:spPr>
          <a:xfrm>
            <a:off x="11235049" y="2501798"/>
            <a:ext cx="136062" cy="136062"/>
          </a:xfrm>
          <a:prstGeom prst="rect">
            <a:avLst/>
          </a:prstGeom>
        </p:spPr>
      </p:pic>
      <p:sp>
        <p:nvSpPr>
          <p:cNvPr id="113" name="Oval 112"/>
          <p:cNvSpPr/>
          <p:nvPr/>
        </p:nvSpPr>
        <p:spPr>
          <a:xfrm>
            <a:off x="11288816" y="24835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235049" y="2647005"/>
            <a:ext cx="640080" cy="146304"/>
          </a:xfrm>
          <a:prstGeom prst="rect">
            <a:avLst/>
          </a:prstGeom>
          <a:noFill/>
        </p:spPr>
        <p:txBody>
          <a:bodyPr wrap="none">
            <a:spAutoFit/>
          </a:bodyPr>
          <a:lstStyle/>
          <a:p>
            <a:pPr algn="ctr"/>
            <a:r>
              <a:rPr sz="600">
                <a:solidFill>
                  <a:srgbClr val="B9A488"/>
                </a:solidFill>
              </a:rPr>
              <a:t>worrt</a:t>
            </a:r>
          </a:p>
        </p:txBody>
      </p:sp>
      <p:pic>
        <p:nvPicPr>
          <p:cNvPr id="115" name="clodhopper" descr="clodhopper (Clodhopper)&#10;drawSize 0.5 · assigned here · art:keep"/>
          <p:cNvPicPr>
            <a:picLocks noChangeAspect="1"/>
          </p:cNvPicPr>
          <p:nvPr/>
        </p:nvPicPr>
        <p:blipFill>
          <a:blip r:embed="rId39"/>
          <a:stretch>
            <a:fillRect/>
          </a:stretch>
        </p:blipFill>
        <p:spPr>
          <a:xfrm>
            <a:off x="11499128" y="2520817"/>
            <a:ext cx="117043" cy="117043"/>
          </a:xfrm>
          <a:prstGeom prst="rect">
            <a:avLst/>
          </a:prstGeom>
        </p:spPr>
      </p:pic>
      <p:sp>
        <p:nvSpPr>
          <p:cNvPr id="116" name="Oval 115"/>
          <p:cNvSpPr/>
          <p:nvPr/>
        </p:nvSpPr>
        <p:spPr>
          <a:xfrm>
            <a:off x="11533875" y="250252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499128" y="2647005"/>
            <a:ext cx="640080" cy="146304"/>
          </a:xfrm>
          <a:prstGeom prst="rect">
            <a:avLst/>
          </a:prstGeom>
          <a:noFill/>
        </p:spPr>
        <p:txBody>
          <a:bodyPr wrap="none">
            <a:spAutoFit/>
          </a:bodyPr>
          <a:lstStyle/>
          <a:p>
            <a:pPr algn="ctr"/>
            <a:r>
              <a:rPr sz="600">
                <a:solidFill>
                  <a:srgbClr val="B9A488"/>
                </a:solidFill>
              </a:rPr>
              <a:t>clodhopper</a:t>
            </a:r>
          </a:p>
        </p:txBody>
      </p:sp>
      <p:pic>
        <p:nvPicPr>
          <p:cNvPr id="118" name="frilled gorg" descr="frilled gorg (FrilledGorg)&#10;drawSize 0.4000000059604645 · assigned here · art:keep"/>
          <p:cNvPicPr>
            <a:picLocks noChangeAspect="1"/>
          </p:cNvPicPr>
          <p:nvPr/>
        </p:nvPicPr>
        <p:blipFill>
          <a:blip r:embed="rId40"/>
          <a:stretch>
            <a:fillRect/>
          </a:stretch>
        </p:blipFill>
        <p:spPr>
          <a:xfrm>
            <a:off x="11744187" y="2520817"/>
            <a:ext cx="117043" cy="117043"/>
          </a:xfrm>
          <a:prstGeom prst="rect">
            <a:avLst/>
          </a:prstGeom>
        </p:spPr>
      </p:pic>
      <p:sp>
        <p:nvSpPr>
          <p:cNvPr id="119" name="Oval 118"/>
          <p:cNvSpPr/>
          <p:nvPr/>
        </p:nvSpPr>
        <p:spPr>
          <a:xfrm>
            <a:off x="11778934" y="250252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1744187" y="2647005"/>
            <a:ext cx="640080" cy="146304"/>
          </a:xfrm>
          <a:prstGeom prst="rect">
            <a:avLst/>
          </a:prstGeom>
          <a:noFill/>
        </p:spPr>
        <p:txBody>
          <a:bodyPr wrap="none">
            <a:spAutoFit/>
          </a:bodyPr>
          <a:lstStyle/>
          <a:p>
            <a:pPr algn="ctr"/>
            <a:r>
              <a:rPr sz="600">
                <a:solidFill>
                  <a:srgbClr val="B9A488"/>
                </a:solidFill>
              </a:rPr>
              <a:t>frilled gorg</a:t>
            </a:r>
          </a:p>
        </p:txBody>
      </p:sp>
      <p:pic>
        <p:nvPicPr>
          <p:cNvPr id="121" name="sketto" descr="sketto (Sketto)&#10;drawSize 0.4000000059604645 · assigned here · art:keep"/>
          <p:cNvPicPr>
            <a:picLocks noChangeAspect="1"/>
          </p:cNvPicPr>
          <p:nvPr/>
        </p:nvPicPr>
        <p:blipFill>
          <a:blip r:embed="rId41"/>
          <a:stretch>
            <a:fillRect/>
          </a:stretch>
        </p:blipFill>
        <p:spPr>
          <a:xfrm>
            <a:off x="274320" y="2875605"/>
            <a:ext cx="117043" cy="117043"/>
          </a:xfrm>
          <a:prstGeom prst="rect">
            <a:avLst/>
          </a:prstGeom>
        </p:spPr>
      </p:pic>
      <p:sp>
        <p:nvSpPr>
          <p:cNvPr id="122" name="Oval 121"/>
          <p:cNvSpPr/>
          <p:nvPr/>
        </p:nvSpPr>
        <p:spPr>
          <a:xfrm>
            <a:off x="309067" y="285731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74320" y="3001792"/>
            <a:ext cx="640080" cy="146304"/>
          </a:xfrm>
          <a:prstGeom prst="rect">
            <a:avLst/>
          </a:prstGeom>
          <a:noFill/>
        </p:spPr>
        <p:txBody>
          <a:bodyPr wrap="none">
            <a:spAutoFit/>
          </a:bodyPr>
          <a:lstStyle/>
          <a:p>
            <a:pPr algn="ctr"/>
            <a:r>
              <a:rPr sz="600">
                <a:solidFill>
                  <a:srgbClr val="B9A488"/>
                </a:solidFill>
              </a:rPr>
              <a:t>sketto</a:t>
            </a:r>
          </a:p>
        </p:txBody>
      </p:sp>
      <p:pic>
        <p:nvPicPr>
          <p:cNvPr id="124" name="voorpak" descr="voorpak (Voorpak)&#10;drawSize 0.3499999940395355 · assigned here · art:keep"/>
          <p:cNvPicPr>
            <a:picLocks noChangeAspect="1"/>
          </p:cNvPicPr>
          <p:nvPr/>
        </p:nvPicPr>
        <p:blipFill>
          <a:blip r:embed="rId42"/>
          <a:stretch>
            <a:fillRect/>
          </a:stretch>
        </p:blipFill>
        <p:spPr>
          <a:xfrm>
            <a:off x="519379" y="2875605"/>
            <a:ext cx="117043" cy="117043"/>
          </a:xfrm>
          <a:prstGeom prst="rect">
            <a:avLst/>
          </a:prstGeom>
        </p:spPr>
      </p:pic>
      <p:sp>
        <p:nvSpPr>
          <p:cNvPr id="125" name="Oval 124"/>
          <p:cNvSpPr/>
          <p:nvPr/>
        </p:nvSpPr>
        <p:spPr>
          <a:xfrm>
            <a:off x="554126" y="285731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519379" y="3001792"/>
            <a:ext cx="640080" cy="146304"/>
          </a:xfrm>
          <a:prstGeom prst="rect">
            <a:avLst/>
          </a:prstGeom>
          <a:noFill/>
        </p:spPr>
        <p:txBody>
          <a:bodyPr wrap="none">
            <a:spAutoFit/>
          </a:bodyPr>
          <a:lstStyle/>
          <a:p>
            <a:pPr algn="ctr"/>
            <a:r>
              <a:rPr sz="600">
                <a:solidFill>
                  <a:srgbClr val="B9A488"/>
                </a:solidFill>
              </a:rPr>
              <a:t>voorpak</a:t>
            </a:r>
          </a:p>
        </p:txBody>
      </p:sp>
      <p:pic>
        <p:nvPicPr>
          <p:cNvPr id="127" name="gorg" descr="gorg (Gorg)&#10;drawSize 0.30000001192092896 · assigned here · art:keep"/>
          <p:cNvPicPr>
            <a:picLocks noChangeAspect="1"/>
          </p:cNvPicPr>
          <p:nvPr/>
        </p:nvPicPr>
        <p:blipFill>
          <a:blip r:embed="rId43"/>
          <a:stretch>
            <a:fillRect/>
          </a:stretch>
        </p:blipFill>
        <p:spPr>
          <a:xfrm>
            <a:off x="764438" y="2875605"/>
            <a:ext cx="117043" cy="117043"/>
          </a:xfrm>
          <a:prstGeom prst="rect">
            <a:avLst/>
          </a:prstGeom>
        </p:spPr>
      </p:pic>
      <p:sp>
        <p:nvSpPr>
          <p:cNvPr id="128" name="Oval 127"/>
          <p:cNvSpPr/>
          <p:nvPr/>
        </p:nvSpPr>
        <p:spPr>
          <a:xfrm>
            <a:off x="799185" y="285731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64438" y="3001792"/>
            <a:ext cx="640080" cy="146304"/>
          </a:xfrm>
          <a:prstGeom prst="rect">
            <a:avLst/>
          </a:prstGeom>
          <a:noFill/>
        </p:spPr>
        <p:txBody>
          <a:bodyPr wrap="none">
            <a:spAutoFit/>
          </a:bodyPr>
          <a:lstStyle/>
          <a:p>
            <a:pPr algn="ctr"/>
            <a:r>
              <a:rPr sz="600">
                <a:solidFill>
                  <a:srgbClr val="B9A488"/>
                </a:solidFill>
              </a:rPr>
              <a:t>gorg</a:t>
            </a:r>
          </a:p>
        </p:txBody>
      </p:sp>
      <p:pic>
        <p:nvPicPr>
          <p:cNvPr id="130" name="kreetle" descr="kreetle (Kreetle)&#10;drawSize 0.20000000298023224 · assigned here · art:keep&#10;“arid type only”"/>
          <p:cNvPicPr>
            <a:picLocks noChangeAspect="1"/>
          </p:cNvPicPr>
          <p:nvPr/>
        </p:nvPicPr>
        <p:blipFill>
          <a:blip r:embed="rId44"/>
          <a:stretch>
            <a:fillRect/>
          </a:stretch>
        </p:blipFill>
        <p:spPr>
          <a:xfrm>
            <a:off x="1009497" y="2875605"/>
            <a:ext cx="117043" cy="117043"/>
          </a:xfrm>
          <a:prstGeom prst="rect">
            <a:avLst/>
          </a:prstGeom>
        </p:spPr>
      </p:pic>
      <p:sp>
        <p:nvSpPr>
          <p:cNvPr id="131" name="Oval 130"/>
          <p:cNvSpPr/>
          <p:nvPr/>
        </p:nvSpPr>
        <p:spPr>
          <a:xfrm>
            <a:off x="1044244" y="285731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09497" y="3001792"/>
            <a:ext cx="640080" cy="146304"/>
          </a:xfrm>
          <a:prstGeom prst="rect">
            <a:avLst/>
          </a:prstGeom>
          <a:noFill/>
        </p:spPr>
        <p:txBody>
          <a:bodyPr wrap="none">
            <a:spAutoFit/>
          </a:bodyPr>
          <a:lstStyle/>
          <a:p>
            <a:pPr algn="ctr"/>
            <a:r>
              <a:rPr sz="600">
                <a:solidFill>
                  <a:srgbClr val="B9A488"/>
                </a:solidFill>
              </a:rPr>
              <a:t>kreetle</a:t>
            </a:r>
          </a:p>
        </p:txBody>
      </p:sp>
      <p:pic>
        <p:nvPicPr>
          <p:cNvPr id="133" name="gizka" descr="gizka (Gizka)&#10;drawSize 0.18000000715255737 · assigned here · art:keep&#10;“not here”"/>
          <p:cNvPicPr>
            <a:picLocks noChangeAspect="1"/>
          </p:cNvPicPr>
          <p:nvPr/>
        </p:nvPicPr>
        <p:blipFill>
          <a:blip r:embed="rId45"/>
          <a:stretch>
            <a:fillRect/>
          </a:stretch>
        </p:blipFill>
        <p:spPr>
          <a:xfrm>
            <a:off x="1254556" y="2875605"/>
            <a:ext cx="117043" cy="117043"/>
          </a:xfrm>
          <a:prstGeom prst="rect">
            <a:avLst/>
          </a:prstGeom>
        </p:spPr>
      </p:pic>
      <p:sp>
        <p:nvSpPr>
          <p:cNvPr id="134" name="Oval 133"/>
          <p:cNvSpPr/>
          <p:nvPr/>
        </p:nvSpPr>
        <p:spPr>
          <a:xfrm>
            <a:off x="1289304" y="285731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254556" y="3001792"/>
            <a:ext cx="640080" cy="146304"/>
          </a:xfrm>
          <a:prstGeom prst="rect">
            <a:avLst/>
          </a:prstGeom>
          <a:noFill/>
        </p:spPr>
        <p:txBody>
          <a:bodyPr wrap="none">
            <a:spAutoFit/>
          </a:bodyPr>
          <a:lstStyle/>
          <a:p>
            <a:pPr algn="ctr"/>
            <a:r>
              <a:rPr sz="600">
                <a:solidFill>
                  <a:srgbClr val="B9A488"/>
                </a:solidFill>
              </a:rPr>
              <a:t>gizka</a:t>
            </a:r>
          </a:p>
        </p:txBody>
      </p:sp>
      <p:pic>
        <p:nvPicPr>
          <p:cNvPr id="136" name="needleroll" descr="needleroll (AA_Needleroll)&#10;drawSize 0.15000000596046448 · assigned here · art:keep"/>
          <p:cNvPicPr>
            <a:picLocks noChangeAspect="1"/>
          </p:cNvPicPr>
          <p:nvPr/>
        </p:nvPicPr>
        <p:blipFill>
          <a:blip r:embed="rId46"/>
          <a:stretch>
            <a:fillRect/>
          </a:stretch>
        </p:blipFill>
        <p:spPr>
          <a:xfrm>
            <a:off x="1499616" y="2875605"/>
            <a:ext cx="117043" cy="117043"/>
          </a:xfrm>
          <a:prstGeom prst="rect">
            <a:avLst/>
          </a:prstGeom>
        </p:spPr>
      </p:pic>
      <p:sp>
        <p:nvSpPr>
          <p:cNvPr id="137" name="Oval 136"/>
          <p:cNvSpPr/>
          <p:nvPr/>
        </p:nvSpPr>
        <p:spPr>
          <a:xfrm>
            <a:off x="1534363" y="285731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499616" y="3001792"/>
            <a:ext cx="640080" cy="146304"/>
          </a:xfrm>
          <a:prstGeom prst="rect">
            <a:avLst/>
          </a:prstGeom>
          <a:noFill/>
        </p:spPr>
        <p:txBody>
          <a:bodyPr wrap="none">
            <a:spAutoFit/>
          </a:bodyPr>
          <a:lstStyle/>
          <a:p>
            <a:pPr algn="ctr"/>
            <a:r>
              <a:rPr sz="600">
                <a:solidFill>
                  <a:srgbClr val="B9A488"/>
                </a:solidFill>
              </a:rPr>
              <a:t>needleroll</a:t>
            </a:r>
          </a:p>
        </p:txBody>
      </p:sp>
      <p:sp>
        <p:nvSpPr>
          <p:cNvPr id="139" name="TextBox 138"/>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140" name="AB_HardyGrass" descr="AB_HardyGrass (AB_HardyGrass)&#10;"/>
          <p:cNvPicPr>
            <a:picLocks noChangeAspect="1"/>
          </p:cNvPicPr>
          <p:nvPr/>
        </p:nvPicPr>
        <p:blipFill>
          <a:blip r:embed="rId47"/>
          <a:stretch>
            <a:fillRect/>
          </a:stretch>
        </p:blipFill>
        <p:spPr>
          <a:xfrm>
            <a:off x="274320" y="3822191"/>
            <a:ext cx="548639" cy="548639"/>
          </a:xfrm>
          <a:prstGeom prst="rect">
            <a:avLst/>
          </a:prstGeom>
        </p:spPr>
      </p:pic>
      <p:sp>
        <p:nvSpPr>
          <p:cNvPr id="141" name="TextBox 140"/>
          <p:cNvSpPr txBox="1"/>
          <p:nvPr/>
        </p:nvSpPr>
        <p:spPr>
          <a:xfrm>
            <a:off x="274320" y="4379975"/>
            <a:ext cx="640080" cy="146304"/>
          </a:xfrm>
          <a:prstGeom prst="rect">
            <a:avLst/>
          </a:prstGeom>
          <a:noFill/>
        </p:spPr>
        <p:txBody>
          <a:bodyPr wrap="none">
            <a:spAutoFit/>
          </a:bodyPr>
          <a:lstStyle/>
          <a:p>
            <a:pPr algn="ctr"/>
            <a:r>
              <a:rPr sz="600">
                <a:solidFill>
                  <a:srgbClr val="B9A488"/>
                </a:solidFill>
              </a:rPr>
              <a:t>AB_HardyGrass</a:t>
            </a:r>
          </a:p>
        </p:txBody>
      </p:sp>
      <p:sp>
        <p:nvSpPr>
          <p:cNvPr id="142" name="Plant_HubbaGourd_Wild" descr="Plant_HubbaGourd_Wild (Plant_HubbaGourd_Wild)&#10;&#10;[no cached sprite]"/>
          <p:cNvSpPr/>
          <p:nvPr/>
        </p:nvSpPr>
        <p:spPr>
          <a:xfrm>
            <a:off x="950975"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Plant_HubbaGourd_Wild</a:t>
            </a:r>
          </a:p>
        </p:txBody>
      </p:sp>
      <p:sp>
        <p:nvSpPr>
          <p:cNvPr id="143" name="TextBox 142"/>
          <p:cNvSpPr txBox="1"/>
          <p:nvPr/>
        </p:nvSpPr>
        <p:spPr>
          <a:xfrm>
            <a:off x="950975" y="4379975"/>
            <a:ext cx="640080" cy="146304"/>
          </a:xfrm>
          <a:prstGeom prst="rect">
            <a:avLst/>
          </a:prstGeom>
          <a:noFill/>
        </p:spPr>
        <p:txBody>
          <a:bodyPr wrap="none">
            <a:spAutoFit/>
          </a:bodyPr>
          <a:lstStyle/>
          <a:p>
            <a:pPr algn="ctr"/>
            <a:r>
              <a:rPr sz="600">
                <a:solidFill>
                  <a:srgbClr val="B9A488"/>
                </a:solidFill>
              </a:rPr>
              <a:t>Plant_HubbaGourd</a:t>
            </a:r>
          </a:p>
        </p:txBody>
      </p:sp>
      <p:sp>
        <p:nvSpPr>
          <p:cNvPr id="144" name="Plant_Chakroot_Wild" descr="Plant_Chakroot_Wild (Plant_Chakroot_Wild)&#10;&#10;[no cached sprite]"/>
          <p:cNvSpPr/>
          <p:nvPr/>
        </p:nvSpPr>
        <p:spPr>
          <a:xfrm>
            <a:off x="1627631"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Plant_Chakroot_Wild</a:t>
            </a:r>
          </a:p>
        </p:txBody>
      </p:sp>
      <p:sp>
        <p:nvSpPr>
          <p:cNvPr id="145" name="TextBox 144"/>
          <p:cNvSpPr txBox="1"/>
          <p:nvPr/>
        </p:nvSpPr>
        <p:spPr>
          <a:xfrm>
            <a:off x="1627631" y="4379975"/>
            <a:ext cx="640080" cy="146304"/>
          </a:xfrm>
          <a:prstGeom prst="rect">
            <a:avLst/>
          </a:prstGeom>
          <a:noFill/>
        </p:spPr>
        <p:txBody>
          <a:bodyPr wrap="none">
            <a:spAutoFit/>
          </a:bodyPr>
          <a:lstStyle/>
          <a:p>
            <a:pPr algn="ctr"/>
            <a:r>
              <a:rPr sz="600">
                <a:solidFill>
                  <a:srgbClr val="B9A488"/>
                </a:solidFill>
              </a:rPr>
              <a:t>Plant_Chakroot_W</a:t>
            </a:r>
          </a:p>
        </p:txBody>
      </p:sp>
      <p:pic>
        <p:nvPicPr>
          <p:cNvPr id="146" name="AB_Aaklac" descr="AB_Aaklac (AB_Aaklac)&#10;"/>
          <p:cNvPicPr>
            <a:picLocks noChangeAspect="1"/>
          </p:cNvPicPr>
          <p:nvPr/>
        </p:nvPicPr>
        <p:blipFill>
          <a:blip r:embed="rId48"/>
          <a:stretch>
            <a:fillRect/>
          </a:stretch>
        </p:blipFill>
        <p:spPr>
          <a:xfrm>
            <a:off x="2304287" y="3822191"/>
            <a:ext cx="548639" cy="548639"/>
          </a:xfrm>
          <a:prstGeom prst="rect">
            <a:avLst/>
          </a:prstGeom>
        </p:spPr>
      </p:pic>
      <p:sp>
        <p:nvSpPr>
          <p:cNvPr id="147" name="TextBox 146"/>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AB_Aaklac</a:t>
            </a:r>
          </a:p>
        </p:txBody>
      </p:sp>
      <p:sp>
        <p:nvSpPr>
          <p:cNvPr id="148" name="AB_DessertTree" descr="AB_DessertTree (AB_DessertTree)&#10;&#10;[no cached sprite]"/>
          <p:cNvSpPr/>
          <p:nvPr/>
        </p:nvSpPr>
        <p:spPr>
          <a:xfrm>
            <a:off x="2980943"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AB_DessertTree</a:t>
            </a:r>
          </a:p>
        </p:txBody>
      </p:sp>
      <p:sp>
        <p:nvSpPr>
          <p:cNvPr id="149" name="TextBox 148"/>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AB_DessertTree</a:t>
            </a:r>
          </a:p>
        </p:txBody>
      </p:sp>
      <p:sp>
        <p:nvSpPr>
          <p:cNvPr id="150" name="TextBox 149"/>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Ash'karr (`Desert`, **3,932 tiles** — MEASURED via `src/RimMandrake/Utils/biome_sheet_stats.py`, canon CSV + the 8 overlay plans; the 19% share is unmeasured by this pass) and the first on the dryness ladder with a real food web. Thematic handle: **the long shade**._ 🔑 **Read against `deep_desert.md`.** Deep desert is `ExtremeDesert`; this is `Desert`. They share regions and grade into each other, so **the biome def is the boundary, not the region name.** ⚠️ Only ~51% of the def's tiles currently fit this definition — see `WORLDMAP_DESERT_BAND_REPAIR_1`.</a:t>
            </a:r>
          </a:p>
        </p:txBody>
      </p:sp>
      <p:sp>
        <p:nvSpPr>
          <p:cNvPr id="151" name="TextBox 150"/>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(8): AA_GreatDevourer, AA_Groundrunner, AA_MatureFleshbeast, AA_SandLion, BMT_Stoneback, BMT_TruffleMole, JOE_Cephalope, JOE_Landopus.
INCONSISTENCIES:
1. 53 residents is the planet's biggest cast — spawn dilution; nobody will ever see the rare ones. Thin toward the reserve pool.
2. GreatDevourer + MatureFleshbeast are BOTH "sarlacc relatives", atop SandSquid/MammothWorm/SandLion/TruffleMole/Cephalope — seven subsurface ambushers, one niche.
3. JOE_Landopus "desert water defender" — the desert sheet has no water; its home is the oasis register (weeping_stones) or a placement rule.
4. Ban 3 (no pursuit predators): Groundrunner's name promises pursuit; verify its hunt is ambush/scavenge before admitting.
OPPORTUNITIES:
1. A sarlacc growth ladder (MatureFleshbeast → GreatDevourer → offmap Sarlacc) told as one organism turns niche-duplication into the biome's deepest lore hook.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the_rot</a:t>
            </a:r>
            <a:r>
              <a:rPr sz="1100">
                <a:solidFill>
                  <a:srgbClr val="B9A488"/>
                </a:solidFill>
              </a:rPr>
              <a:t>   14 animals · 32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mycoid colossus" descr="mycoid colossus (AA_MycoidColossus)&#10;drawSize 6.0 · assigned here · art:improve&#10;“Biggest. 10 squares.”"/>
          <p:cNvPicPr>
            <a:picLocks noChangeAspect="1"/>
          </p:cNvPicPr>
          <p:nvPr/>
        </p:nvPicPr>
        <p:blipFill>
          <a:blip r:embed="rId2"/>
          <a:stretch>
            <a:fillRect/>
          </a:stretch>
        </p:blipFill>
        <p:spPr>
          <a:xfrm>
            <a:off x="274320" y="932688"/>
            <a:ext cx="1899861" cy="1899861"/>
          </a:xfrm>
          <a:prstGeom prst="rect">
            <a:avLst/>
          </a:prstGeom>
        </p:spPr>
      </p:pic>
      <p:sp>
        <p:nvSpPr>
          <p:cNvPr id="5" name="Oval 4"/>
          <p:cNvSpPr/>
          <p:nvPr/>
        </p:nvSpPr>
        <p:spPr>
          <a:xfrm>
            <a:off x="2091885"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841693"/>
            <a:ext cx="1899861" cy="146304"/>
          </a:xfrm>
          <a:prstGeom prst="rect">
            <a:avLst/>
          </a:prstGeom>
          <a:noFill/>
        </p:spPr>
        <p:txBody>
          <a:bodyPr wrap="none">
            <a:spAutoFit/>
          </a:bodyPr>
          <a:lstStyle/>
          <a:p>
            <a:pPr algn="ctr"/>
            <a:r>
              <a:rPr sz="600">
                <a:solidFill>
                  <a:srgbClr val="B9A488"/>
                </a:solidFill>
              </a:rPr>
              <a:t>mycoid colossus</a:t>
            </a:r>
          </a:p>
        </p:txBody>
      </p:sp>
      <p:pic>
        <p:nvPicPr>
          <p:cNvPr id="7" name="agaripod" descr="agaripod (AA_Agaripod)&#10;drawSize 4.0 · assigned here · art:improve&#10;“8 squares”"/>
          <p:cNvPicPr>
            <a:picLocks noChangeAspect="1"/>
          </p:cNvPicPr>
          <p:nvPr/>
        </p:nvPicPr>
        <p:blipFill>
          <a:blip r:embed="rId3"/>
          <a:stretch>
            <a:fillRect/>
          </a:stretch>
        </p:blipFill>
        <p:spPr>
          <a:xfrm>
            <a:off x="2302197" y="932688"/>
            <a:ext cx="1899861" cy="1899861"/>
          </a:xfrm>
          <a:prstGeom prst="rect">
            <a:avLst/>
          </a:prstGeom>
        </p:spPr>
      </p:pic>
      <p:sp>
        <p:nvSpPr>
          <p:cNvPr id="8" name="Oval 7"/>
          <p:cNvSpPr/>
          <p:nvPr/>
        </p:nvSpPr>
        <p:spPr>
          <a:xfrm>
            <a:off x="4119763"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02197" y="2841693"/>
            <a:ext cx="1899861" cy="146304"/>
          </a:xfrm>
          <a:prstGeom prst="rect">
            <a:avLst/>
          </a:prstGeom>
          <a:noFill/>
        </p:spPr>
        <p:txBody>
          <a:bodyPr wrap="none">
            <a:spAutoFit/>
          </a:bodyPr>
          <a:lstStyle/>
          <a:p>
            <a:pPr algn="ctr"/>
            <a:r>
              <a:rPr sz="600">
                <a:solidFill>
                  <a:srgbClr val="B9A488"/>
                </a:solidFill>
              </a:rPr>
              <a:t>agaripod</a:t>
            </a:r>
          </a:p>
        </p:txBody>
      </p:sp>
      <p:pic>
        <p:nvPicPr>
          <p:cNvPr id="10" name="wildpod" descr="wildpod (AA_Wildpod)&#10;drawSize 4.0 · assigned here · art:improve&#10;“8 squares”"/>
          <p:cNvPicPr>
            <a:picLocks noChangeAspect="1"/>
          </p:cNvPicPr>
          <p:nvPr/>
        </p:nvPicPr>
        <p:blipFill>
          <a:blip r:embed="rId4"/>
          <a:stretch>
            <a:fillRect/>
          </a:stretch>
        </p:blipFill>
        <p:spPr>
          <a:xfrm>
            <a:off x="4330075" y="932688"/>
            <a:ext cx="1899861" cy="1899861"/>
          </a:xfrm>
          <a:prstGeom prst="rect">
            <a:avLst/>
          </a:prstGeom>
        </p:spPr>
      </p:pic>
      <p:sp>
        <p:nvSpPr>
          <p:cNvPr id="11" name="Oval 10"/>
          <p:cNvSpPr/>
          <p:nvPr/>
        </p:nvSpPr>
        <p:spPr>
          <a:xfrm>
            <a:off x="6147641"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0075" y="2841693"/>
            <a:ext cx="1899861" cy="146304"/>
          </a:xfrm>
          <a:prstGeom prst="rect">
            <a:avLst/>
          </a:prstGeom>
          <a:noFill/>
        </p:spPr>
        <p:txBody>
          <a:bodyPr wrap="none">
            <a:spAutoFit/>
          </a:bodyPr>
          <a:lstStyle/>
          <a:p>
            <a:pPr algn="ctr"/>
            <a:r>
              <a:rPr sz="600">
                <a:solidFill>
                  <a:srgbClr val="B9A488"/>
                </a:solidFill>
              </a:rPr>
              <a:t>wildpod</a:t>
            </a:r>
          </a:p>
        </p:txBody>
      </p:sp>
      <p:pic>
        <p:nvPicPr>
          <p:cNvPr id="13" name="bovine beetle" descr="bovine beetle (BMT_BovineBeetle)&#10;drawSize 2.450000047683716 · assigned here · art:improve"/>
          <p:cNvPicPr>
            <a:picLocks noChangeAspect="1"/>
          </p:cNvPicPr>
          <p:nvPr/>
        </p:nvPicPr>
        <p:blipFill>
          <a:blip r:embed="rId5"/>
          <a:stretch>
            <a:fillRect/>
          </a:stretch>
        </p:blipFill>
        <p:spPr>
          <a:xfrm>
            <a:off x="6357953" y="1630095"/>
            <a:ext cx="1202454" cy="1202454"/>
          </a:xfrm>
          <a:prstGeom prst="rect">
            <a:avLst/>
          </a:prstGeom>
        </p:spPr>
      </p:pic>
      <p:sp>
        <p:nvSpPr>
          <p:cNvPr id="14" name="Oval 13"/>
          <p:cNvSpPr/>
          <p:nvPr/>
        </p:nvSpPr>
        <p:spPr>
          <a:xfrm>
            <a:off x="7478112" y="161180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7953" y="2841693"/>
            <a:ext cx="1202454" cy="146304"/>
          </a:xfrm>
          <a:prstGeom prst="rect">
            <a:avLst/>
          </a:prstGeom>
          <a:noFill/>
        </p:spPr>
        <p:txBody>
          <a:bodyPr wrap="none">
            <a:spAutoFit/>
          </a:bodyPr>
          <a:lstStyle/>
          <a:p>
            <a:pPr algn="ctr"/>
            <a:r>
              <a:rPr sz="600">
                <a:solidFill>
                  <a:srgbClr val="B9A488"/>
                </a:solidFill>
              </a:rPr>
              <a:t>bovine beetle</a:t>
            </a:r>
          </a:p>
        </p:txBody>
      </p:sp>
      <p:pic>
        <p:nvPicPr>
          <p:cNvPr id="16" name="fungal mimic mantis" descr="fungal mimic mantis (BMT_FungalMantis)&#10;drawSize 2.0 · assigned here · art:improve"/>
          <p:cNvPicPr>
            <a:picLocks noChangeAspect="1"/>
          </p:cNvPicPr>
          <p:nvPr/>
        </p:nvPicPr>
        <p:blipFill>
          <a:blip r:embed="rId6"/>
          <a:stretch>
            <a:fillRect/>
          </a:stretch>
        </p:blipFill>
        <p:spPr>
          <a:xfrm>
            <a:off x="7688424" y="1850954"/>
            <a:ext cx="981595" cy="981595"/>
          </a:xfrm>
          <a:prstGeom prst="rect">
            <a:avLst/>
          </a:prstGeom>
        </p:spPr>
      </p:pic>
      <p:sp>
        <p:nvSpPr>
          <p:cNvPr id="17" name="Oval 16"/>
          <p:cNvSpPr/>
          <p:nvPr/>
        </p:nvSpPr>
        <p:spPr>
          <a:xfrm>
            <a:off x="8587723" y="183266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8424" y="2841693"/>
            <a:ext cx="981595" cy="146304"/>
          </a:xfrm>
          <a:prstGeom prst="rect">
            <a:avLst/>
          </a:prstGeom>
          <a:noFill/>
        </p:spPr>
        <p:txBody>
          <a:bodyPr wrap="none">
            <a:spAutoFit/>
          </a:bodyPr>
          <a:lstStyle/>
          <a:p>
            <a:pPr algn="ctr"/>
            <a:r>
              <a:rPr sz="600">
                <a:solidFill>
                  <a:srgbClr val="B9A488"/>
                </a:solidFill>
              </a:rPr>
              <a:t>fungal mimic man</a:t>
            </a:r>
          </a:p>
        </p:txBody>
      </p:sp>
      <p:pic>
        <p:nvPicPr>
          <p:cNvPr id="19" name="agaripawn" descr="agaripawn (AA_Agaripawn)&#10;drawSize 1.399999976158142 · assigned here · art:keep"/>
          <p:cNvPicPr>
            <a:picLocks noChangeAspect="1"/>
          </p:cNvPicPr>
          <p:nvPr/>
        </p:nvPicPr>
        <p:blipFill>
          <a:blip r:embed="rId7"/>
          <a:stretch>
            <a:fillRect/>
          </a:stretch>
        </p:blipFill>
        <p:spPr>
          <a:xfrm>
            <a:off x="8798035" y="2145433"/>
            <a:ext cx="687116" cy="687116"/>
          </a:xfrm>
          <a:prstGeom prst="rect">
            <a:avLst/>
          </a:prstGeom>
        </p:spPr>
      </p:pic>
      <p:sp>
        <p:nvSpPr>
          <p:cNvPr id="20" name="Oval 19"/>
          <p:cNvSpPr/>
          <p:nvPr/>
        </p:nvSpPr>
        <p:spPr>
          <a:xfrm>
            <a:off x="9402856" y="212714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98035" y="2841693"/>
            <a:ext cx="687116" cy="146304"/>
          </a:xfrm>
          <a:prstGeom prst="rect">
            <a:avLst/>
          </a:prstGeom>
          <a:noFill/>
        </p:spPr>
        <p:txBody>
          <a:bodyPr wrap="none">
            <a:spAutoFit/>
          </a:bodyPr>
          <a:lstStyle/>
          <a:p>
            <a:pPr algn="ctr"/>
            <a:r>
              <a:rPr sz="600">
                <a:solidFill>
                  <a:srgbClr val="B9A488"/>
                </a:solidFill>
              </a:rPr>
              <a:t>agaripawn</a:t>
            </a:r>
          </a:p>
        </p:txBody>
      </p:sp>
      <p:pic>
        <p:nvPicPr>
          <p:cNvPr id="22" name="wildpawn" descr="wildpawn (AA_Wildpawn)&#10;drawSize 1.399999976158142 · assigned here · art:keep"/>
          <p:cNvPicPr>
            <a:picLocks noChangeAspect="1"/>
          </p:cNvPicPr>
          <p:nvPr/>
        </p:nvPicPr>
        <p:blipFill>
          <a:blip r:embed="rId8"/>
          <a:stretch>
            <a:fillRect/>
          </a:stretch>
        </p:blipFill>
        <p:spPr>
          <a:xfrm>
            <a:off x="9613168" y="2145433"/>
            <a:ext cx="687116" cy="687116"/>
          </a:xfrm>
          <a:prstGeom prst="rect">
            <a:avLst/>
          </a:prstGeom>
        </p:spPr>
      </p:pic>
      <p:sp>
        <p:nvSpPr>
          <p:cNvPr id="23" name="Oval 22"/>
          <p:cNvSpPr/>
          <p:nvPr/>
        </p:nvSpPr>
        <p:spPr>
          <a:xfrm>
            <a:off x="10217988" y="212714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3168" y="2841693"/>
            <a:ext cx="687116" cy="146304"/>
          </a:xfrm>
          <a:prstGeom prst="rect">
            <a:avLst/>
          </a:prstGeom>
          <a:noFill/>
        </p:spPr>
        <p:txBody>
          <a:bodyPr wrap="none">
            <a:spAutoFit/>
          </a:bodyPr>
          <a:lstStyle/>
          <a:p>
            <a:pPr algn="ctr"/>
            <a:r>
              <a:rPr sz="600">
                <a:solidFill>
                  <a:srgbClr val="B9A488"/>
                </a:solidFill>
              </a:rPr>
              <a:t>wildpawn</a:t>
            </a:r>
          </a:p>
        </p:txBody>
      </p:sp>
      <p:pic>
        <p:nvPicPr>
          <p:cNvPr id="25" name="pustule queen" descr="pustule queen (BMT_ColonyPustuleHornetQueen)&#10;drawSize 1.0 · moved in from wasteland · art:improve&#10;“The Rot”"/>
          <p:cNvPicPr>
            <a:picLocks noChangeAspect="1"/>
          </p:cNvPicPr>
          <p:nvPr/>
        </p:nvPicPr>
        <p:blipFill>
          <a:blip r:embed="rId9"/>
          <a:stretch>
            <a:fillRect/>
          </a:stretch>
        </p:blipFill>
        <p:spPr>
          <a:xfrm>
            <a:off x="10428300" y="2341752"/>
            <a:ext cx="490797" cy="490797"/>
          </a:xfrm>
          <a:prstGeom prst="rect">
            <a:avLst/>
          </a:prstGeom>
        </p:spPr>
      </p:pic>
      <p:sp>
        <p:nvSpPr>
          <p:cNvPr id="26" name="Oval 25"/>
          <p:cNvSpPr/>
          <p:nvPr/>
        </p:nvSpPr>
        <p:spPr>
          <a:xfrm>
            <a:off x="10836802" y="2323464"/>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28300" y="2841693"/>
            <a:ext cx="640080" cy="146304"/>
          </a:xfrm>
          <a:prstGeom prst="rect">
            <a:avLst/>
          </a:prstGeom>
          <a:noFill/>
        </p:spPr>
        <p:txBody>
          <a:bodyPr wrap="none">
            <a:spAutoFit/>
          </a:bodyPr>
          <a:lstStyle/>
          <a:p>
            <a:pPr algn="ctr"/>
            <a:r>
              <a:rPr sz="600">
                <a:solidFill>
                  <a:srgbClr val="B9A488"/>
                </a:solidFill>
              </a:rPr>
              <a:t>pustule queen</a:t>
            </a:r>
          </a:p>
        </p:txBody>
      </p:sp>
      <p:pic>
        <p:nvPicPr>
          <p:cNvPr id="28" name="pustule queen" descr="pustule queen (BMT_PustuleHornetQueen)&#10;drawSize 1.0 · moved in from wasteland · art:improve&#10;“The Rot”"/>
          <p:cNvPicPr>
            <a:picLocks noChangeAspect="1"/>
          </p:cNvPicPr>
          <p:nvPr/>
        </p:nvPicPr>
        <p:blipFill>
          <a:blip r:embed="rId9"/>
          <a:stretch>
            <a:fillRect/>
          </a:stretch>
        </p:blipFill>
        <p:spPr>
          <a:xfrm>
            <a:off x="11047114" y="2341752"/>
            <a:ext cx="490797" cy="490797"/>
          </a:xfrm>
          <a:prstGeom prst="rect">
            <a:avLst/>
          </a:prstGeom>
        </p:spPr>
      </p:pic>
      <p:sp>
        <p:nvSpPr>
          <p:cNvPr id="29" name="Oval 28"/>
          <p:cNvSpPr/>
          <p:nvPr/>
        </p:nvSpPr>
        <p:spPr>
          <a:xfrm>
            <a:off x="11455616" y="2323464"/>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47114" y="2841693"/>
            <a:ext cx="640080" cy="146304"/>
          </a:xfrm>
          <a:prstGeom prst="rect">
            <a:avLst/>
          </a:prstGeom>
          <a:noFill/>
        </p:spPr>
        <p:txBody>
          <a:bodyPr wrap="none">
            <a:spAutoFit/>
          </a:bodyPr>
          <a:lstStyle/>
          <a:p>
            <a:pPr algn="ctr"/>
            <a:r>
              <a:rPr sz="600">
                <a:solidFill>
                  <a:srgbClr val="B9A488"/>
                </a:solidFill>
              </a:rPr>
              <a:t>pustule queen</a:t>
            </a:r>
          </a:p>
        </p:txBody>
      </p:sp>
      <p:pic>
        <p:nvPicPr>
          <p:cNvPr id="31" name="shiro-trap" descr="shiro-trap (ShiroTrap)&#10;drawSize 0.75 · moved in from the_greentide · art:improve&#10;“The Rot”"/>
          <p:cNvPicPr>
            <a:picLocks noChangeAspect="1"/>
          </p:cNvPicPr>
          <p:nvPr/>
        </p:nvPicPr>
        <p:blipFill>
          <a:blip r:embed="rId10"/>
          <a:stretch>
            <a:fillRect/>
          </a:stretch>
        </p:blipFill>
        <p:spPr>
          <a:xfrm>
            <a:off x="274320" y="3070293"/>
            <a:ext cx="368098" cy="368098"/>
          </a:xfrm>
          <a:prstGeom prst="rect">
            <a:avLst/>
          </a:prstGeom>
        </p:spPr>
      </p:pic>
      <p:sp>
        <p:nvSpPr>
          <p:cNvPr id="32" name="Oval 31"/>
          <p:cNvSpPr/>
          <p:nvPr/>
        </p:nvSpPr>
        <p:spPr>
          <a:xfrm>
            <a:off x="560122" y="3052005"/>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3447536"/>
            <a:ext cx="640080" cy="146304"/>
          </a:xfrm>
          <a:prstGeom prst="rect">
            <a:avLst/>
          </a:prstGeom>
          <a:noFill/>
        </p:spPr>
        <p:txBody>
          <a:bodyPr wrap="none">
            <a:spAutoFit/>
          </a:bodyPr>
          <a:lstStyle/>
          <a:p>
            <a:pPr algn="ctr"/>
            <a:r>
              <a:rPr sz="600">
                <a:solidFill>
                  <a:srgbClr val="B9A488"/>
                </a:solidFill>
              </a:rPr>
              <a:t>shiro-trap</a:t>
            </a:r>
          </a:p>
        </p:txBody>
      </p:sp>
      <p:pic>
        <p:nvPicPr>
          <p:cNvPr id="34" name="fungal weevil" descr="fungal weevil (BMT_FungalWeevil)&#10;drawSize 0.5 · assigned here · art:keep"/>
          <p:cNvPicPr>
            <a:picLocks noChangeAspect="1"/>
          </p:cNvPicPr>
          <p:nvPr/>
        </p:nvPicPr>
        <p:blipFill>
          <a:blip r:embed="rId11"/>
          <a:stretch>
            <a:fillRect/>
          </a:stretch>
        </p:blipFill>
        <p:spPr>
          <a:xfrm>
            <a:off x="770434" y="3185077"/>
            <a:ext cx="253314" cy="253314"/>
          </a:xfrm>
          <a:prstGeom prst="rect">
            <a:avLst/>
          </a:prstGeom>
        </p:spPr>
      </p:pic>
      <p:sp>
        <p:nvSpPr>
          <p:cNvPr id="35" name="Oval 34"/>
          <p:cNvSpPr/>
          <p:nvPr/>
        </p:nvSpPr>
        <p:spPr>
          <a:xfrm>
            <a:off x="941453" y="316678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0434" y="3447536"/>
            <a:ext cx="640080" cy="146304"/>
          </a:xfrm>
          <a:prstGeom prst="rect">
            <a:avLst/>
          </a:prstGeom>
          <a:noFill/>
        </p:spPr>
        <p:txBody>
          <a:bodyPr wrap="none">
            <a:spAutoFit/>
          </a:bodyPr>
          <a:lstStyle/>
          <a:p>
            <a:pPr algn="ctr"/>
            <a:r>
              <a:rPr sz="600">
                <a:solidFill>
                  <a:srgbClr val="B9A488"/>
                </a:solidFill>
              </a:rPr>
              <a:t>fungal weevil</a:t>
            </a:r>
          </a:p>
        </p:txBody>
      </p:sp>
      <p:pic>
        <p:nvPicPr>
          <p:cNvPr id="37" name="pustule hornet" descr="pustule hornet (BMT_PustuleHornetSpawned)&#10;drawSize 0.3199999928474426 · moved in from wasteland · art:improve&#10;“The Rot”"/>
          <p:cNvPicPr>
            <a:picLocks noChangeAspect="1"/>
          </p:cNvPicPr>
          <p:nvPr/>
        </p:nvPicPr>
        <p:blipFill>
          <a:blip r:embed="rId12"/>
          <a:stretch>
            <a:fillRect/>
          </a:stretch>
        </p:blipFill>
        <p:spPr>
          <a:xfrm>
            <a:off x="1151765" y="3185077"/>
            <a:ext cx="253314" cy="253314"/>
          </a:xfrm>
          <a:prstGeom prst="rect">
            <a:avLst/>
          </a:prstGeom>
        </p:spPr>
      </p:pic>
      <p:sp>
        <p:nvSpPr>
          <p:cNvPr id="38" name="Oval 37"/>
          <p:cNvSpPr/>
          <p:nvPr/>
        </p:nvSpPr>
        <p:spPr>
          <a:xfrm>
            <a:off x="1322784" y="3166789"/>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51765" y="3447536"/>
            <a:ext cx="640080" cy="146304"/>
          </a:xfrm>
          <a:prstGeom prst="rect">
            <a:avLst/>
          </a:prstGeom>
          <a:noFill/>
        </p:spPr>
        <p:txBody>
          <a:bodyPr wrap="none">
            <a:spAutoFit/>
          </a:bodyPr>
          <a:lstStyle/>
          <a:p>
            <a:pPr algn="ctr"/>
            <a:r>
              <a:rPr sz="600">
                <a:solidFill>
                  <a:srgbClr val="B9A488"/>
                </a:solidFill>
              </a:rPr>
              <a:t>pustule hornet</a:t>
            </a:r>
          </a:p>
        </p:txBody>
      </p:sp>
      <p:pic>
        <p:nvPicPr>
          <p:cNvPr id="40" name="swarmling" descr="swarmling (AA_Swarmling)&#10;drawSize 0.30000001192092896 · assigned here · art:keep"/>
          <p:cNvPicPr>
            <a:picLocks noChangeAspect="1"/>
          </p:cNvPicPr>
          <p:nvPr/>
        </p:nvPicPr>
        <p:blipFill>
          <a:blip r:embed="rId13"/>
          <a:stretch>
            <a:fillRect/>
          </a:stretch>
        </p:blipFill>
        <p:spPr>
          <a:xfrm>
            <a:off x="1533096" y="3185077"/>
            <a:ext cx="253314" cy="253314"/>
          </a:xfrm>
          <a:prstGeom prst="rect">
            <a:avLst/>
          </a:prstGeom>
        </p:spPr>
      </p:pic>
      <p:sp>
        <p:nvSpPr>
          <p:cNvPr id="41" name="Oval 40"/>
          <p:cNvSpPr/>
          <p:nvPr/>
        </p:nvSpPr>
        <p:spPr>
          <a:xfrm>
            <a:off x="1704115" y="316678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33096" y="3447536"/>
            <a:ext cx="640080" cy="146304"/>
          </a:xfrm>
          <a:prstGeom prst="rect">
            <a:avLst/>
          </a:prstGeom>
          <a:noFill/>
        </p:spPr>
        <p:txBody>
          <a:bodyPr wrap="none">
            <a:spAutoFit/>
          </a:bodyPr>
          <a:lstStyle/>
          <a:p>
            <a:pPr algn="ctr"/>
            <a:r>
              <a:rPr sz="600">
                <a:solidFill>
                  <a:srgbClr val="B9A488"/>
                </a:solidFill>
              </a:rPr>
              <a:t>swarmling</a:t>
            </a:r>
          </a:p>
        </p:txBody>
      </p:sp>
      <p:pic>
        <p:nvPicPr>
          <p:cNvPr id="43" name="bioluminescent bat" descr="bioluminescent bat (BMT_GlowBat)&#10;drawSize 0.25 · assigned here · art:keep"/>
          <p:cNvPicPr>
            <a:picLocks noChangeAspect="1"/>
          </p:cNvPicPr>
          <p:nvPr/>
        </p:nvPicPr>
        <p:blipFill>
          <a:blip r:embed="rId14"/>
          <a:stretch>
            <a:fillRect/>
          </a:stretch>
        </p:blipFill>
        <p:spPr>
          <a:xfrm>
            <a:off x="1914427" y="3185077"/>
            <a:ext cx="253314" cy="253314"/>
          </a:xfrm>
          <a:prstGeom prst="rect">
            <a:avLst/>
          </a:prstGeom>
        </p:spPr>
      </p:pic>
      <p:sp>
        <p:nvSpPr>
          <p:cNvPr id="44" name="Oval 43"/>
          <p:cNvSpPr/>
          <p:nvPr/>
        </p:nvSpPr>
        <p:spPr>
          <a:xfrm>
            <a:off x="2085445" y="316678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14427" y="3447536"/>
            <a:ext cx="640080" cy="146304"/>
          </a:xfrm>
          <a:prstGeom prst="rect">
            <a:avLst/>
          </a:prstGeom>
          <a:noFill/>
        </p:spPr>
        <p:txBody>
          <a:bodyPr wrap="none">
            <a:spAutoFit/>
          </a:bodyPr>
          <a:lstStyle/>
          <a:p>
            <a:pPr algn="ctr"/>
            <a:r>
              <a:rPr sz="600">
                <a:solidFill>
                  <a:srgbClr val="B9A488"/>
                </a:solidFill>
              </a:rPr>
              <a:t>bioluminescent b</a:t>
            </a:r>
          </a:p>
        </p:txBody>
      </p:sp>
      <p:sp>
        <p:nvSpPr>
          <p:cNvPr id="46" name="TextBox 45"/>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47" name="BMT_Dewshrooms" descr="BMT_Dewshrooms (BMT_Dewshrooms)&#10;"/>
          <p:cNvPicPr>
            <a:picLocks noChangeAspect="1"/>
          </p:cNvPicPr>
          <p:nvPr/>
        </p:nvPicPr>
        <p:blipFill>
          <a:blip r:embed="rId15"/>
          <a:stretch>
            <a:fillRect/>
          </a:stretch>
        </p:blipFill>
        <p:spPr>
          <a:xfrm>
            <a:off x="274320" y="3822191"/>
            <a:ext cx="274319" cy="274319"/>
          </a:xfrm>
          <a:prstGeom prst="rect">
            <a:avLst/>
          </a:prstGeom>
        </p:spPr>
      </p:pic>
      <p:sp>
        <p:nvSpPr>
          <p:cNvPr id="48" name="TextBox 47"/>
          <p:cNvSpPr txBox="1"/>
          <p:nvPr/>
        </p:nvSpPr>
        <p:spPr>
          <a:xfrm>
            <a:off x="274320" y="4105655"/>
            <a:ext cx="640080" cy="146304"/>
          </a:xfrm>
          <a:prstGeom prst="rect">
            <a:avLst/>
          </a:prstGeom>
          <a:noFill/>
        </p:spPr>
        <p:txBody>
          <a:bodyPr wrap="none">
            <a:spAutoFit/>
          </a:bodyPr>
          <a:lstStyle/>
          <a:p>
            <a:pPr algn="ctr"/>
            <a:r>
              <a:rPr sz="600">
                <a:solidFill>
                  <a:srgbClr val="B9A488"/>
                </a:solidFill>
              </a:rPr>
              <a:t>BMT_Dewshrooms</a:t>
            </a:r>
          </a:p>
        </p:txBody>
      </p:sp>
      <p:pic>
        <p:nvPicPr>
          <p:cNvPr id="49" name="BMT_FruitingBodies" descr="BMT_FruitingBodies (BMT_FruitingBodies)&#10;"/>
          <p:cNvPicPr>
            <a:picLocks noChangeAspect="1"/>
          </p:cNvPicPr>
          <p:nvPr/>
        </p:nvPicPr>
        <p:blipFill>
          <a:blip r:embed="rId16"/>
          <a:stretch>
            <a:fillRect/>
          </a:stretch>
        </p:blipFill>
        <p:spPr>
          <a:xfrm>
            <a:off x="676656" y="3822191"/>
            <a:ext cx="274319" cy="274319"/>
          </a:xfrm>
          <a:prstGeom prst="rect">
            <a:avLst/>
          </a:prstGeom>
        </p:spPr>
      </p:pic>
      <p:sp>
        <p:nvSpPr>
          <p:cNvPr id="50" name="TextBox 49"/>
          <p:cNvSpPr txBox="1"/>
          <p:nvPr/>
        </p:nvSpPr>
        <p:spPr>
          <a:xfrm>
            <a:off x="676656" y="4105655"/>
            <a:ext cx="640080" cy="146304"/>
          </a:xfrm>
          <a:prstGeom prst="rect">
            <a:avLst/>
          </a:prstGeom>
          <a:noFill/>
        </p:spPr>
        <p:txBody>
          <a:bodyPr wrap="none">
            <a:spAutoFit/>
          </a:bodyPr>
          <a:lstStyle/>
          <a:p>
            <a:pPr algn="ctr"/>
            <a:r>
              <a:rPr sz="600">
                <a:solidFill>
                  <a:srgbClr val="B9A488"/>
                </a:solidFill>
              </a:rPr>
              <a:t>BMT_FruitingBodi</a:t>
            </a:r>
          </a:p>
        </p:txBody>
      </p:sp>
      <p:pic>
        <p:nvPicPr>
          <p:cNvPr id="51" name="BMT_Sagecrust" descr="BMT_Sagecrust (BMT_Sagecrust)&#10;"/>
          <p:cNvPicPr>
            <a:picLocks noChangeAspect="1"/>
          </p:cNvPicPr>
          <p:nvPr/>
        </p:nvPicPr>
        <p:blipFill>
          <a:blip r:embed="rId17"/>
          <a:stretch>
            <a:fillRect/>
          </a:stretch>
        </p:blipFill>
        <p:spPr>
          <a:xfrm>
            <a:off x="1078992" y="3822191"/>
            <a:ext cx="274319" cy="274319"/>
          </a:xfrm>
          <a:prstGeom prst="rect">
            <a:avLst/>
          </a:prstGeom>
        </p:spPr>
      </p:pic>
      <p:sp>
        <p:nvSpPr>
          <p:cNvPr id="52" name="TextBox 51"/>
          <p:cNvSpPr txBox="1"/>
          <p:nvPr/>
        </p:nvSpPr>
        <p:spPr>
          <a:xfrm>
            <a:off x="1078992" y="4105655"/>
            <a:ext cx="640080" cy="146304"/>
          </a:xfrm>
          <a:prstGeom prst="rect">
            <a:avLst/>
          </a:prstGeom>
          <a:noFill/>
        </p:spPr>
        <p:txBody>
          <a:bodyPr wrap="none">
            <a:spAutoFit/>
          </a:bodyPr>
          <a:lstStyle/>
          <a:p>
            <a:pPr algn="ctr"/>
            <a:r>
              <a:rPr sz="600">
                <a:solidFill>
                  <a:srgbClr val="B9A488"/>
                </a:solidFill>
              </a:rPr>
              <a:t>BMT_Sagecrust</a:t>
            </a:r>
          </a:p>
        </p:txBody>
      </p:sp>
      <p:pic>
        <p:nvPicPr>
          <p:cNvPr id="53" name="BMT_Nuitae" descr="BMT_Nuitae (BMT_Nuitae)&#10;"/>
          <p:cNvPicPr>
            <a:picLocks noChangeAspect="1"/>
          </p:cNvPicPr>
          <p:nvPr/>
        </p:nvPicPr>
        <p:blipFill>
          <a:blip r:embed="rId18"/>
          <a:stretch>
            <a:fillRect/>
          </a:stretch>
        </p:blipFill>
        <p:spPr>
          <a:xfrm>
            <a:off x="1481328" y="3822191"/>
            <a:ext cx="274319" cy="274319"/>
          </a:xfrm>
          <a:prstGeom prst="rect">
            <a:avLst/>
          </a:prstGeom>
        </p:spPr>
      </p:pic>
      <p:sp>
        <p:nvSpPr>
          <p:cNvPr id="54" name="TextBox 53"/>
          <p:cNvSpPr txBox="1"/>
          <p:nvPr/>
        </p:nvSpPr>
        <p:spPr>
          <a:xfrm>
            <a:off x="1481328" y="4105655"/>
            <a:ext cx="640080" cy="146304"/>
          </a:xfrm>
          <a:prstGeom prst="rect">
            <a:avLst/>
          </a:prstGeom>
          <a:noFill/>
        </p:spPr>
        <p:txBody>
          <a:bodyPr wrap="none">
            <a:spAutoFit/>
          </a:bodyPr>
          <a:lstStyle/>
          <a:p>
            <a:pPr algn="ctr"/>
            <a:r>
              <a:rPr sz="600">
                <a:solidFill>
                  <a:srgbClr val="B9A488"/>
                </a:solidFill>
              </a:rPr>
              <a:t>BMT_Nuitae</a:t>
            </a:r>
          </a:p>
        </p:txBody>
      </p:sp>
      <p:pic>
        <p:nvPicPr>
          <p:cNvPr id="55" name="BMT_RustPuff" descr="BMT_RustPuff (BMT_RustPuff)&#10;"/>
          <p:cNvPicPr>
            <a:picLocks noChangeAspect="1"/>
          </p:cNvPicPr>
          <p:nvPr/>
        </p:nvPicPr>
        <p:blipFill>
          <a:blip r:embed="rId19"/>
          <a:stretch>
            <a:fillRect/>
          </a:stretch>
        </p:blipFill>
        <p:spPr>
          <a:xfrm>
            <a:off x="1883663" y="3822191"/>
            <a:ext cx="274319" cy="274319"/>
          </a:xfrm>
          <a:prstGeom prst="rect">
            <a:avLst/>
          </a:prstGeom>
        </p:spPr>
      </p:pic>
      <p:sp>
        <p:nvSpPr>
          <p:cNvPr id="56" name="TextBox 55"/>
          <p:cNvSpPr txBox="1"/>
          <p:nvPr/>
        </p:nvSpPr>
        <p:spPr>
          <a:xfrm>
            <a:off x="1883663" y="4105655"/>
            <a:ext cx="640080" cy="146304"/>
          </a:xfrm>
          <a:prstGeom prst="rect">
            <a:avLst/>
          </a:prstGeom>
          <a:noFill/>
        </p:spPr>
        <p:txBody>
          <a:bodyPr wrap="none">
            <a:spAutoFit/>
          </a:bodyPr>
          <a:lstStyle/>
          <a:p>
            <a:pPr algn="ctr"/>
            <a:r>
              <a:rPr sz="600">
                <a:solidFill>
                  <a:srgbClr val="B9A488"/>
                </a:solidFill>
              </a:rPr>
              <a:t>BMT_RustPuff</a:t>
            </a:r>
          </a:p>
        </p:txBody>
      </p:sp>
      <p:pic>
        <p:nvPicPr>
          <p:cNvPr id="57" name="AB_Glowstool" descr="AB_Glowstool (AB_Glowstool)&#10;"/>
          <p:cNvPicPr>
            <a:picLocks noChangeAspect="1"/>
          </p:cNvPicPr>
          <p:nvPr/>
        </p:nvPicPr>
        <p:blipFill>
          <a:blip r:embed="rId20"/>
          <a:stretch>
            <a:fillRect/>
          </a:stretch>
        </p:blipFill>
        <p:spPr>
          <a:xfrm>
            <a:off x="2285999" y="3822191"/>
            <a:ext cx="274319" cy="274319"/>
          </a:xfrm>
          <a:prstGeom prst="rect">
            <a:avLst/>
          </a:prstGeom>
        </p:spPr>
      </p:pic>
      <p:sp>
        <p:nvSpPr>
          <p:cNvPr id="58" name="TextBox 57"/>
          <p:cNvSpPr txBox="1"/>
          <p:nvPr/>
        </p:nvSpPr>
        <p:spPr>
          <a:xfrm>
            <a:off x="2285999" y="4105655"/>
            <a:ext cx="640080" cy="146304"/>
          </a:xfrm>
          <a:prstGeom prst="rect">
            <a:avLst/>
          </a:prstGeom>
          <a:noFill/>
        </p:spPr>
        <p:txBody>
          <a:bodyPr wrap="none">
            <a:spAutoFit/>
          </a:bodyPr>
          <a:lstStyle/>
          <a:p>
            <a:pPr algn="ctr"/>
            <a:r>
              <a:rPr sz="600">
                <a:solidFill>
                  <a:srgbClr val="B9A488"/>
                </a:solidFill>
              </a:rPr>
              <a:t>AB_Glowstool</a:t>
            </a:r>
          </a:p>
        </p:txBody>
      </p:sp>
      <p:pic>
        <p:nvPicPr>
          <p:cNvPr id="59" name="BMT_Pusmelon" descr="BMT_Pusmelon (BMT_Pusmelon)&#10;"/>
          <p:cNvPicPr>
            <a:picLocks noChangeAspect="1"/>
          </p:cNvPicPr>
          <p:nvPr/>
        </p:nvPicPr>
        <p:blipFill>
          <a:blip r:embed="rId21"/>
          <a:stretch>
            <a:fillRect/>
          </a:stretch>
        </p:blipFill>
        <p:spPr>
          <a:xfrm>
            <a:off x="2688335" y="3822191"/>
            <a:ext cx="274319" cy="274319"/>
          </a:xfrm>
          <a:prstGeom prst="rect">
            <a:avLst/>
          </a:prstGeom>
        </p:spPr>
      </p:pic>
      <p:sp>
        <p:nvSpPr>
          <p:cNvPr id="60" name="TextBox 59"/>
          <p:cNvSpPr txBox="1"/>
          <p:nvPr/>
        </p:nvSpPr>
        <p:spPr>
          <a:xfrm>
            <a:off x="2688335" y="4105655"/>
            <a:ext cx="640080" cy="146304"/>
          </a:xfrm>
          <a:prstGeom prst="rect">
            <a:avLst/>
          </a:prstGeom>
          <a:noFill/>
        </p:spPr>
        <p:txBody>
          <a:bodyPr wrap="none">
            <a:spAutoFit/>
          </a:bodyPr>
          <a:lstStyle/>
          <a:p>
            <a:pPr algn="ctr"/>
            <a:r>
              <a:rPr sz="600">
                <a:solidFill>
                  <a:srgbClr val="B9A488"/>
                </a:solidFill>
              </a:rPr>
              <a:t>BMT_Pusmelon</a:t>
            </a:r>
          </a:p>
        </p:txBody>
      </p:sp>
      <p:sp>
        <p:nvSpPr>
          <p:cNvPr id="61" name="BMT_Skulltop" descr="BMT_Skulltop (BMT_Skulltop)&#10;&#10;[no cached sprite]"/>
          <p:cNvSpPr/>
          <p:nvPr/>
        </p:nvSpPr>
        <p:spPr>
          <a:xfrm>
            <a:off x="3090671"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BMT_Skulltop</a:t>
            </a:r>
          </a:p>
        </p:txBody>
      </p:sp>
      <p:sp>
        <p:nvSpPr>
          <p:cNvPr id="62" name="TextBox 61"/>
          <p:cNvSpPr txBox="1"/>
          <p:nvPr/>
        </p:nvSpPr>
        <p:spPr>
          <a:xfrm>
            <a:off x="3090671" y="4105655"/>
            <a:ext cx="640080" cy="146304"/>
          </a:xfrm>
          <a:prstGeom prst="rect">
            <a:avLst/>
          </a:prstGeom>
          <a:noFill/>
        </p:spPr>
        <p:txBody>
          <a:bodyPr wrap="none">
            <a:spAutoFit/>
          </a:bodyPr>
          <a:lstStyle/>
          <a:p>
            <a:pPr algn="ctr"/>
            <a:r>
              <a:rPr sz="600">
                <a:solidFill>
                  <a:srgbClr val="B9A488"/>
                </a:solidFill>
              </a:rPr>
              <a:t>BMT_Skulltop</a:t>
            </a:r>
          </a:p>
        </p:txBody>
      </p:sp>
      <p:pic>
        <p:nvPicPr>
          <p:cNvPr id="63" name="BMT_VioletWimple" descr="BMT_VioletWimple (BMT_VioletWimple)&#10;"/>
          <p:cNvPicPr>
            <a:picLocks noChangeAspect="1"/>
          </p:cNvPicPr>
          <p:nvPr/>
        </p:nvPicPr>
        <p:blipFill>
          <a:blip r:embed="rId22"/>
          <a:stretch>
            <a:fillRect/>
          </a:stretch>
        </p:blipFill>
        <p:spPr>
          <a:xfrm>
            <a:off x="3493007" y="3822191"/>
            <a:ext cx="274319" cy="274319"/>
          </a:xfrm>
          <a:prstGeom prst="rect">
            <a:avLst/>
          </a:prstGeom>
        </p:spPr>
      </p:pic>
      <p:sp>
        <p:nvSpPr>
          <p:cNvPr id="64" name="TextBox 63"/>
          <p:cNvSpPr txBox="1"/>
          <p:nvPr/>
        </p:nvSpPr>
        <p:spPr>
          <a:xfrm>
            <a:off x="3493007" y="4105655"/>
            <a:ext cx="640080" cy="146304"/>
          </a:xfrm>
          <a:prstGeom prst="rect">
            <a:avLst/>
          </a:prstGeom>
          <a:noFill/>
        </p:spPr>
        <p:txBody>
          <a:bodyPr wrap="none">
            <a:spAutoFit/>
          </a:bodyPr>
          <a:lstStyle/>
          <a:p>
            <a:pPr algn="ctr"/>
            <a:r>
              <a:rPr sz="600">
                <a:solidFill>
                  <a:srgbClr val="B9A488"/>
                </a:solidFill>
              </a:rPr>
              <a:t>BMT_VioletWimple</a:t>
            </a:r>
          </a:p>
        </p:txBody>
      </p:sp>
      <p:pic>
        <p:nvPicPr>
          <p:cNvPr id="65" name="BMT_Wrinklecap" descr="BMT_Wrinklecap (BMT_Wrinklecap)&#10;"/>
          <p:cNvPicPr>
            <a:picLocks noChangeAspect="1"/>
          </p:cNvPicPr>
          <p:nvPr/>
        </p:nvPicPr>
        <p:blipFill>
          <a:blip r:embed="rId23"/>
          <a:stretch>
            <a:fillRect/>
          </a:stretch>
        </p:blipFill>
        <p:spPr>
          <a:xfrm>
            <a:off x="3895344" y="3822191"/>
            <a:ext cx="274319" cy="274319"/>
          </a:xfrm>
          <a:prstGeom prst="rect">
            <a:avLst/>
          </a:prstGeom>
        </p:spPr>
      </p:pic>
      <p:sp>
        <p:nvSpPr>
          <p:cNvPr id="66" name="TextBox 65"/>
          <p:cNvSpPr txBox="1"/>
          <p:nvPr/>
        </p:nvSpPr>
        <p:spPr>
          <a:xfrm>
            <a:off x="3895344" y="4105655"/>
            <a:ext cx="640080" cy="146304"/>
          </a:xfrm>
          <a:prstGeom prst="rect">
            <a:avLst/>
          </a:prstGeom>
          <a:noFill/>
        </p:spPr>
        <p:txBody>
          <a:bodyPr wrap="none">
            <a:spAutoFit/>
          </a:bodyPr>
          <a:lstStyle/>
          <a:p>
            <a:pPr algn="ctr"/>
            <a:r>
              <a:rPr sz="600">
                <a:solidFill>
                  <a:srgbClr val="B9A488"/>
                </a:solidFill>
              </a:rPr>
              <a:t>BMT_Wrinklecap</a:t>
            </a:r>
          </a:p>
        </p:txBody>
      </p:sp>
      <p:pic>
        <p:nvPicPr>
          <p:cNvPr id="67" name="AB_Bryolux" descr="AB_Bryolux (AB_Bryolux)&#10;"/>
          <p:cNvPicPr>
            <a:picLocks noChangeAspect="1"/>
          </p:cNvPicPr>
          <p:nvPr/>
        </p:nvPicPr>
        <p:blipFill>
          <a:blip r:embed="rId24"/>
          <a:stretch>
            <a:fillRect/>
          </a:stretch>
        </p:blipFill>
        <p:spPr>
          <a:xfrm>
            <a:off x="4297679" y="3822191"/>
            <a:ext cx="274319" cy="274319"/>
          </a:xfrm>
          <a:prstGeom prst="rect">
            <a:avLst/>
          </a:prstGeom>
        </p:spPr>
      </p:pic>
      <p:sp>
        <p:nvSpPr>
          <p:cNvPr id="68" name="TextBox 67"/>
          <p:cNvSpPr txBox="1"/>
          <p:nvPr/>
        </p:nvSpPr>
        <p:spPr>
          <a:xfrm>
            <a:off x="4297679" y="4105655"/>
            <a:ext cx="640080" cy="146304"/>
          </a:xfrm>
          <a:prstGeom prst="rect">
            <a:avLst/>
          </a:prstGeom>
          <a:noFill/>
        </p:spPr>
        <p:txBody>
          <a:bodyPr wrap="none">
            <a:spAutoFit/>
          </a:bodyPr>
          <a:lstStyle/>
          <a:p>
            <a:pPr algn="ctr"/>
            <a:r>
              <a:rPr sz="600">
                <a:solidFill>
                  <a:srgbClr val="B9A488"/>
                </a:solidFill>
              </a:rPr>
              <a:t>AB_Bryolux</a:t>
            </a:r>
          </a:p>
        </p:txBody>
      </p:sp>
      <p:pic>
        <p:nvPicPr>
          <p:cNvPr id="69" name="BMT_BleedingTooth" descr="BMT_BleedingTooth (BMT_BleedingTooth)&#10;"/>
          <p:cNvPicPr>
            <a:picLocks noChangeAspect="1"/>
          </p:cNvPicPr>
          <p:nvPr/>
        </p:nvPicPr>
        <p:blipFill>
          <a:blip r:embed="rId25"/>
          <a:stretch>
            <a:fillRect/>
          </a:stretch>
        </p:blipFill>
        <p:spPr>
          <a:xfrm>
            <a:off x="4700015" y="3822191"/>
            <a:ext cx="274319" cy="274319"/>
          </a:xfrm>
          <a:prstGeom prst="rect">
            <a:avLst/>
          </a:prstGeom>
        </p:spPr>
      </p:pic>
      <p:sp>
        <p:nvSpPr>
          <p:cNvPr id="70" name="TextBox 69"/>
          <p:cNvSpPr txBox="1"/>
          <p:nvPr/>
        </p:nvSpPr>
        <p:spPr>
          <a:xfrm>
            <a:off x="4700015" y="4105655"/>
            <a:ext cx="640080" cy="146304"/>
          </a:xfrm>
          <a:prstGeom prst="rect">
            <a:avLst/>
          </a:prstGeom>
          <a:noFill/>
        </p:spPr>
        <p:txBody>
          <a:bodyPr wrap="none">
            <a:spAutoFit/>
          </a:bodyPr>
          <a:lstStyle/>
          <a:p>
            <a:pPr algn="ctr"/>
            <a:r>
              <a:rPr sz="600">
                <a:solidFill>
                  <a:srgbClr val="B9A488"/>
                </a:solidFill>
              </a:rPr>
              <a:t>BMT_BleedingToot</a:t>
            </a:r>
          </a:p>
        </p:txBody>
      </p:sp>
      <p:pic>
        <p:nvPicPr>
          <p:cNvPr id="71" name="BMT_CrimsonCap" descr="BMT_CrimsonCap (BMT_CrimsonCap)&#10;"/>
          <p:cNvPicPr>
            <a:picLocks noChangeAspect="1"/>
          </p:cNvPicPr>
          <p:nvPr/>
        </p:nvPicPr>
        <p:blipFill>
          <a:blip r:embed="rId26"/>
          <a:stretch>
            <a:fillRect/>
          </a:stretch>
        </p:blipFill>
        <p:spPr>
          <a:xfrm>
            <a:off x="5102351" y="3822191"/>
            <a:ext cx="274319" cy="274319"/>
          </a:xfrm>
          <a:prstGeom prst="rect">
            <a:avLst/>
          </a:prstGeom>
        </p:spPr>
      </p:pic>
      <p:sp>
        <p:nvSpPr>
          <p:cNvPr id="72" name="TextBox 71"/>
          <p:cNvSpPr txBox="1"/>
          <p:nvPr/>
        </p:nvSpPr>
        <p:spPr>
          <a:xfrm>
            <a:off x="5102351" y="4105655"/>
            <a:ext cx="640080" cy="146304"/>
          </a:xfrm>
          <a:prstGeom prst="rect">
            <a:avLst/>
          </a:prstGeom>
          <a:noFill/>
        </p:spPr>
        <p:txBody>
          <a:bodyPr wrap="none">
            <a:spAutoFit/>
          </a:bodyPr>
          <a:lstStyle/>
          <a:p>
            <a:pPr algn="ctr"/>
            <a:r>
              <a:rPr sz="600">
                <a:solidFill>
                  <a:srgbClr val="B9A488"/>
                </a:solidFill>
              </a:rPr>
              <a:t>BMT_CrimsonCap</a:t>
            </a:r>
          </a:p>
        </p:txBody>
      </p:sp>
      <p:pic>
        <p:nvPicPr>
          <p:cNvPr id="73" name="BMT_GreyLady" descr="BMT_GreyLady (BMT_GreyLady)&#10;"/>
          <p:cNvPicPr>
            <a:picLocks noChangeAspect="1"/>
          </p:cNvPicPr>
          <p:nvPr/>
        </p:nvPicPr>
        <p:blipFill>
          <a:blip r:embed="rId27"/>
          <a:stretch>
            <a:fillRect/>
          </a:stretch>
        </p:blipFill>
        <p:spPr>
          <a:xfrm>
            <a:off x="5504687" y="3822191"/>
            <a:ext cx="274319" cy="274319"/>
          </a:xfrm>
          <a:prstGeom prst="rect">
            <a:avLst/>
          </a:prstGeom>
        </p:spPr>
      </p:pic>
      <p:sp>
        <p:nvSpPr>
          <p:cNvPr id="74" name="TextBox 73"/>
          <p:cNvSpPr txBox="1"/>
          <p:nvPr/>
        </p:nvSpPr>
        <p:spPr>
          <a:xfrm>
            <a:off x="5504687" y="4105655"/>
            <a:ext cx="640080" cy="146304"/>
          </a:xfrm>
          <a:prstGeom prst="rect">
            <a:avLst/>
          </a:prstGeom>
          <a:noFill/>
        </p:spPr>
        <p:txBody>
          <a:bodyPr wrap="none">
            <a:spAutoFit/>
          </a:bodyPr>
          <a:lstStyle/>
          <a:p>
            <a:pPr algn="ctr"/>
            <a:r>
              <a:rPr sz="600">
                <a:solidFill>
                  <a:srgbClr val="B9A488"/>
                </a:solidFill>
              </a:rPr>
              <a:t>BMT_GreyLady</a:t>
            </a:r>
          </a:p>
        </p:txBody>
      </p:sp>
      <p:pic>
        <p:nvPicPr>
          <p:cNvPr id="75" name="BMT_MortalMorelPlant" descr="BMT_MortalMorelPlant (BMT_MortalMorelPlant)&#10;"/>
          <p:cNvPicPr>
            <a:picLocks noChangeAspect="1"/>
          </p:cNvPicPr>
          <p:nvPr/>
        </p:nvPicPr>
        <p:blipFill>
          <a:blip r:embed="rId28"/>
          <a:stretch>
            <a:fillRect/>
          </a:stretch>
        </p:blipFill>
        <p:spPr>
          <a:xfrm>
            <a:off x="5907023" y="3822191"/>
            <a:ext cx="274319" cy="274319"/>
          </a:xfrm>
          <a:prstGeom prst="rect">
            <a:avLst/>
          </a:prstGeom>
        </p:spPr>
      </p:pic>
      <p:sp>
        <p:nvSpPr>
          <p:cNvPr id="76" name="TextBox 75"/>
          <p:cNvSpPr txBox="1"/>
          <p:nvPr/>
        </p:nvSpPr>
        <p:spPr>
          <a:xfrm>
            <a:off x="5907023" y="4105655"/>
            <a:ext cx="640080" cy="146304"/>
          </a:xfrm>
          <a:prstGeom prst="rect">
            <a:avLst/>
          </a:prstGeom>
          <a:noFill/>
        </p:spPr>
        <p:txBody>
          <a:bodyPr wrap="none">
            <a:spAutoFit/>
          </a:bodyPr>
          <a:lstStyle/>
          <a:p>
            <a:pPr algn="ctr"/>
            <a:r>
              <a:rPr sz="600">
                <a:solidFill>
                  <a:srgbClr val="B9A488"/>
                </a:solidFill>
              </a:rPr>
              <a:t>BMT_MortalMorelP</a:t>
            </a:r>
          </a:p>
        </p:txBody>
      </p:sp>
      <p:sp>
        <p:nvSpPr>
          <p:cNvPr id="77" name="BMT_Brightbells" descr="BMT_Brightbells (BMT_Brightbells)&#10;&#10;[no cached sprite]"/>
          <p:cNvSpPr/>
          <p:nvPr/>
        </p:nvSpPr>
        <p:spPr>
          <a:xfrm>
            <a:off x="6309359"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BMT_Brightbells</a:t>
            </a:r>
          </a:p>
        </p:txBody>
      </p:sp>
      <p:sp>
        <p:nvSpPr>
          <p:cNvPr id="78" name="TextBox 77"/>
          <p:cNvSpPr txBox="1"/>
          <p:nvPr/>
        </p:nvSpPr>
        <p:spPr>
          <a:xfrm>
            <a:off x="6309359" y="4105655"/>
            <a:ext cx="640080" cy="146304"/>
          </a:xfrm>
          <a:prstGeom prst="rect">
            <a:avLst/>
          </a:prstGeom>
          <a:noFill/>
        </p:spPr>
        <p:txBody>
          <a:bodyPr wrap="none">
            <a:spAutoFit/>
          </a:bodyPr>
          <a:lstStyle/>
          <a:p>
            <a:pPr algn="ctr"/>
            <a:r>
              <a:rPr sz="600">
                <a:solidFill>
                  <a:srgbClr val="B9A488"/>
                </a:solidFill>
              </a:rPr>
              <a:t>BMT_Brightbells</a:t>
            </a:r>
          </a:p>
        </p:txBody>
      </p:sp>
      <p:pic>
        <p:nvPicPr>
          <p:cNvPr id="79" name="AB_Agarilux" descr="AB_Agarilux (AB_Agarilux)&#10;"/>
          <p:cNvPicPr>
            <a:picLocks noChangeAspect="1"/>
          </p:cNvPicPr>
          <p:nvPr/>
        </p:nvPicPr>
        <p:blipFill>
          <a:blip r:embed="rId29"/>
          <a:stretch>
            <a:fillRect/>
          </a:stretch>
        </p:blipFill>
        <p:spPr>
          <a:xfrm>
            <a:off x="6711695" y="3822191"/>
            <a:ext cx="274319" cy="274319"/>
          </a:xfrm>
          <a:prstGeom prst="rect">
            <a:avLst/>
          </a:prstGeom>
        </p:spPr>
      </p:pic>
      <p:sp>
        <p:nvSpPr>
          <p:cNvPr id="80" name="TextBox 79"/>
          <p:cNvSpPr txBox="1"/>
          <p:nvPr/>
        </p:nvSpPr>
        <p:spPr>
          <a:xfrm>
            <a:off x="6711695" y="4105655"/>
            <a:ext cx="640080" cy="146304"/>
          </a:xfrm>
          <a:prstGeom prst="rect">
            <a:avLst/>
          </a:prstGeom>
          <a:noFill/>
        </p:spPr>
        <p:txBody>
          <a:bodyPr wrap="none">
            <a:spAutoFit/>
          </a:bodyPr>
          <a:lstStyle/>
          <a:p>
            <a:pPr algn="ctr"/>
            <a:r>
              <a:rPr sz="600">
                <a:solidFill>
                  <a:srgbClr val="B9A488"/>
                </a:solidFill>
              </a:rPr>
              <a:t>AB_Agarilux</a:t>
            </a:r>
          </a:p>
        </p:txBody>
      </p:sp>
      <p:sp>
        <p:nvSpPr>
          <p:cNvPr id="81" name="Boomshroom" descr="Boomshroom (Boomshroom)&#10;&#10;[no cached sprite]"/>
          <p:cNvSpPr/>
          <p:nvPr/>
        </p:nvSpPr>
        <p:spPr>
          <a:xfrm>
            <a:off x="7114031"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Boomshroom</a:t>
            </a:r>
          </a:p>
        </p:txBody>
      </p:sp>
      <p:sp>
        <p:nvSpPr>
          <p:cNvPr id="82" name="TextBox 81"/>
          <p:cNvSpPr txBox="1"/>
          <p:nvPr/>
        </p:nvSpPr>
        <p:spPr>
          <a:xfrm>
            <a:off x="7114031" y="4105655"/>
            <a:ext cx="640080" cy="146304"/>
          </a:xfrm>
          <a:prstGeom prst="rect">
            <a:avLst/>
          </a:prstGeom>
          <a:noFill/>
        </p:spPr>
        <p:txBody>
          <a:bodyPr wrap="none">
            <a:spAutoFit/>
          </a:bodyPr>
          <a:lstStyle/>
          <a:p>
            <a:pPr algn="ctr"/>
            <a:r>
              <a:rPr sz="600">
                <a:solidFill>
                  <a:srgbClr val="B9A488"/>
                </a:solidFill>
              </a:rPr>
              <a:t>Boomshroom</a:t>
            </a:r>
          </a:p>
        </p:txBody>
      </p:sp>
      <p:pic>
        <p:nvPicPr>
          <p:cNvPr id="83" name="AB_AgaricusDomeCap" descr="AB_AgaricusDomeCap (AB_AgaricusDomeCap)&#10;"/>
          <p:cNvPicPr>
            <a:picLocks noChangeAspect="1"/>
          </p:cNvPicPr>
          <p:nvPr/>
        </p:nvPicPr>
        <p:blipFill>
          <a:blip r:embed="rId30"/>
          <a:stretch>
            <a:fillRect/>
          </a:stretch>
        </p:blipFill>
        <p:spPr>
          <a:xfrm>
            <a:off x="7516367" y="3822191"/>
            <a:ext cx="274319" cy="274319"/>
          </a:xfrm>
          <a:prstGeom prst="rect">
            <a:avLst/>
          </a:prstGeom>
        </p:spPr>
      </p:pic>
      <p:sp>
        <p:nvSpPr>
          <p:cNvPr id="84" name="TextBox 83"/>
          <p:cNvSpPr txBox="1"/>
          <p:nvPr/>
        </p:nvSpPr>
        <p:spPr>
          <a:xfrm>
            <a:off x="7516367" y="4105655"/>
            <a:ext cx="640080" cy="146304"/>
          </a:xfrm>
          <a:prstGeom prst="rect">
            <a:avLst/>
          </a:prstGeom>
          <a:noFill/>
        </p:spPr>
        <p:txBody>
          <a:bodyPr wrap="none">
            <a:spAutoFit/>
          </a:bodyPr>
          <a:lstStyle/>
          <a:p>
            <a:pPr algn="ctr"/>
            <a:r>
              <a:rPr sz="600">
                <a:solidFill>
                  <a:srgbClr val="B9A488"/>
                </a:solidFill>
              </a:rPr>
              <a:t>AB_AgaricusDomeC</a:t>
            </a:r>
          </a:p>
        </p:txBody>
      </p:sp>
      <p:pic>
        <p:nvPicPr>
          <p:cNvPr id="85" name="BMT_FlakespireFungus" descr="BMT_FlakespireFungus (BMT_FlakespireFungus)&#10;"/>
          <p:cNvPicPr>
            <a:picLocks noChangeAspect="1"/>
          </p:cNvPicPr>
          <p:nvPr/>
        </p:nvPicPr>
        <p:blipFill>
          <a:blip r:embed="rId31"/>
          <a:stretch>
            <a:fillRect/>
          </a:stretch>
        </p:blipFill>
        <p:spPr>
          <a:xfrm>
            <a:off x="7918703" y="3822191"/>
            <a:ext cx="274319" cy="274319"/>
          </a:xfrm>
          <a:prstGeom prst="rect">
            <a:avLst/>
          </a:prstGeom>
        </p:spPr>
      </p:pic>
      <p:sp>
        <p:nvSpPr>
          <p:cNvPr id="86" name="TextBox 85"/>
          <p:cNvSpPr txBox="1"/>
          <p:nvPr/>
        </p:nvSpPr>
        <p:spPr>
          <a:xfrm>
            <a:off x="7918703" y="4105655"/>
            <a:ext cx="640080" cy="146304"/>
          </a:xfrm>
          <a:prstGeom prst="rect">
            <a:avLst/>
          </a:prstGeom>
          <a:noFill/>
        </p:spPr>
        <p:txBody>
          <a:bodyPr wrap="none">
            <a:spAutoFit/>
          </a:bodyPr>
          <a:lstStyle/>
          <a:p>
            <a:pPr algn="ctr"/>
            <a:r>
              <a:rPr sz="600">
                <a:solidFill>
                  <a:srgbClr val="B9A488"/>
                </a:solidFill>
              </a:rPr>
              <a:t>BMT_FlakespireFu</a:t>
            </a:r>
          </a:p>
        </p:txBody>
      </p:sp>
      <p:pic>
        <p:nvPicPr>
          <p:cNvPr id="87" name="AB_GlowingAgarilux" descr="AB_GlowingAgarilux (AB_GlowingAgarilux)&#10;"/>
          <p:cNvPicPr>
            <a:picLocks noChangeAspect="1"/>
          </p:cNvPicPr>
          <p:nvPr/>
        </p:nvPicPr>
        <p:blipFill>
          <a:blip r:embed="rId29"/>
          <a:stretch>
            <a:fillRect/>
          </a:stretch>
        </p:blipFill>
        <p:spPr>
          <a:xfrm>
            <a:off x="8321039" y="3822191"/>
            <a:ext cx="274319" cy="274319"/>
          </a:xfrm>
          <a:prstGeom prst="rect">
            <a:avLst/>
          </a:prstGeom>
        </p:spPr>
      </p:pic>
      <p:sp>
        <p:nvSpPr>
          <p:cNvPr id="88" name="TextBox 87"/>
          <p:cNvSpPr txBox="1"/>
          <p:nvPr/>
        </p:nvSpPr>
        <p:spPr>
          <a:xfrm>
            <a:off x="8321039" y="4105655"/>
            <a:ext cx="640080" cy="146304"/>
          </a:xfrm>
          <a:prstGeom prst="rect">
            <a:avLst/>
          </a:prstGeom>
          <a:noFill/>
        </p:spPr>
        <p:txBody>
          <a:bodyPr wrap="none">
            <a:spAutoFit/>
          </a:bodyPr>
          <a:lstStyle/>
          <a:p>
            <a:pPr algn="ctr"/>
            <a:r>
              <a:rPr sz="600">
                <a:solidFill>
                  <a:srgbClr val="B9A488"/>
                </a:solidFill>
              </a:rPr>
              <a:t>AB_GlowingAgaril</a:t>
            </a:r>
          </a:p>
        </p:txBody>
      </p:sp>
      <p:pic>
        <p:nvPicPr>
          <p:cNvPr id="89" name="AB_LilacBeacon" descr="AB_LilacBeacon (AB_LilacBeacon)&#10;"/>
          <p:cNvPicPr>
            <a:picLocks noChangeAspect="1"/>
          </p:cNvPicPr>
          <p:nvPr/>
        </p:nvPicPr>
        <p:blipFill>
          <a:blip r:embed="rId32"/>
          <a:stretch>
            <a:fillRect/>
          </a:stretch>
        </p:blipFill>
        <p:spPr>
          <a:xfrm>
            <a:off x="8723375" y="3822191"/>
            <a:ext cx="274319" cy="274319"/>
          </a:xfrm>
          <a:prstGeom prst="rect">
            <a:avLst/>
          </a:prstGeom>
        </p:spPr>
      </p:pic>
      <p:sp>
        <p:nvSpPr>
          <p:cNvPr id="90" name="TextBox 89"/>
          <p:cNvSpPr txBox="1"/>
          <p:nvPr/>
        </p:nvSpPr>
        <p:spPr>
          <a:xfrm>
            <a:off x="8723375" y="4105655"/>
            <a:ext cx="640080" cy="146304"/>
          </a:xfrm>
          <a:prstGeom prst="rect">
            <a:avLst/>
          </a:prstGeom>
          <a:noFill/>
        </p:spPr>
        <p:txBody>
          <a:bodyPr wrap="none">
            <a:spAutoFit/>
          </a:bodyPr>
          <a:lstStyle/>
          <a:p>
            <a:pPr algn="ctr"/>
            <a:r>
              <a:rPr sz="600">
                <a:solidFill>
                  <a:srgbClr val="B9A488"/>
                </a:solidFill>
              </a:rPr>
              <a:t>AB_LilacBeacon</a:t>
            </a:r>
          </a:p>
        </p:txBody>
      </p:sp>
      <p:pic>
        <p:nvPicPr>
          <p:cNvPr id="91" name="AB_WitchesOyster" descr="AB_WitchesOyster (AB_WitchesOyster)&#10;"/>
          <p:cNvPicPr>
            <a:picLocks noChangeAspect="1"/>
          </p:cNvPicPr>
          <p:nvPr/>
        </p:nvPicPr>
        <p:blipFill>
          <a:blip r:embed="rId33"/>
          <a:stretch>
            <a:fillRect/>
          </a:stretch>
        </p:blipFill>
        <p:spPr>
          <a:xfrm>
            <a:off x="9125711" y="3822191"/>
            <a:ext cx="274319" cy="274319"/>
          </a:xfrm>
          <a:prstGeom prst="rect">
            <a:avLst/>
          </a:prstGeom>
        </p:spPr>
      </p:pic>
      <p:sp>
        <p:nvSpPr>
          <p:cNvPr id="92" name="TextBox 91"/>
          <p:cNvSpPr txBox="1"/>
          <p:nvPr/>
        </p:nvSpPr>
        <p:spPr>
          <a:xfrm>
            <a:off x="9125711" y="4105655"/>
            <a:ext cx="640080" cy="146304"/>
          </a:xfrm>
          <a:prstGeom prst="rect">
            <a:avLst/>
          </a:prstGeom>
          <a:noFill/>
        </p:spPr>
        <p:txBody>
          <a:bodyPr wrap="none">
            <a:spAutoFit/>
          </a:bodyPr>
          <a:lstStyle/>
          <a:p>
            <a:pPr algn="ctr"/>
            <a:r>
              <a:rPr sz="600">
                <a:solidFill>
                  <a:srgbClr val="B9A488"/>
                </a:solidFill>
              </a:rPr>
              <a:t>AB_WitchesOyster</a:t>
            </a:r>
          </a:p>
        </p:txBody>
      </p:sp>
      <p:pic>
        <p:nvPicPr>
          <p:cNvPr id="93" name="BMT_Arpeau" descr="BMT_Arpeau (BMT_Arpeau)&#10;"/>
          <p:cNvPicPr>
            <a:picLocks noChangeAspect="1"/>
          </p:cNvPicPr>
          <p:nvPr/>
        </p:nvPicPr>
        <p:blipFill>
          <a:blip r:embed="rId34"/>
          <a:stretch>
            <a:fillRect/>
          </a:stretch>
        </p:blipFill>
        <p:spPr>
          <a:xfrm>
            <a:off x="9528047" y="3822191"/>
            <a:ext cx="274319" cy="274319"/>
          </a:xfrm>
          <a:prstGeom prst="rect">
            <a:avLst/>
          </a:prstGeom>
        </p:spPr>
      </p:pic>
      <p:sp>
        <p:nvSpPr>
          <p:cNvPr id="94" name="TextBox 93"/>
          <p:cNvSpPr txBox="1"/>
          <p:nvPr/>
        </p:nvSpPr>
        <p:spPr>
          <a:xfrm>
            <a:off x="9528047" y="4105655"/>
            <a:ext cx="640080" cy="146304"/>
          </a:xfrm>
          <a:prstGeom prst="rect">
            <a:avLst/>
          </a:prstGeom>
          <a:noFill/>
        </p:spPr>
        <p:txBody>
          <a:bodyPr wrap="none">
            <a:spAutoFit/>
          </a:bodyPr>
          <a:lstStyle/>
          <a:p>
            <a:pPr algn="ctr"/>
            <a:r>
              <a:rPr sz="600">
                <a:solidFill>
                  <a:srgbClr val="B9A488"/>
                </a:solidFill>
              </a:rPr>
              <a:t>BMT_Arpeau</a:t>
            </a:r>
          </a:p>
        </p:txBody>
      </p:sp>
      <p:pic>
        <p:nvPicPr>
          <p:cNvPr id="95" name="BMT_Nogtyl" descr="BMT_Nogtyl (BMT_Nogtyl)&#10;"/>
          <p:cNvPicPr>
            <a:picLocks noChangeAspect="1"/>
          </p:cNvPicPr>
          <p:nvPr/>
        </p:nvPicPr>
        <p:blipFill>
          <a:blip r:embed="rId35"/>
          <a:stretch>
            <a:fillRect/>
          </a:stretch>
        </p:blipFill>
        <p:spPr>
          <a:xfrm>
            <a:off x="9930383" y="3822191"/>
            <a:ext cx="274319" cy="274319"/>
          </a:xfrm>
          <a:prstGeom prst="rect">
            <a:avLst/>
          </a:prstGeom>
        </p:spPr>
      </p:pic>
      <p:sp>
        <p:nvSpPr>
          <p:cNvPr id="96" name="TextBox 95"/>
          <p:cNvSpPr txBox="1"/>
          <p:nvPr/>
        </p:nvSpPr>
        <p:spPr>
          <a:xfrm>
            <a:off x="9930383" y="4105655"/>
            <a:ext cx="640080" cy="146304"/>
          </a:xfrm>
          <a:prstGeom prst="rect">
            <a:avLst/>
          </a:prstGeom>
          <a:noFill/>
        </p:spPr>
        <p:txBody>
          <a:bodyPr wrap="none">
            <a:spAutoFit/>
          </a:bodyPr>
          <a:lstStyle/>
          <a:p>
            <a:pPr algn="ctr"/>
            <a:r>
              <a:rPr sz="600">
                <a:solidFill>
                  <a:srgbClr val="B9A488"/>
                </a:solidFill>
              </a:rPr>
              <a:t>BMT_Nogtyl</a:t>
            </a:r>
          </a:p>
        </p:txBody>
      </p:sp>
      <p:pic>
        <p:nvPicPr>
          <p:cNvPr id="97" name="BMT_Shinecap" descr="BMT_Shinecap (BMT_Shinecap)&#10;"/>
          <p:cNvPicPr>
            <a:picLocks noChangeAspect="1"/>
          </p:cNvPicPr>
          <p:nvPr/>
        </p:nvPicPr>
        <p:blipFill>
          <a:blip r:embed="rId36"/>
          <a:stretch>
            <a:fillRect/>
          </a:stretch>
        </p:blipFill>
        <p:spPr>
          <a:xfrm>
            <a:off x="10332719" y="3822191"/>
            <a:ext cx="274319" cy="274319"/>
          </a:xfrm>
          <a:prstGeom prst="rect">
            <a:avLst/>
          </a:prstGeom>
        </p:spPr>
      </p:pic>
      <p:sp>
        <p:nvSpPr>
          <p:cNvPr id="98" name="TextBox 97"/>
          <p:cNvSpPr txBox="1"/>
          <p:nvPr/>
        </p:nvSpPr>
        <p:spPr>
          <a:xfrm>
            <a:off x="10332719" y="4105655"/>
            <a:ext cx="640080" cy="146304"/>
          </a:xfrm>
          <a:prstGeom prst="rect">
            <a:avLst/>
          </a:prstGeom>
          <a:noFill/>
        </p:spPr>
        <p:txBody>
          <a:bodyPr wrap="none">
            <a:spAutoFit/>
          </a:bodyPr>
          <a:lstStyle/>
          <a:p>
            <a:pPr algn="ctr"/>
            <a:r>
              <a:rPr sz="600">
                <a:solidFill>
                  <a:srgbClr val="B9A488"/>
                </a:solidFill>
              </a:rPr>
              <a:t>BMT_Shinecap</a:t>
            </a:r>
          </a:p>
        </p:txBody>
      </p:sp>
      <p:pic>
        <p:nvPicPr>
          <p:cNvPr id="99" name="AB_ArbuscularMycorrhiza" descr="AB_ArbuscularMycorrhiza (AB_ArbuscularMycorrhiza)&#10;"/>
          <p:cNvPicPr>
            <a:picLocks noChangeAspect="1"/>
          </p:cNvPicPr>
          <p:nvPr/>
        </p:nvPicPr>
        <p:blipFill>
          <a:blip r:embed="rId37"/>
          <a:stretch>
            <a:fillRect/>
          </a:stretch>
        </p:blipFill>
        <p:spPr>
          <a:xfrm>
            <a:off x="10735055" y="3822191"/>
            <a:ext cx="274319" cy="274319"/>
          </a:xfrm>
          <a:prstGeom prst="rect">
            <a:avLst/>
          </a:prstGeom>
        </p:spPr>
      </p:pic>
      <p:sp>
        <p:nvSpPr>
          <p:cNvPr id="100" name="TextBox 99"/>
          <p:cNvSpPr txBox="1"/>
          <p:nvPr/>
        </p:nvSpPr>
        <p:spPr>
          <a:xfrm>
            <a:off x="10735055" y="4105655"/>
            <a:ext cx="640080" cy="146304"/>
          </a:xfrm>
          <a:prstGeom prst="rect">
            <a:avLst/>
          </a:prstGeom>
          <a:noFill/>
        </p:spPr>
        <p:txBody>
          <a:bodyPr wrap="none">
            <a:spAutoFit/>
          </a:bodyPr>
          <a:lstStyle/>
          <a:p>
            <a:pPr algn="ctr"/>
            <a:r>
              <a:rPr sz="600">
                <a:solidFill>
                  <a:srgbClr val="B9A488"/>
                </a:solidFill>
              </a:rPr>
              <a:t>AB_ArbuscularMyc</a:t>
            </a:r>
          </a:p>
        </p:txBody>
      </p:sp>
      <p:pic>
        <p:nvPicPr>
          <p:cNvPr id="101" name="AB_DribblingCap" descr="AB_DribblingCap (AB_DribblingCap)&#10;"/>
          <p:cNvPicPr>
            <a:picLocks noChangeAspect="1"/>
          </p:cNvPicPr>
          <p:nvPr/>
        </p:nvPicPr>
        <p:blipFill>
          <a:blip r:embed="rId38"/>
          <a:stretch>
            <a:fillRect/>
          </a:stretch>
        </p:blipFill>
        <p:spPr>
          <a:xfrm>
            <a:off x="11137391" y="3822191"/>
            <a:ext cx="274319" cy="274319"/>
          </a:xfrm>
          <a:prstGeom prst="rect">
            <a:avLst/>
          </a:prstGeom>
        </p:spPr>
      </p:pic>
      <p:sp>
        <p:nvSpPr>
          <p:cNvPr id="102" name="TextBox 101"/>
          <p:cNvSpPr txBox="1"/>
          <p:nvPr/>
        </p:nvSpPr>
        <p:spPr>
          <a:xfrm>
            <a:off x="11137391" y="4105655"/>
            <a:ext cx="640080" cy="146304"/>
          </a:xfrm>
          <a:prstGeom prst="rect">
            <a:avLst/>
          </a:prstGeom>
          <a:noFill/>
        </p:spPr>
        <p:txBody>
          <a:bodyPr wrap="none">
            <a:spAutoFit/>
          </a:bodyPr>
          <a:lstStyle/>
          <a:p>
            <a:pPr algn="ctr"/>
            <a:r>
              <a:rPr sz="600">
                <a:solidFill>
                  <a:srgbClr val="B9A488"/>
                </a:solidFill>
              </a:rPr>
              <a:t>AB_DribblingCap</a:t>
            </a:r>
          </a:p>
        </p:txBody>
      </p:sp>
      <p:pic>
        <p:nvPicPr>
          <p:cNvPr id="103" name="AB_RecurvedStropharia" descr="AB_RecurvedStropharia (AB_RecurvedStropharia)&#10;"/>
          <p:cNvPicPr>
            <a:picLocks noChangeAspect="1"/>
          </p:cNvPicPr>
          <p:nvPr/>
        </p:nvPicPr>
        <p:blipFill>
          <a:blip r:embed="rId39"/>
          <a:stretch>
            <a:fillRect/>
          </a:stretch>
        </p:blipFill>
        <p:spPr>
          <a:xfrm>
            <a:off x="11539727" y="3822191"/>
            <a:ext cx="274319" cy="274319"/>
          </a:xfrm>
          <a:prstGeom prst="rect">
            <a:avLst/>
          </a:prstGeom>
        </p:spPr>
      </p:pic>
      <p:sp>
        <p:nvSpPr>
          <p:cNvPr id="104" name="TextBox 103"/>
          <p:cNvSpPr txBox="1"/>
          <p:nvPr/>
        </p:nvSpPr>
        <p:spPr>
          <a:xfrm>
            <a:off x="11539727" y="4105655"/>
            <a:ext cx="640080" cy="146304"/>
          </a:xfrm>
          <a:prstGeom prst="rect">
            <a:avLst/>
          </a:prstGeom>
          <a:noFill/>
        </p:spPr>
        <p:txBody>
          <a:bodyPr wrap="none">
            <a:spAutoFit/>
          </a:bodyPr>
          <a:lstStyle/>
          <a:p>
            <a:pPr algn="ctr"/>
            <a:r>
              <a:rPr sz="600">
                <a:solidFill>
                  <a:srgbClr val="B9A488"/>
                </a:solidFill>
              </a:rPr>
              <a:t>AB_RecurvedStrop</a:t>
            </a:r>
          </a:p>
        </p:txBody>
      </p:sp>
      <p:pic>
        <p:nvPicPr>
          <p:cNvPr id="105" name="AB_SlimyPholiota" descr="AB_SlimyPholiota (AB_SlimyPholiota)&#10;"/>
          <p:cNvPicPr>
            <a:picLocks noChangeAspect="1"/>
          </p:cNvPicPr>
          <p:nvPr/>
        </p:nvPicPr>
        <p:blipFill>
          <a:blip r:embed="rId40"/>
          <a:stretch>
            <a:fillRect/>
          </a:stretch>
        </p:blipFill>
        <p:spPr>
          <a:xfrm>
            <a:off x="274320" y="4334255"/>
            <a:ext cx="274319" cy="274319"/>
          </a:xfrm>
          <a:prstGeom prst="rect">
            <a:avLst/>
          </a:prstGeom>
        </p:spPr>
      </p:pic>
      <p:sp>
        <p:nvSpPr>
          <p:cNvPr id="106" name="TextBox 105"/>
          <p:cNvSpPr txBox="1"/>
          <p:nvPr/>
        </p:nvSpPr>
        <p:spPr>
          <a:xfrm>
            <a:off x="274320" y="4617719"/>
            <a:ext cx="640080" cy="146304"/>
          </a:xfrm>
          <a:prstGeom prst="rect">
            <a:avLst/>
          </a:prstGeom>
          <a:noFill/>
        </p:spPr>
        <p:txBody>
          <a:bodyPr wrap="none">
            <a:spAutoFit/>
          </a:bodyPr>
          <a:lstStyle/>
          <a:p>
            <a:pPr algn="ctr"/>
            <a:r>
              <a:rPr sz="600">
                <a:solidFill>
                  <a:srgbClr val="B9A488"/>
                </a:solidFill>
              </a:rPr>
              <a:t>AB_SlimyPholiota</a:t>
            </a:r>
          </a:p>
        </p:txBody>
      </p:sp>
      <p:pic>
        <p:nvPicPr>
          <p:cNvPr id="107" name="AB_GiantAgarilux" descr="AB_GiantAgarilux (AB_GiantAgarilux)&#10;"/>
          <p:cNvPicPr>
            <a:picLocks noChangeAspect="1"/>
          </p:cNvPicPr>
          <p:nvPr/>
        </p:nvPicPr>
        <p:blipFill>
          <a:blip r:embed="rId41"/>
          <a:stretch>
            <a:fillRect/>
          </a:stretch>
        </p:blipFill>
        <p:spPr>
          <a:xfrm>
            <a:off x="676656" y="4334255"/>
            <a:ext cx="274319" cy="274319"/>
          </a:xfrm>
          <a:prstGeom prst="rect">
            <a:avLst/>
          </a:prstGeom>
        </p:spPr>
      </p:pic>
      <p:sp>
        <p:nvSpPr>
          <p:cNvPr id="108" name="TextBox 107"/>
          <p:cNvSpPr txBox="1"/>
          <p:nvPr/>
        </p:nvSpPr>
        <p:spPr>
          <a:xfrm>
            <a:off x="676656" y="4617719"/>
            <a:ext cx="640080" cy="146304"/>
          </a:xfrm>
          <a:prstGeom prst="rect">
            <a:avLst/>
          </a:prstGeom>
          <a:noFill/>
        </p:spPr>
        <p:txBody>
          <a:bodyPr wrap="none">
            <a:spAutoFit/>
          </a:bodyPr>
          <a:lstStyle/>
          <a:p>
            <a:pPr algn="ctr"/>
            <a:r>
              <a:rPr sz="600">
                <a:solidFill>
                  <a:srgbClr val="B9A488"/>
                </a:solidFill>
              </a:rPr>
              <a:t>AB_GiantAgarilux</a:t>
            </a:r>
          </a:p>
        </p:txBody>
      </p:sp>
      <p:sp>
        <p:nvSpPr>
          <p:cNvPr id="109" name="AB_AgariluxPrime" descr="AB_AgariluxPrime (AB_AgariluxPrime)&#10;&#10;[no cached sprite]"/>
          <p:cNvSpPr/>
          <p:nvPr/>
        </p:nvSpPr>
        <p:spPr>
          <a:xfrm>
            <a:off x="1078992" y="4334255"/>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AB_AgariluxPrime</a:t>
            </a:r>
          </a:p>
        </p:txBody>
      </p:sp>
      <p:sp>
        <p:nvSpPr>
          <p:cNvPr id="110" name="TextBox 109"/>
          <p:cNvSpPr txBox="1"/>
          <p:nvPr/>
        </p:nvSpPr>
        <p:spPr>
          <a:xfrm>
            <a:off x="1078992" y="4617719"/>
            <a:ext cx="640080" cy="146304"/>
          </a:xfrm>
          <a:prstGeom prst="rect">
            <a:avLst/>
          </a:prstGeom>
          <a:noFill/>
        </p:spPr>
        <p:txBody>
          <a:bodyPr wrap="none">
            <a:spAutoFit/>
          </a:bodyPr>
          <a:lstStyle/>
          <a:p>
            <a:pPr algn="ctr"/>
            <a:r>
              <a:rPr sz="600">
                <a:solidFill>
                  <a:srgbClr val="B9A488"/>
                </a:solidFill>
              </a:rPr>
              <a:t>AB_AgariluxPrime</a:t>
            </a:r>
          </a:p>
        </p:txBody>
      </p:sp>
      <p:sp>
        <p:nvSpPr>
          <p:cNvPr id="111" name="TextBox 110"/>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`AB_MycoticJungle` (Alpha Biomes' "Mycotic Jungle" — donor content incorporated wholesale, then bent). **The biome's name is THE ROT** (owner's pick). Thematic handle: **the planet's gut** — and its image: **a pale forest with a heartbeat of rot.**_</a:t>
            </a:r>
          </a:p>
        </p:txBody>
      </p:sp>
      <p:sp>
        <p:nvSpPr>
          <p:cNvPr id="112" name="TextBox 111"/>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(11): ShiroTrap, pustule hornet family x5 (Queen, ColonyQueen, Spawned, Colony, plain), AA_AnimaColossus, BMT_Thrumbungus, BMT_Yooka, MA_Sporemole, Snoruuk. Fliers→roster arriving: AA_AngelMoth, BMT_SmogMoth. Flier extracted: BMT_GlowBat.
Departures (5 out): BMT_CaveSpider, BMT_ChemSnail, BMT_GiantSlug, BMT_GiantSnail, BMT_Pillbug.
INCONSISTENCIES:
1. Ban 2: residents must be fungus/animal hybrids. Pustule hornets, ShiroTrap, Snoruuk, BMT_Yooka arrive un-hybridized — each needs the hybrid treatment or the sitting rejects it.
2. Five pustule-hornet defs are one organism; count them as one admission, not five.
OPPORTUNITIES:
1. Thrumbungus ("partially digesting itself") and Sporemole pass ban 2 cleanly — flagship arrivals; feature both in §4's cast table.
2. AnimaColossus near the anima-analog (§7) makes a natural undefended-prize guardian (ban 8); wire them together.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wasteland</a:t>
            </a:r>
            <a:r>
              <a:rPr sz="1100">
                <a:solidFill>
                  <a:srgbClr val="B9A488"/>
                </a:solidFill>
              </a:rPr>
              <a:t>   13 animals · 25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megatardi" descr="megatardi (VAEWaste_Megatardi)&#10;drawSize 2.0 · assigned here · art:redo&#10;“Canyon Crawler scrapes along eating everything”"/>
          <p:cNvPicPr>
            <a:picLocks noChangeAspect="1"/>
          </p:cNvPicPr>
          <p:nvPr/>
        </p:nvPicPr>
        <p:blipFill>
          <a:blip r:embed="rId2"/>
          <a:stretch>
            <a:fillRect/>
          </a:stretch>
        </p:blipFill>
        <p:spPr>
          <a:xfrm>
            <a:off x="274320" y="932687"/>
            <a:ext cx="1133856" cy="1133856"/>
          </a:xfrm>
          <a:prstGeom prst="rect">
            <a:avLst/>
          </a:prstGeom>
        </p:spPr>
      </p:pic>
      <p:sp>
        <p:nvSpPr>
          <p:cNvPr id="5" name="Oval 4"/>
          <p:cNvSpPr/>
          <p:nvPr/>
        </p:nvSpPr>
        <p:spPr>
          <a:xfrm>
            <a:off x="1325880" y="91439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75687"/>
            <a:ext cx="1133856" cy="146304"/>
          </a:xfrm>
          <a:prstGeom prst="rect">
            <a:avLst/>
          </a:prstGeom>
          <a:noFill/>
        </p:spPr>
        <p:txBody>
          <a:bodyPr wrap="none">
            <a:spAutoFit/>
          </a:bodyPr>
          <a:lstStyle/>
          <a:p>
            <a:pPr algn="ctr"/>
            <a:r>
              <a:rPr sz="600">
                <a:solidFill>
                  <a:srgbClr val="B9A488"/>
                </a:solidFill>
              </a:rPr>
              <a:t>megatardi</a:t>
            </a:r>
          </a:p>
        </p:txBody>
      </p:sp>
      <p:pic>
        <p:nvPicPr>
          <p:cNvPr id="7" name="terramorph" descr="terramorph (AA_Terramorph)&#10;drawSize 1.5 · assigned here · art:improve"/>
          <p:cNvPicPr>
            <a:picLocks noChangeAspect="1"/>
          </p:cNvPicPr>
          <p:nvPr/>
        </p:nvPicPr>
        <p:blipFill>
          <a:blip r:embed="rId3"/>
          <a:stretch>
            <a:fillRect/>
          </a:stretch>
        </p:blipFill>
        <p:spPr>
          <a:xfrm>
            <a:off x="1536192" y="1216151"/>
            <a:ext cx="850392" cy="850392"/>
          </a:xfrm>
          <a:prstGeom prst="rect">
            <a:avLst/>
          </a:prstGeom>
        </p:spPr>
      </p:pic>
      <p:sp>
        <p:nvSpPr>
          <p:cNvPr id="8" name="Oval 7"/>
          <p:cNvSpPr/>
          <p:nvPr/>
        </p:nvSpPr>
        <p:spPr>
          <a:xfrm>
            <a:off x="2304288" y="119786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36192" y="2075687"/>
            <a:ext cx="850392" cy="146304"/>
          </a:xfrm>
          <a:prstGeom prst="rect">
            <a:avLst/>
          </a:prstGeom>
          <a:noFill/>
        </p:spPr>
        <p:txBody>
          <a:bodyPr wrap="none">
            <a:spAutoFit/>
          </a:bodyPr>
          <a:lstStyle/>
          <a:p>
            <a:pPr algn="ctr"/>
            <a:r>
              <a:rPr sz="600">
                <a:solidFill>
                  <a:srgbClr val="B9A488"/>
                </a:solidFill>
              </a:rPr>
              <a:t>terramorph</a:t>
            </a:r>
          </a:p>
        </p:txBody>
      </p:sp>
      <p:pic>
        <p:nvPicPr>
          <p:cNvPr id="10" name="maligoat" descr="maligoat (BMT_Maligoat)&#10;drawSize 1.0 · assigned here · art:improve"/>
          <p:cNvPicPr>
            <a:picLocks noChangeAspect="1"/>
          </p:cNvPicPr>
          <p:nvPr/>
        </p:nvPicPr>
        <p:blipFill>
          <a:blip r:embed="rId4"/>
          <a:stretch>
            <a:fillRect/>
          </a:stretch>
        </p:blipFill>
        <p:spPr>
          <a:xfrm>
            <a:off x="2514600" y="1499615"/>
            <a:ext cx="566928" cy="566928"/>
          </a:xfrm>
          <a:prstGeom prst="rect">
            <a:avLst/>
          </a:prstGeom>
        </p:spPr>
      </p:pic>
      <p:sp>
        <p:nvSpPr>
          <p:cNvPr id="11" name="Oval 10"/>
          <p:cNvSpPr/>
          <p:nvPr/>
        </p:nvSpPr>
        <p:spPr>
          <a:xfrm>
            <a:off x="2999232" y="148132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2075687"/>
            <a:ext cx="640080" cy="146304"/>
          </a:xfrm>
          <a:prstGeom prst="rect">
            <a:avLst/>
          </a:prstGeom>
          <a:noFill/>
        </p:spPr>
        <p:txBody>
          <a:bodyPr wrap="none">
            <a:spAutoFit/>
          </a:bodyPr>
          <a:lstStyle/>
          <a:p>
            <a:pPr algn="ctr"/>
            <a:r>
              <a:rPr sz="600">
                <a:solidFill>
                  <a:srgbClr val="B9A488"/>
                </a:solidFill>
              </a:rPr>
              <a:t>maligoat</a:t>
            </a:r>
          </a:p>
        </p:txBody>
      </p:sp>
      <p:pic>
        <p:nvPicPr>
          <p:cNvPr id="13" name="screecher" descr="screecher (BMT_Screecher)&#10;drawSize 1.0 · assigned here · art:improve"/>
          <p:cNvPicPr>
            <a:picLocks noChangeAspect="1"/>
          </p:cNvPicPr>
          <p:nvPr/>
        </p:nvPicPr>
        <p:blipFill>
          <a:blip r:embed="rId5"/>
          <a:stretch>
            <a:fillRect/>
          </a:stretch>
        </p:blipFill>
        <p:spPr>
          <a:xfrm>
            <a:off x="3209544" y="1499615"/>
            <a:ext cx="566928" cy="566928"/>
          </a:xfrm>
          <a:prstGeom prst="rect">
            <a:avLst/>
          </a:prstGeom>
        </p:spPr>
      </p:pic>
      <p:sp>
        <p:nvSpPr>
          <p:cNvPr id="14" name="Oval 13"/>
          <p:cNvSpPr/>
          <p:nvPr/>
        </p:nvSpPr>
        <p:spPr>
          <a:xfrm>
            <a:off x="3694176" y="148132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9544" y="2075687"/>
            <a:ext cx="640080" cy="146304"/>
          </a:xfrm>
          <a:prstGeom prst="rect">
            <a:avLst/>
          </a:prstGeom>
          <a:noFill/>
        </p:spPr>
        <p:txBody>
          <a:bodyPr wrap="none">
            <a:spAutoFit/>
          </a:bodyPr>
          <a:lstStyle/>
          <a:p>
            <a:pPr algn="ctr"/>
            <a:r>
              <a:rPr sz="600">
                <a:solidFill>
                  <a:srgbClr val="B9A488"/>
                </a:solidFill>
              </a:rPr>
              <a:t>screecher</a:t>
            </a:r>
          </a:p>
        </p:txBody>
      </p:sp>
      <p:pic>
        <p:nvPicPr>
          <p:cNvPr id="16" name="molebear" descr="molebear (GR_Molebear)&#10;drawSize 1.0 · assigned here · art:improve"/>
          <p:cNvPicPr>
            <a:picLocks noChangeAspect="1"/>
          </p:cNvPicPr>
          <p:nvPr/>
        </p:nvPicPr>
        <p:blipFill>
          <a:blip r:embed="rId6"/>
          <a:stretch>
            <a:fillRect/>
          </a:stretch>
        </p:blipFill>
        <p:spPr>
          <a:xfrm>
            <a:off x="3904487" y="1499615"/>
            <a:ext cx="566928" cy="566928"/>
          </a:xfrm>
          <a:prstGeom prst="rect">
            <a:avLst/>
          </a:prstGeom>
        </p:spPr>
      </p:pic>
      <p:sp>
        <p:nvSpPr>
          <p:cNvPr id="17" name="Oval 16"/>
          <p:cNvSpPr/>
          <p:nvPr/>
        </p:nvSpPr>
        <p:spPr>
          <a:xfrm>
            <a:off x="4389120" y="148132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4487" y="2075687"/>
            <a:ext cx="640080" cy="146304"/>
          </a:xfrm>
          <a:prstGeom prst="rect">
            <a:avLst/>
          </a:prstGeom>
          <a:noFill/>
        </p:spPr>
        <p:txBody>
          <a:bodyPr wrap="none">
            <a:spAutoFit/>
          </a:bodyPr>
          <a:lstStyle/>
          <a:p>
            <a:pPr algn="ctr"/>
            <a:r>
              <a:rPr sz="600">
                <a:solidFill>
                  <a:srgbClr val="B9A488"/>
                </a:solidFill>
              </a:rPr>
              <a:t>molebear</a:t>
            </a:r>
          </a:p>
        </p:txBody>
      </p:sp>
      <p:pic>
        <p:nvPicPr>
          <p:cNvPr id="19" name="spidercat" descr="spidercat (GR_Spidercat)&#10;drawSize 0.8500000238418579 · assigned here · art:redo&#10;“Spindley alien-like spidercat thing”"/>
          <p:cNvPicPr>
            <a:picLocks noChangeAspect="1"/>
          </p:cNvPicPr>
          <p:nvPr/>
        </p:nvPicPr>
        <p:blipFill>
          <a:blip r:embed="rId7"/>
          <a:stretch>
            <a:fillRect/>
          </a:stretch>
        </p:blipFill>
        <p:spPr>
          <a:xfrm>
            <a:off x="4599431" y="1584655"/>
            <a:ext cx="481888" cy="481888"/>
          </a:xfrm>
          <a:prstGeom prst="rect">
            <a:avLst/>
          </a:prstGeom>
        </p:spPr>
      </p:pic>
      <p:sp>
        <p:nvSpPr>
          <p:cNvPr id="20" name="Oval 19"/>
          <p:cNvSpPr/>
          <p:nvPr/>
        </p:nvSpPr>
        <p:spPr>
          <a:xfrm>
            <a:off x="4999024" y="156636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9431" y="2075687"/>
            <a:ext cx="640080" cy="146304"/>
          </a:xfrm>
          <a:prstGeom prst="rect">
            <a:avLst/>
          </a:prstGeom>
          <a:noFill/>
        </p:spPr>
        <p:txBody>
          <a:bodyPr wrap="none">
            <a:spAutoFit/>
          </a:bodyPr>
          <a:lstStyle/>
          <a:p>
            <a:pPr algn="ctr"/>
            <a:r>
              <a:rPr sz="600">
                <a:solidFill>
                  <a:srgbClr val="B9A488"/>
                </a:solidFill>
              </a:rPr>
              <a:t>spidercat</a:t>
            </a:r>
          </a:p>
        </p:txBody>
      </p:sp>
      <p:pic>
        <p:nvPicPr>
          <p:cNvPr id="22" name="Borcatu" descr="Borcatu (Borcatu)&#10;drawSize 0.4000000059604645 · assigned here · art:improve"/>
          <p:cNvPicPr>
            <a:picLocks noChangeAspect="1"/>
          </p:cNvPicPr>
          <p:nvPr/>
        </p:nvPicPr>
        <p:blipFill>
          <a:blip r:embed="rId8"/>
          <a:stretch>
            <a:fillRect/>
          </a:stretch>
        </p:blipFill>
        <p:spPr>
          <a:xfrm>
            <a:off x="5209336" y="1773935"/>
            <a:ext cx="292608" cy="292608"/>
          </a:xfrm>
          <a:prstGeom prst="rect">
            <a:avLst/>
          </a:prstGeom>
        </p:spPr>
      </p:pic>
      <p:sp>
        <p:nvSpPr>
          <p:cNvPr id="23" name="Oval 22"/>
          <p:cNvSpPr/>
          <p:nvPr/>
        </p:nvSpPr>
        <p:spPr>
          <a:xfrm>
            <a:off x="5419648"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09336" y="2075687"/>
            <a:ext cx="640080" cy="146304"/>
          </a:xfrm>
          <a:prstGeom prst="rect">
            <a:avLst/>
          </a:prstGeom>
          <a:noFill/>
        </p:spPr>
        <p:txBody>
          <a:bodyPr wrap="none">
            <a:spAutoFit/>
          </a:bodyPr>
          <a:lstStyle/>
          <a:p>
            <a:pPr algn="ctr"/>
            <a:r>
              <a:rPr sz="600">
                <a:solidFill>
                  <a:srgbClr val="B9A488"/>
                </a:solidFill>
              </a:rPr>
              <a:t>Borcatu</a:t>
            </a:r>
          </a:p>
        </p:txBody>
      </p:sp>
      <p:pic>
        <p:nvPicPr>
          <p:cNvPr id="25" name="bloodletter petrel" descr="bloodletter petrel (BMT_BloodletterPetrel)&#10;drawSize 0.3199999928474426 · assigned here · art:improve"/>
          <p:cNvPicPr>
            <a:picLocks noChangeAspect="1"/>
          </p:cNvPicPr>
          <p:nvPr/>
        </p:nvPicPr>
        <p:blipFill>
          <a:blip r:embed="rId9"/>
          <a:stretch>
            <a:fillRect/>
          </a:stretch>
        </p:blipFill>
        <p:spPr>
          <a:xfrm>
            <a:off x="5629960" y="1773935"/>
            <a:ext cx="292608" cy="292608"/>
          </a:xfrm>
          <a:prstGeom prst="rect">
            <a:avLst/>
          </a:prstGeom>
        </p:spPr>
      </p:pic>
      <p:sp>
        <p:nvSpPr>
          <p:cNvPr id="26" name="Oval 25"/>
          <p:cNvSpPr/>
          <p:nvPr/>
        </p:nvSpPr>
        <p:spPr>
          <a:xfrm>
            <a:off x="5840272"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29960" y="2075687"/>
            <a:ext cx="640080" cy="146304"/>
          </a:xfrm>
          <a:prstGeom prst="rect">
            <a:avLst/>
          </a:prstGeom>
          <a:noFill/>
        </p:spPr>
        <p:txBody>
          <a:bodyPr wrap="none">
            <a:spAutoFit/>
          </a:bodyPr>
          <a:lstStyle/>
          <a:p>
            <a:pPr algn="ctr"/>
            <a:r>
              <a:rPr sz="600">
                <a:solidFill>
                  <a:srgbClr val="B9A488"/>
                </a:solidFill>
              </a:rPr>
              <a:t>bloodletter petr</a:t>
            </a:r>
          </a:p>
        </p:txBody>
      </p:sp>
      <p:pic>
        <p:nvPicPr>
          <p:cNvPr id="28" name="fleece spider" descr="fleece spider (BMT_FleeceSpider)&#10;drawSize 0.3199999928474426 · assigned here · art:improve&#10;“0.6 cells”"/>
          <p:cNvPicPr>
            <a:picLocks noChangeAspect="1"/>
          </p:cNvPicPr>
          <p:nvPr/>
        </p:nvPicPr>
        <p:blipFill>
          <a:blip r:embed="rId10"/>
          <a:stretch>
            <a:fillRect/>
          </a:stretch>
        </p:blipFill>
        <p:spPr>
          <a:xfrm>
            <a:off x="6050584" y="1773935"/>
            <a:ext cx="292608" cy="292608"/>
          </a:xfrm>
          <a:prstGeom prst="rect">
            <a:avLst/>
          </a:prstGeom>
        </p:spPr>
      </p:pic>
      <p:sp>
        <p:nvSpPr>
          <p:cNvPr id="29" name="Oval 28"/>
          <p:cNvSpPr/>
          <p:nvPr/>
        </p:nvSpPr>
        <p:spPr>
          <a:xfrm>
            <a:off x="6260896"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50584" y="2075687"/>
            <a:ext cx="640080" cy="146304"/>
          </a:xfrm>
          <a:prstGeom prst="rect">
            <a:avLst/>
          </a:prstGeom>
          <a:noFill/>
        </p:spPr>
        <p:txBody>
          <a:bodyPr wrap="none">
            <a:spAutoFit/>
          </a:bodyPr>
          <a:lstStyle/>
          <a:p>
            <a:pPr algn="ctr"/>
            <a:r>
              <a:rPr sz="600">
                <a:solidFill>
                  <a:srgbClr val="B9A488"/>
                </a:solidFill>
              </a:rPr>
              <a:t>fleece spider</a:t>
            </a:r>
          </a:p>
        </p:txBody>
      </p:sp>
      <p:pic>
        <p:nvPicPr>
          <p:cNvPr id="31" name="beetlefleet" descr="beetlefleet (GR_Beetlefleet)&#10;drawSize 0.30000001192092896 · assigned here · art:keep"/>
          <p:cNvPicPr>
            <a:picLocks noChangeAspect="1"/>
          </p:cNvPicPr>
          <p:nvPr/>
        </p:nvPicPr>
        <p:blipFill>
          <a:blip r:embed="rId11"/>
          <a:stretch>
            <a:fillRect/>
          </a:stretch>
        </p:blipFill>
        <p:spPr>
          <a:xfrm>
            <a:off x="6471208" y="1773935"/>
            <a:ext cx="292608" cy="292608"/>
          </a:xfrm>
          <a:prstGeom prst="rect">
            <a:avLst/>
          </a:prstGeom>
        </p:spPr>
      </p:pic>
      <p:sp>
        <p:nvSpPr>
          <p:cNvPr id="32" name="Oval 31"/>
          <p:cNvSpPr/>
          <p:nvPr/>
        </p:nvSpPr>
        <p:spPr>
          <a:xfrm>
            <a:off x="6681520"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1208" y="2075687"/>
            <a:ext cx="640080" cy="146304"/>
          </a:xfrm>
          <a:prstGeom prst="rect">
            <a:avLst/>
          </a:prstGeom>
          <a:noFill/>
        </p:spPr>
        <p:txBody>
          <a:bodyPr wrap="none">
            <a:spAutoFit/>
          </a:bodyPr>
          <a:lstStyle/>
          <a:p>
            <a:pPr algn="ctr"/>
            <a:r>
              <a:rPr sz="600">
                <a:solidFill>
                  <a:srgbClr val="B9A488"/>
                </a:solidFill>
              </a:rPr>
              <a:t>beetlefleet</a:t>
            </a:r>
          </a:p>
        </p:txBody>
      </p:sp>
      <p:pic>
        <p:nvPicPr>
          <p:cNvPr id="34" name="rodent paragon" descr="rodent paragon (GR_ParagonRat)&#10;drawSize 0.30000001192092896 · assigned here · art:improve&#10;“This creature steals”"/>
          <p:cNvPicPr>
            <a:picLocks noChangeAspect="1"/>
          </p:cNvPicPr>
          <p:nvPr/>
        </p:nvPicPr>
        <p:blipFill>
          <a:blip r:embed="rId12"/>
          <a:stretch>
            <a:fillRect/>
          </a:stretch>
        </p:blipFill>
        <p:spPr>
          <a:xfrm>
            <a:off x="6891832" y="1773935"/>
            <a:ext cx="292608" cy="292608"/>
          </a:xfrm>
          <a:prstGeom prst="rect">
            <a:avLst/>
          </a:prstGeom>
        </p:spPr>
      </p:pic>
      <p:sp>
        <p:nvSpPr>
          <p:cNvPr id="35" name="Oval 34"/>
          <p:cNvSpPr/>
          <p:nvPr/>
        </p:nvSpPr>
        <p:spPr>
          <a:xfrm>
            <a:off x="7102144"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91832" y="2075687"/>
            <a:ext cx="640080" cy="146304"/>
          </a:xfrm>
          <a:prstGeom prst="rect">
            <a:avLst/>
          </a:prstGeom>
          <a:noFill/>
        </p:spPr>
        <p:txBody>
          <a:bodyPr wrap="none">
            <a:spAutoFit/>
          </a:bodyPr>
          <a:lstStyle/>
          <a:p>
            <a:pPr algn="ctr"/>
            <a:r>
              <a:rPr sz="600">
                <a:solidFill>
                  <a:srgbClr val="B9A488"/>
                </a:solidFill>
              </a:rPr>
              <a:t>rodent paragon</a:t>
            </a:r>
          </a:p>
        </p:txBody>
      </p:sp>
      <p:pic>
        <p:nvPicPr>
          <p:cNvPr id="37" name="black swarmlings" descr="black swarmlings (VFEI2_BlackSwarmling)&#10;drawSize 0.20000000298023224 · assigned here · art:improve"/>
          <p:cNvPicPr>
            <a:picLocks noChangeAspect="1"/>
          </p:cNvPicPr>
          <p:nvPr/>
        </p:nvPicPr>
        <p:blipFill>
          <a:blip r:embed="rId13"/>
          <a:stretch>
            <a:fillRect/>
          </a:stretch>
        </p:blipFill>
        <p:spPr>
          <a:xfrm>
            <a:off x="7312456" y="1773935"/>
            <a:ext cx="292608" cy="292608"/>
          </a:xfrm>
          <a:prstGeom prst="rect">
            <a:avLst/>
          </a:prstGeom>
        </p:spPr>
      </p:pic>
      <p:sp>
        <p:nvSpPr>
          <p:cNvPr id="38" name="Oval 37"/>
          <p:cNvSpPr/>
          <p:nvPr/>
        </p:nvSpPr>
        <p:spPr>
          <a:xfrm>
            <a:off x="7522768"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2456" y="2075687"/>
            <a:ext cx="640080" cy="146304"/>
          </a:xfrm>
          <a:prstGeom prst="rect">
            <a:avLst/>
          </a:prstGeom>
          <a:noFill/>
        </p:spPr>
        <p:txBody>
          <a:bodyPr wrap="none">
            <a:spAutoFit/>
          </a:bodyPr>
          <a:lstStyle/>
          <a:p>
            <a:pPr algn="ctr"/>
            <a:r>
              <a:rPr sz="600">
                <a:solidFill>
                  <a:srgbClr val="B9A488"/>
                </a:solidFill>
              </a:rPr>
              <a:t>black swarmlings</a:t>
            </a:r>
          </a:p>
        </p:txBody>
      </p:sp>
      <p:pic>
        <p:nvPicPr>
          <p:cNvPr id="40" name="swarmlings" descr="swarmlings (VFEI2_Swarmling)&#10;drawSize 0.20000000298023224 · assigned here · art:improve"/>
          <p:cNvPicPr>
            <a:picLocks noChangeAspect="1"/>
          </p:cNvPicPr>
          <p:nvPr/>
        </p:nvPicPr>
        <p:blipFill>
          <a:blip r:embed="rId14"/>
          <a:stretch>
            <a:fillRect/>
          </a:stretch>
        </p:blipFill>
        <p:spPr>
          <a:xfrm>
            <a:off x="7733080" y="1773935"/>
            <a:ext cx="292608" cy="292608"/>
          </a:xfrm>
          <a:prstGeom prst="rect">
            <a:avLst/>
          </a:prstGeom>
        </p:spPr>
      </p:pic>
      <p:sp>
        <p:nvSpPr>
          <p:cNvPr id="41" name="Oval 40"/>
          <p:cNvSpPr/>
          <p:nvPr/>
        </p:nvSpPr>
        <p:spPr>
          <a:xfrm>
            <a:off x="7943392"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3080" y="2075687"/>
            <a:ext cx="640080" cy="146304"/>
          </a:xfrm>
          <a:prstGeom prst="rect">
            <a:avLst/>
          </a:prstGeom>
          <a:noFill/>
        </p:spPr>
        <p:txBody>
          <a:bodyPr wrap="none">
            <a:spAutoFit/>
          </a:bodyPr>
          <a:lstStyle/>
          <a:p>
            <a:pPr algn="ctr"/>
            <a:r>
              <a:rPr sz="600">
                <a:solidFill>
                  <a:srgbClr val="B9A488"/>
                </a:solidFill>
              </a:rPr>
              <a:t>swarmlings</a:t>
            </a:r>
          </a:p>
        </p:txBody>
      </p:sp>
      <p:sp>
        <p:nvSpPr>
          <p:cNvPr id="43" name="TextBox 42"/>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44" name="BMT_Plant_TwistedDandelion" descr="BMT_Plant_TwistedDandelion (BMT_Plant_TwistedDandelion)&#10;"/>
          <p:cNvPicPr>
            <a:picLocks noChangeAspect="1"/>
          </p:cNvPicPr>
          <p:nvPr/>
        </p:nvPicPr>
        <p:blipFill>
          <a:blip r:embed="rId15"/>
          <a:stretch>
            <a:fillRect/>
          </a:stretch>
        </p:blipFill>
        <p:spPr>
          <a:xfrm>
            <a:off x="274320" y="3822191"/>
            <a:ext cx="274319" cy="274319"/>
          </a:xfrm>
          <a:prstGeom prst="rect">
            <a:avLst/>
          </a:prstGeom>
        </p:spPr>
      </p:pic>
      <p:sp>
        <p:nvSpPr>
          <p:cNvPr id="45" name="TextBox 44"/>
          <p:cNvSpPr txBox="1"/>
          <p:nvPr/>
        </p:nvSpPr>
        <p:spPr>
          <a:xfrm>
            <a:off x="274320" y="4105655"/>
            <a:ext cx="640080" cy="146304"/>
          </a:xfrm>
          <a:prstGeom prst="rect">
            <a:avLst/>
          </a:prstGeom>
          <a:noFill/>
        </p:spPr>
        <p:txBody>
          <a:bodyPr wrap="none">
            <a:spAutoFit/>
          </a:bodyPr>
          <a:lstStyle/>
          <a:p>
            <a:pPr algn="ctr"/>
            <a:r>
              <a:rPr sz="600">
                <a:solidFill>
                  <a:srgbClr val="B9A488"/>
                </a:solidFill>
              </a:rPr>
              <a:t>BMT_Plant_Twiste</a:t>
            </a:r>
          </a:p>
        </p:txBody>
      </p:sp>
      <p:pic>
        <p:nvPicPr>
          <p:cNvPr id="46" name="Plant_GrayGrass" descr="Plant_GrayGrass (Plant_GrayGrass)&#10;"/>
          <p:cNvPicPr>
            <a:picLocks noChangeAspect="1"/>
          </p:cNvPicPr>
          <p:nvPr/>
        </p:nvPicPr>
        <p:blipFill>
          <a:blip r:embed="rId16"/>
          <a:stretch>
            <a:fillRect/>
          </a:stretch>
        </p:blipFill>
        <p:spPr>
          <a:xfrm>
            <a:off x="676656" y="3822191"/>
            <a:ext cx="274319" cy="274319"/>
          </a:xfrm>
          <a:prstGeom prst="rect">
            <a:avLst/>
          </a:prstGeom>
        </p:spPr>
      </p:pic>
      <p:sp>
        <p:nvSpPr>
          <p:cNvPr id="47" name="TextBox 46"/>
          <p:cNvSpPr txBox="1"/>
          <p:nvPr/>
        </p:nvSpPr>
        <p:spPr>
          <a:xfrm>
            <a:off x="676656" y="4105655"/>
            <a:ext cx="640080" cy="146304"/>
          </a:xfrm>
          <a:prstGeom prst="rect">
            <a:avLst/>
          </a:prstGeom>
          <a:noFill/>
        </p:spPr>
        <p:txBody>
          <a:bodyPr wrap="none">
            <a:spAutoFit/>
          </a:bodyPr>
          <a:lstStyle/>
          <a:p>
            <a:pPr algn="ctr"/>
            <a:r>
              <a:rPr sz="600">
                <a:solidFill>
                  <a:srgbClr val="B9A488"/>
                </a:solidFill>
              </a:rPr>
              <a:t>Plant_GrayGrass</a:t>
            </a:r>
          </a:p>
        </p:txBody>
      </p:sp>
      <p:sp>
        <p:nvSpPr>
          <p:cNvPr id="48" name="AB_ToxiGrass" descr="AB_ToxiGrass (AB_ToxiGrass)&#10;&#10;[no cached sprite]"/>
          <p:cNvSpPr/>
          <p:nvPr/>
        </p:nvSpPr>
        <p:spPr>
          <a:xfrm>
            <a:off x="1078992"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AB_ToxiGrass</a:t>
            </a:r>
          </a:p>
        </p:txBody>
      </p:sp>
      <p:sp>
        <p:nvSpPr>
          <p:cNvPr id="49" name="TextBox 48"/>
          <p:cNvSpPr txBox="1"/>
          <p:nvPr/>
        </p:nvSpPr>
        <p:spPr>
          <a:xfrm>
            <a:off x="1078992" y="4105655"/>
            <a:ext cx="640080" cy="146304"/>
          </a:xfrm>
          <a:prstGeom prst="rect">
            <a:avLst/>
          </a:prstGeom>
          <a:noFill/>
        </p:spPr>
        <p:txBody>
          <a:bodyPr wrap="none">
            <a:spAutoFit/>
          </a:bodyPr>
          <a:lstStyle/>
          <a:p>
            <a:pPr algn="ctr"/>
            <a:r>
              <a:rPr sz="600">
                <a:solidFill>
                  <a:srgbClr val="B9A488"/>
                </a:solidFill>
              </a:rPr>
              <a:t>AB_ToxiGrass</a:t>
            </a:r>
          </a:p>
        </p:txBody>
      </p:sp>
      <p:sp>
        <p:nvSpPr>
          <p:cNvPr id="50" name="BMT_Plant_ToxicIvy" descr="BMT_Plant_ToxicIvy (BMT_Plant_ToxicIvy)&#10;&#10;[no cached sprite]"/>
          <p:cNvSpPr/>
          <p:nvPr/>
        </p:nvSpPr>
        <p:spPr>
          <a:xfrm>
            <a:off x="1481328"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BMT_Plant_ToxicIvy</a:t>
            </a:r>
          </a:p>
        </p:txBody>
      </p:sp>
      <p:sp>
        <p:nvSpPr>
          <p:cNvPr id="51" name="TextBox 50"/>
          <p:cNvSpPr txBox="1"/>
          <p:nvPr/>
        </p:nvSpPr>
        <p:spPr>
          <a:xfrm>
            <a:off x="1481328" y="4105655"/>
            <a:ext cx="640080" cy="146304"/>
          </a:xfrm>
          <a:prstGeom prst="rect">
            <a:avLst/>
          </a:prstGeom>
          <a:noFill/>
        </p:spPr>
        <p:txBody>
          <a:bodyPr wrap="none">
            <a:spAutoFit/>
          </a:bodyPr>
          <a:lstStyle/>
          <a:p>
            <a:pPr algn="ctr"/>
            <a:r>
              <a:rPr sz="600">
                <a:solidFill>
                  <a:srgbClr val="B9A488"/>
                </a:solidFill>
              </a:rPr>
              <a:t>BMT_Plant_ToxicI</a:t>
            </a:r>
          </a:p>
        </p:txBody>
      </p:sp>
      <p:pic>
        <p:nvPicPr>
          <p:cNvPr id="52" name="RG_Plant_ToxiGrass" descr="RG_Plant_ToxiGrass (RG_Plant_ToxiGrass)&#10;"/>
          <p:cNvPicPr>
            <a:picLocks noChangeAspect="1"/>
          </p:cNvPicPr>
          <p:nvPr/>
        </p:nvPicPr>
        <p:blipFill>
          <a:blip r:embed="rId17"/>
          <a:stretch>
            <a:fillRect/>
          </a:stretch>
        </p:blipFill>
        <p:spPr>
          <a:xfrm>
            <a:off x="1883663" y="3822191"/>
            <a:ext cx="274319" cy="274319"/>
          </a:xfrm>
          <a:prstGeom prst="rect">
            <a:avLst/>
          </a:prstGeom>
        </p:spPr>
      </p:pic>
      <p:sp>
        <p:nvSpPr>
          <p:cNvPr id="53" name="TextBox 52"/>
          <p:cNvSpPr txBox="1"/>
          <p:nvPr/>
        </p:nvSpPr>
        <p:spPr>
          <a:xfrm>
            <a:off x="1883663" y="4105655"/>
            <a:ext cx="640080" cy="146304"/>
          </a:xfrm>
          <a:prstGeom prst="rect">
            <a:avLst/>
          </a:prstGeom>
          <a:noFill/>
        </p:spPr>
        <p:txBody>
          <a:bodyPr wrap="none">
            <a:spAutoFit/>
          </a:bodyPr>
          <a:lstStyle/>
          <a:p>
            <a:pPr algn="ctr"/>
            <a:r>
              <a:rPr sz="600">
                <a:solidFill>
                  <a:srgbClr val="B9A488"/>
                </a:solidFill>
              </a:rPr>
              <a:t>RG_Plant_ToxiGra</a:t>
            </a:r>
          </a:p>
        </p:txBody>
      </p:sp>
      <p:pic>
        <p:nvPicPr>
          <p:cNvPr id="54" name="BMT_Plant_PoxSorghum" descr="BMT_Plant_PoxSorghum (BMT_Plant_PoxSorghum)&#10;"/>
          <p:cNvPicPr>
            <a:picLocks noChangeAspect="1"/>
          </p:cNvPicPr>
          <p:nvPr/>
        </p:nvPicPr>
        <p:blipFill>
          <a:blip r:embed="rId18"/>
          <a:stretch>
            <a:fillRect/>
          </a:stretch>
        </p:blipFill>
        <p:spPr>
          <a:xfrm>
            <a:off x="2285999" y="3822191"/>
            <a:ext cx="274319" cy="274319"/>
          </a:xfrm>
          <a:prstGeom prst="rect">
            <a:avLst/>
          </a:prstGeom>
        </p:spPr>
      </p:pic>
      <p:sp>
        <p:nvSpPr>
          <p:cNvPr id="55" name="TextBox 54"/>
          <p:cNvSpPr txBox="1"/>
          <p:nvPr/>
        </p:nvSpPr>
        <p:spPr>
          <a:xfrm>
            <a:off x="2285999" y="4105655"/>
            <a:ext cx="640080" cy="146304"/>
          </a:xfrm>
          <a:prstGeom prst="rect">
            <a:avLst/>
          </a:prstGeom>
          <a:noFill/>
        </p:spPr>
        <p:txBody>
          <a:bodyPr wrap="none">
            <a:spAutoFit/>
          </a:bodyPr>
          <a:lstStyle/>
          <a:p>
            <a:pPr algn="ctr"/>
            <a:r>
              <a:rPr sz="600">
                <a:solidFill>
                  <a:srgbClr val="B9A488"/>
                </a:solidFill>
              </a:rPr>
              <a:t>BMT_Plant_PoxSor</a:t>
            </a:r>
          </a:p>
        </p:txBody>
      </p:sp>
      <p:pic>
        <p:nvPicPr>
          <p:cNvPr id="56" name="PoisonPlantTallGrass" descr="PoisonPlantTallGrass (PoisonPlantTallGrass)&#10;"/>
          <p:cNvPicPr>
            <a:picLocks noChangeAspect="1"/>
          </p:cNvPicPr>
          <p:nvPr/>
        </p:nvPicPr>
        <p:blipFill>
          <a:blip r:embed="rId19"/>
          <a:stretch>
            <a:fillRect/>
          </a:stretch>
        </p:blipFill>
        <p:spPr>
          <a:xfrm>
            <a:off x="2688335" y="3822191"/>
            <a:ext cx="274319" cy="274319"/>
          </a:xfrm>
          <a:prstGeom prst="rect">
            <a:avLst/>
          </a:prstGeom>
        </p:spPr>
      </p:pic>
      <p:sp>
        <p:nvSpPr>
          <p:cNvPr id="57" name="TextBox 56"/>
          <p:cNvSpPr txBox="1"/>
          <p:nvPr/>
        </p:nvSpPr>
        <p:spPr>
          <a:xfrm>
            <a:off x="2688335" y="4105655"/>
            <a:ext cx="640080" cy="146304"/>
          </a:xfrm>
          <a:prstGeom prst="rect">
            <a:avLst/>
          </a:prstGeom>
          <a:noFill/>
        </p:spPr>
        <p:txBody>
          <a:bodyPr wrap="none">
            <a:spAutoFit/>
          </a:bodyPr>
          <a:lstStyle/>
          <a:p>
            <a:pPr algn="ctr"/>
            <a:r>
              <a:rPr sz="600">
                <a:solidFill>
                  <a:srgbClr val="B9A488"/>
                </a:solidFill>
              </a:rPr>
              <a:t>PoisonPlantTallG</a:t>
            </a:r>
          </a:p>
        </p:txBody>
      </p:sp>
      <p:pic>
        <p:nvPicPr>
          <p:cNvPr id="58" name="RG_Plant_TallToxiGrass" descr="RG_Plant_TallToxiGrass (RG_Plant_TallToxiGrass)&#10;"/>
          <p:cNvPicPr>
            <a:picLocks noChangeAspect="1"/>
          </p:cNvPicPr>
          <p:nvPr/>
        </p:nvPicPr>
        <p:blipFill>
          <a:blip r:embed="rId17"/>
          <a:stretch>
            <a:fillRect/>
          </a:stretch>
        </p:blipFill>
        <p:spPr>
          <a:xfrm>
            <a:off x="3090671" y="3822191"/>
            <a:ext cx="274319" cy="274319"/>
          </a:xfrm>
          <a:prstGeom prst="rect">
            <a:avLst/>
          </a:prstGeom>
        </p:spPr>
      </p:pic>
      <p:sp>
        <p:nvSpPr>
          <p:cNvPr id="59" name="TextBox 58"/>
          <p:cNvSpPr txBox="1"/>
          <p:nvPr/>
        </p:nvSpPr>
        <p:spPr>
          <a:xfrm>
            <a:off x="3090671" y="4105655"/>
            <a:ext cx="640080" cy="146304"/>
          </a:xfrm>
          <a:prstGeom prst="rect">
            <a:avLst/>
          </a:prstGeom>
          <a:noFill/>
        </p:spPr>
        <p:txBody>
          <a:bodyPr wrap="none">
            <a:spAutoFit/>
          </a:bodyPr>
          <a:lstStyle/>
          <a:p>
            <a:pPr algn="ctr"/>
            <a:r>
              <a:rPr sz="600">
                <a:solidFill>
                  <a:srgbClr val="B9A488"/>
                </a:solidFill>
              </a:rPr>
              <a:t>RG_Plant_TallTox</a:t>
            </a:r>
          </a:p>
        </p:txBody>
      </p:sp>
      <p:sp>
        <p:nvSpPr>
          <p:cNvPr id="60" name="Plant_Toxipotato" descr="Plant_Toxipotato (Plant_Toxipotato)&#10;&#10;[no cached sprite]"/>
          <p:cNvSpPr/>
          <p:nvPr/>
        </p:nvSpPr>
        <p:spPr>
          <a:xfrm>
            <a:off x="3493007"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Plant_Toxipotato</a:t>
            </a:r>
          </a:p>
        </p:txBody>
      </p:sp>
      <p:sp>
        <p:nvSpPr>
          <p:cNvPr id="61" name="TextBox 60"/>
          <p:cNvSpPr txBox="1"/>
          <p:nvPr/>
        </p:nvSpPr>
        <p:spPr>
          <a:xfrm>
            <a:off x="3493007" y="4105655"/>
            <a:ext cx="640080" cy="146304"/>
          </a:xfrm>
          <a:prstGeom prst="rect">
            <a:avLst/>
          </a:prstGeom>
          <a:noFill/>
        </p:spPr>
        <p:txBody>
          <a:bodyPr wrap="none">
            <a:spAutoFit/>
          </a:bodyPr>
          <a:lstStyle/>
          <a:p>
            <a:pPr algn="ctr"/>
            <a:r>
              <a:rPr sz="600">
                <a:solidFill>
                  <a:srgbClr val="B9A488"/>
                </a:solidFill>
              </a:rPr>
              <a:t>Plant_Toxipotato</a:t>
            </a:r>
          </a:p>
        </p:txBody>
      </p:sp>
      <p:sp>
        <p:nvSpPr>
          <p:cNvPr id="62" name="BMT_Plant_WildRashroot" descr="BMT_Plant_WildRashroot (BMT_Plant_WildRashroot)&#10;&#10;[no cached sprite]"/>
          <p:cNvSpPr/>
          <p:nvPr/>
        </p:nvSpPr>
        <p:spPr>
          <a:xfrm>
            <a:off x="3895344"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BMT_Plant_WildRashroot</a:t>
            </a:r>
          </a:p>
        </p:txBody>
      </p:sp>
      <p:sp>
        <p:nvSpPr>
          <p:cNvPr id="63" name="TextBox 62"/>
          <p:cNvSpPr txBox="1"/>
          <p:nvPr/>
        </p:nvSpPr>
        <p:spPr>
          <a:xfrm>
            <a:off x="3895344" y="4105655"/>
            <a:ext cx="640080" cy="146304"/>
          </a:xfrm>
          <a:prstGeom prst="rect">
            <a:avLst/>
          </a:prstGeom>
          <a:noFill/>
        </p:spPr>
        <p:txBody>
          <a:bodyPr wrap="none">
            <a:spAutoFit/>
          </a:bodyPr>
          <a:lstStyle/>
          <a:p>
            <a:pPr algn="ctr"/>
            <a:r>
              <a:rPr sz="600">
                <a:solidFill>
                  <a:srgbClr val="B9A488"/>
                </a:solidFill>
              </a:rPr>
              <a:t>BMT_Plant_WildRa</a:t>
            </a:r>
          </a:p>
        </p:txBody>
      </p:sp>
      <p:sp>
        <p:nvSpPr>
          <p:cNvPr id="64" name="BMT_Plant_TumorbulbHyacinth" descr="BMT_Plant_TumorbulbHyacinth (BMT_Plant_TumorbulbHyacinth)&#10;&#10;[no cached sprite]"/>
          <p:cNvSpPr/>
          <p:nvPr/>
        </p:nvSpPr>
        <p:spPr>
          <a:xfrm>
            <a:off x="4297679"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BMT_Plant_TumorbulbHyacinth</a:t>
            </a:r>
          </a:p>
        </p:txBody>
      </p:sp>
      <p:sp>
        <p:nvSpPr>
          <p:cNvPr id="65" name="TextBox 64"/>
          <p:cNvSpPr txBox="1"/>
          <p:nvPr/>
        </p:nvSpPr>
        <p:spPr>
          <a:xfrm>
            <a:off x="4297679" y="4105655"/>
            <a:ext cx="640080" cy="146304"/>
          </a:xfrm>
          <a:prstGeom prst="rect">
            <a:avLst/>
          </a:prstGeom>
          <a:noFill/>
        </p:spPr>
        <p:txBody>
          <a:bodyPr wrap="none">
            <a:spAutoFit/>
          </a:bodyPr>
          <a:lstStyle/>
          <a:p>
            <a:pPr algn="ctr"/>
            <a:r>
              <a:rPr sz="600">
                <a:solidFill>
                  <a:srgbClr val="B9A488"/>
                </a:solidFill>
              </a:rPr>
              <a:t>BMT_Plant_Tumorb</a:t>
            </a:r>
          </a:p>
        </p:txBody>
      </p:sp>
      <p:pic>
        <p:nvPicPr>
          <p:cNvPr id="66" name="PoisonPlantBush" descr="PoisonPlantBush (PoisonPlantBush)&#10;"/>
          <p:cNvPicPr>
            <a:picLocks noChangeAspect="1"/>
          </p:cNvPicPr>
          <p:nvPr/>
        </p:nvPicPr>
        <p:blipFill>
          <a:blip r:embed="rId20"/>
          <a:stretch>
            <a:fillRect/>
          </a:stretch>
        </p:blipFill>
        <p:spPr>
          <a:xfrm>
            <a:off x="4700015" y="3822191"/>
            <a:ext cx="274319" cy="274319"/>
          </a:xfrm>
          <a:prstGeom prst="rect">
            <a:avLst/>
          </a:prstGeom>
        </p:spPr>
      </p:pic>
      <p:sp>
        <p:nvSpPr>
          <p:cNvPr id="67" name="TextBox 66"/>
          <p:cNvSpPr txBox="1"/>
          <p:nvPr/>
        </p:nvSpPr>
        <p:spPr>
          <a:xfrm>
            <a:off x="4700015" y="4105655"/>
            <a:ext cx="640080" cy="146304"/>
          </a:xfrm>
          <a:prstGeom prst="rect">
            <a:avLst/>
          </a:prstGeom>
          <a:noFill/>
        </p:spPr>
        <p:txBody>
          <a:bodyPr wrap="none">
            <a:spAutoFit/>
          </a:bodyPr>
          <a:lstStyle/>
          <a:p>
            <a:pPr algn="ctr"/>
            <a:r>
              <a:rPr sz="600">
                <a:solidFill>
                  <a:srgbClr val="B9A488"/>
                </a:solidFill>
              </a:rPr>
              <a:t>PoisonPlantBush</a:t>
            </a:r>
          </a:p>
        </p:txBody>
      </p:sp>
      <p:sp>
        <p:nvSpPr>
          <p:cNvPr id="68" name="BMT_Plant_Doomsprout" descr="BMT_Plant_Doomsprout (BMT_Plant_Doomsprout)&#10;&#10;[no cached sprite]"/>
          <p:cNvSpPr/>
          <p:nvPr/>
        </p:nvSpPr>
        <p:spPr>
          <a:xfrm>
            <a:off x="5102351"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BMT_Plant_Doomsprout</a:t>
            </a:r>
          </a:p>
        </p:txBody>
      </p:sp>
      <p:sp>
        <p:nvSpPr>
          <p:cNvPr id="69" name="TextBox 68"/>
          <p:cNvSpPr txBox="1"/>
          <p:nvPr/>
        </p:nvSpPr>
        <p:spPr>
          <a:xfrm>
            <a:off x="5102351" y="4105655"/>
            <a:ext cx="640080" cy="146304"/>
          </a:xfrm>
          <a:prstGeom prst="rect">
            <a:avLst/>
          </a:prstGeom>
          <a:noFill/>
        </p:spPr>
        <p:txBody>
          <a:bodyPr wrap="none">
            <a:spAutoFit/>
          </a:bodyPr>
          <a:lstStyle/>
          <a:p>
            <a:pPr algn="ctr"/>
            <a:r>
              <a:rPr sz="600">
                <a:solidFill>
                  <a:srgbClr val="B9A488"/>
                </a:solidFill>
              </a:rPr>
              <a:t>BMT_Plant_Doomsp</a:t>
            </a:r>
          </a:p>
        </p:txBody>
      </p:sp>
      <p:pic>
        <p:nvPicPr>
          <p:cNvPr id="70" name="PoisonShrub" descr="PoisonShrub (PoisonShrub)&#10;"/>
          <p:cNvPicPr>
            <a:picLocks noChangeAspect="1"/>
          </p:cNvPicPr>
          <p:nvPr/>
        </p:nvPicPr>
        <p:blipFill>
          <a:blip r:embed="rId21"/>
          <a:stretch>
            <a:fillRect/>
          </a:stretch>
        </p:blipFill>
        <p:spPr>
          <a:xfrm>
            <a:off x="5504687" y="3822191"/>
            <a:ext cx="274319" cy="274319"/>
          </a:xfrm>
          <a:prstGeom prst="rect">
            <a:avLst/>
          </a:prstGeom>
        </p:spPr>
      </p:pic>
      <p:sp>
        <p:nvSpPr>
          <p:cNvPr id="71" name="TextBox 70"/>
          <p:cNvSpPr txBox="1"/>
          <p:nvPr/>
        </p:nvSpPr>
        <p:spPr>
          <a:xfrm>
            <a:off x="5504687" y="4105655"/>
            <a:ext cx="640080" cy="146304"/>
          </a:xfrm>
          <a:prstGeom prst="rect">
            <a:avLst/>
          </a:prstGeom>
          <a:noFill/>
        </p:spPr>
        <p:txBody>
          <a:bodyPr wrap="none">
            <a:spAutoFit/>
          </a:bodyPr>
          <a:lstStyle/>
          <a:p>
            <a:pPr algn="ctr"/>
            <a:r>
              <a:rPr sz="600">
                <a:solidFill>
                  <a:srgbClr val="B9A488"/>
                </a:solidFill>
              </a:rPr>
              <a:t>PoisonShrub</a:t>
            </a:r>
          </a:p>
        </p:txBody>
      </p:sp>
      <p:pic>
        <p:nvPicPr>
          <p:cNvPr id="72" name="BMT_Plant_ScorchedStars" descr="BMT_Plant_ScorchedStars (BMT_Plant_ScorchedStars)&#10;"/>
          <p:cNvPicPr>
            <a:picLocks noChangeAspect="1"/>
          </p:cNvPicPr>
          <p:nvPr/>
        </p:nvPicPr>
        <p:blipFill>
          <a:blip r:embed="rId22"/>
          <a:stretch>
            <a:fillRect/>
          </a:stretch>
        </p:blipFill>
        <p:spPr>
          <a:xfrm>
            <a:off x="5907023" y="3822191"/>
            <a:ext cx="274319" cy="274319"/>
          </a:xfrm>
          <a:prstGeom prst="rect">
            <a:avLst/>
          </a:prstGeom>
        </p:spPr>
      </p:pic>
      <p:sp>
        <p:nvSpPr>
          <p:cNvPr id="73" name="TextBox 72"/>
          <p:cNvSpPr txBox="1"/>
          <p:nvPr/>
        </p:nvSpPr>
        <p:spPr>
          <a:xfrm>
            <a:off x="5907023" y="4105655"/>
            <a:ext cx="640080" cy="146304"/>
          </a:xfrm>
          <a:prstGeom prst="rect">
            <a:avLst/>
          </a:prstGeom>
          <a:noFill/>
        </p:spPr>
        <p:txBody>
          <a:bodyPr wrap="none">
            <a:spAutoFit/>
          </a:bodyPr>
          <a:lstStyle/>
          <a:p>
            <a:pPr algn="ctr"/>
            <a:r>
              <a:rPr sz="600">
                <a:solidFill>
                  <a:srgbClr val="B9A488"/>
                </a:solidFill>
              </a:rPr>
              <a:t>BMT_Plant_Scorch</a:t>
            </a:r>
          </a:p>
        </p:txBody>
      </p:sp>
      <p:sp>
        <p:nvSpPr>
          <p:cNvPr id="74" name="BMT_RainbowTongue" descr="BMT_RainbowTongue (BMT_RainbowTongue)&#10;&#10;[no cached sprite]"/>
          <p:cNvSpPr/>
          <p:nvPr/>
        </p:nvSpPr>
        <p:spPr>
          <a:xfrm>
            <a:off x="6309359"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BMT_RainbowTongue</a:t>
            </a:r>
          </a:p>
        </p:txBody>
      </p:sp>
      <p:sp>
        <p:nvSpPr>
          <p:cNvPr id="75" name="TextBox 74"/>
          <p:cNvSpPr txBox="1"/>
          <p:nvPr/>
        </p:nvSpPr>
        <p:spPr>
          <a:xfrm>
            <a:off x="6309359" y="4105655"/>
            <a:ext cx="640080" cy="146304"/>
          </a:xfrm>
          <a:prstGeom prst="rect">
            <a:avLst/>
          </a:prstGeom>
          <a:noFill/>
        </p:spPr>
        <p:txBody>
          <a:bodyPr wrap="none">
            <a:spAutoFit/>
          </a:bodyPr>
          <a:lstStyle/>
          <a:p>
            <a:pPr algn="ctr"/>
            <a:r>
              <a:rPr sz="600">
                <a:solidFill>
                  <a:srgbClr val="B9A488"/>
                </a:solidFill>
              </a:rPr>
              <a:t>BMT_RainbowTongu</a:t>
            </a:r>
          </a:p>
        </p:txBody>
      </p:sp>
      <p:sp>
        <p:nvSpPr>
          <p:cNvPr id="76" name="BMT_Plant_EclipsusFlower" descr="BMT_Plant_EclipsusFlower (BMT_Plant_EclipsusFlower)&#10;&#10;[no cached sprite]"/>
          <p:cNvSpPr/>
          <p:nvPr/>
        </p:nvSpPr>
        <p:spPr>
          <a:xfrm>
            <a:off x="6711695"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BMT_Plant_EclipsusFlower</a:t>
            </a:r>
          </a:p>
        </p:txBody>
      </p:sp>
      <p:sp>
        <p:nvSpPr>
          <p:cNvPr id="77" name="TextBox 76"/>
          <p:cNvSpPr txBox="1"/>
          <p:nvPr/>
        </p:nvSpPr>
        <p:spPr>
          <a:xfrm>
            <a:off x="6711695" y="4105655"/>
            <a:ext cx="640080" cy="146304"/>
          </a:xfrm>
          <a:prstGeom prst="rect">
            <a:avLst/>
          </a:prstGeom>
          <a:noFill/>
        </p:spPr>
        <p:txBody>
          <a:bodyPr wrap="none">
            <a:spAutoFit/>
          </a:bodyPr>
          <a:lstStyle/>
          <a:p>
            <a:pPr algn="ctr"/>
            <a:r>
              <a:rPr sz="600">
                <a:solidFill>
                  <a:srgbClr val="B9A488"/>
                </a:solidFill>
              </a:rPr>
              <a:t>BMT_Plant_Eclips</a:t>
            </a:r>
          </a:p>
        </p:txBody>
      </p:sp>
      <p:sp>
        <p:nvSpPr>
          <p:cNvPr id="78" name="BMT_Plant_EclipsusLeaves" descr="BMT_Plant_EclipsusLeaves (BMT_Plant_EclipsusLeaves)&#10;&#10;[no cached sprite]"/>
          <p:cNvSpPr/>
          <p:nvPr/>
        </p:nvSpPr>
        <p:spPr>
          <a:xfrm>
            <a:off x="7114031"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BMT_Plant_EclipsusLeaves</a:t>
            </a:r>
          </a:p>
        </p:txBody>
      </p:sp>
      <p:sp>
        <p:nvSpPr>
          <p:cNvPr id="79" name="TextBox 78"/>
          <p:cNvSpPr txBox="1"/>
          <p:nvPr/>
        </p:nvSpPr>
        <p:spPr>
          <a:xfrm>
            <a:off x="7114031" y="4105655"/>
            <a:ext cx="640080" cy="146304"/>
          </a:xfrm>
          <a:prstGeom prst="rect">
            <a:avLst/>
          </a:prstGeom>
          <a:noFill/>
        </p:spPr>
        <p:txBody>
          <a:bodyPr wrap="none">
            <a:spAutoFit/>
          </a:bodyPr>
          <a:lstStyle/>
          <a:p>
            <a:pPr algn="ctr"/>
            <a:r>
              <a:rPr sz="600">
                <a:solidFill>
                  <a:srgbClr val="B9A488"/>
                </a:solidFill>
              </a:rPr>
              <a:t>BMT_Plant_Eclips</a:t>
            </a:r>
          </a:p>
        </p:txBody>
      </p:sp>
      <p:sp>
        <p:nvSpPr>
          <p:cNvPr id="80" name="BMT_Plant_GutterPlantain" descr="BMT_Plant_GutterPlantain (BMT_Plant_GutterPlantain)&#10;&#10;[no cached sprite]"/>
          <p:cNvSpPr/>
          <p:nvPr/>
        </p:nvSpPr>
        <p:spPr>
          <a:xfrm>
            <a:off x="7516367"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BMT_Plant_GutterPlantain</a:t>
            </a:r>
          </a:p>
        </p:txBody>
      </p:sp>
      <p:sp>
        <p:nvSpPr>
          <p:cNvPr id="81" name="TextBox 80"/>
          <p:cNvSpPr txBox="1"/>
          <p:nvPr/>
        </p:nvSpPr>
        <p:spPr>
          <a:xfrm>
            <a:off x="7516367" y="4105655"/>
            <a:ext cx="640080" cy="146304"/>
          </a:xfrm>
          <a:prstGeom prst="rect">
            <a:avLst/>
          </a:prstGeom>
          <a:noFill/>
        </p:spPr>
        <p:txBody>
          <a:bodyPr wrap="none">
            <a:spAutoFit/>
          </a:bodyPr>
          <a:lstStyle/>
          <a:p>
            <a:pPr algn="ctr"/>
            <a:r>
              <a:rPr sz="600">
                <a:solidFill>
                  <a:srgbClr val="B9A488"/>
                </a:solidFill>
              </a:rPr>
              <a:t>BMT_Plant_Gutter</a:t>
            </a:r>
          </a:p>
        </p:txBody>
      </p:sp>
      <p:sp>
        <p:nvSpPr>
          <p:cNvPr id="82" name="BMT_Plant_Snaketails" descr="BMT_Plant_Snaketails (BMT_Plant_Snaketails)&#10;&#10;[no cached sprite]"/>
          <p:cNvSpPr/>
          <p:nvPr/>
        </p:nvSpPr>
        <p:spPr>
          <a:xfrm>
            <a:off x="7918703"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BMT_Plant_Snaketails</a:t>
            </a:r>
          </a:p>
        </p:txBody>
      </p:sp>
      <p:sp>
        <p:nvSpPr>
          <p:cNvPr id="83" name="TextBox 82"/>
          <p:cNvSpPr txBox="1"/>
          <p:nvPr/>
        </p:nvSpPr>
        <p:spPr>
          <a:xfrm>
            <a:off x="7918703" y="4105655"/>
            <a:ext cx="640080" cy="146304"/>
          </a:xfrm>
          <a:prstGeom prst="rect">
            <a:avLst/>
          </a:prstGeom>
          <a:noFill/>
        </p:spPr>
        <p:txBody>
          <a:bodyPr wrap="none">
            <a:spAutoFit/>
          </a:bodyPr>
          <a:lstStyle/>
          <a:p>
            <a:pPr algn="ctr"/>
            <a:r>
              <a:rPr sz="600">
                <a:solidFill>
                  <a:srgbClr val="B9A488"/>
                </a:solidFill>
              </a:rPr>
              <a:t>BMT_Plant_Snaket</a:t>
            </a:r>
          </a:p>
        </p:txBody>
      </p:sp>
      <p:sp>
        <p:nvSpPr>
          <p:cNvPr id="84" name="VRE_PoluxBush" descr="VRE_PoluxBush (VRE_PoluxBush)&#10;&#10;[no cached sprite]"/>
          <p:cNvSpPr/>
          <p:nvPr/>
        </p:nvSpPr>
        <p:spPr>
          <a:xfrm>
            <a:off x="8321039"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VRE_PoluxBush</a:t>
            </a:r>
          </a:p>
        </p:txBody>
      </p:sp>
      <p:sp>
        <p:nvSpPr>
          <p:cNvPr id="85" name="TextBox 84"/>
          <p:cNvSpPr txBox="1"/>
          <p:nvPr/>
        </p:nvSpPr>
        <p:spPr>
          <a:xfrm>
            <a:off x="8321039" y="4105655"/>
            <a:ext cx="640080" cy="146304"/>
          </a:xfrm>
          <a:prstGeom prst="rect">
            <a:avLst/>
          </a:prstGeom>
          <a:noFill/>
        </p:spPr>
        <p:txBody>
          <a:bodyPr wrap="none">
            <a:spAutoFit/>
          </a:bodyPr>
          <a:lstStyle/>
          <a:p>
            <a:pPr algn="ctr"/>
            <a:r>
              <a:rPr sz="600">
                <a:solidFill>
                  <a:srgbClr val="B9A488"/>
                </a:solidFill>
              </a:rPr>
              <a:t>VRE_PoluxBush</a:t>
            </a:r>
          </a:p>
        </p:txBody>
      </p:sp>
      <p:pic>
        <p:nvPicPr>
          <p:cNvPr id="86" name="AB_WeepingToxberry" descr="AB_WeepingToxberry (AB_WeepingToxberry)&#10;"/>
          <p:cNvPicPr>
            <a:picLocks noChangeAspect="1"/>
          </p:cNvPicPr>
          <p:nvPr/>
        </p:nvPicPr>
        <p:blipFill>
          <a:blip r:embed="rId23"/>
          <a:stretch>
            <a:fillRect/>
          </a:stretch>
        </p:blipFill>
        <p:spPr>
          <a:xfrm>
            <a:off x="8723375" y="3822191"/>
            <a:ext cx="274319" cy="274319"/>
          </a:xfrm>
          <a:prstGeom prst="rect">
            <a:avLst/>
          </a:prstGeom>
        </p:spPr>
      </p:pic>
      <p:sp>
        <p:nvSpPr>
          <p:cNvPr id="87" name="TextBox 86"/>
          <p:cNvSpPr txBox="1"/>
          <p:nvPr/>
        </p:nvSpPr>
        <p:spPr>
          <a:xfrm>
            <a:off x="8723375" y="4105655"/>
            <a:ext cx="640080" cy="146304"/>
          </a:xfrm>
          <a:prstGeom prst="rect">
            <a:avLst/>
          </a:prstGeom>
          <a:noFill/>
        </p:spPr>
        <p:txBody>
          <a:bodyPr wrap="none">
            <a:spAutoFit/>
          </a:bodyPr>
          <a:lstStyle/>
          <a:p>
            <a:pPr algn="ctr"/>
            <a:r>
              <a:rPr sz="600">
                <a:solidFill>
                  <a:srgbClr val="B9A488"/>
                </a:solidFill>
              </a:rPr>
              <a:t>AB_WeepingToxber</a:t>
            </a:r>
          </a:p>
        </p:txBody>
      </p:sp>
      <p:sp>
        <p:nvSpPr>
          <p:cNvPr id="88" name="Plant_TreePolux" descr="Plant_TreePolux (Plant_TreePolux)&#10;&#10;[no cached sprite]"/>
          <p:cNvSpPr/>
          <p:nvPr/>
        </p:nvSpPr>
        <p:spPr>
          <a:xfrm>
            <a:off x="9125711"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Plant_TreePolux</a:t>
            </a:r>
          </a:p>
        </p:txBody>
      </p:sp>
      <p:sp>
        <p:nvSpPr>
          <p:cNvPr id="89" name="TextBox 88"/>
          <p:cNvSpPr txBox="1"/>
          <p:nvPr/>
        </p:nvSpPr>
        <p:spPr>
          <a:xfrm>
            <a:off x="9125711" y="4105655"/>
            <a:ext cx="640080" cy="146304"/>
          </a:xfrm>
          <a:prstGeom prst="rect">
            <a:avLst/>
          </a:prstGeom>
          <a:noFill/>
        </p:spPr>
        <p:txBody>
          <a:bodyPr wrap="none">
            <a:spAutoFit/>
          </a:bodyPr>
          <a:lstStyle/>
          <a:p>
            <a:pPr algn="ctr"/>
            <a:r>
              <a:rPr sz="600">
                <a:solidFill>
                  <a:srgbClr val="B9A488"/>
                </a:solidFill>
              </a:rPr>
              <a:t>Plant_TreePolux</a:t>
            </a:r>
          </a:p>
        </p:txBody>
      </p:sp>
      <p:pic>
        <p:nvPicPr>
          <p:cNvPr id="90" name="AB_ToxiBulb" descr="AB_ToxiBulb (AB_ToxiBulb)&#10;"/>
          <p:cNvPicPr>
            <a:picLocks noChangeAspect="1"/>
          </p:cNvPicPr>
          <p:nvPr/>
        </p:nvPicPr>
        <p:blipFill>
          <a:blip r:embed="rId24"/>
          <a:stretch>
            <a:fillRect/>
          </a:stretch>
        </p:blipFill>
        <p:spPr>
          <a:xfrm>
            <a:off x="9528047" y="3822191"/>
            <a:ext cx="274319" cy="274319"/>
          </a:xfrm>
          <a:prstGeom prst="rect">
            <a:avLst/>
          </a:prstGeom>
        </p:spPr>
      </p:pic>
      <p:sp>
        <p:nvSpPr>
          <p:cNvPr id="91" name="TextBox 90"/>
          <p:cNvSpPr txBox="1"/>
          <p:nvPr/>
        </p:nvSpPr>
        <p:spPr>
          <a:xfrm>
            <a:off x="9528047" y="4105655"/>
            <a:ext cx="640080" cy="146304"/>
          </a:xfrm>
          <a:prstGeom prst="rect">
            <a:avLst/>
          </a:prstGeom>
          <a:noFill/>
        </p:spPr>
        <p:txBody>
          <a:bodyPr wrap="none">
            <a:spAutoFit/>
          </a:bodyPr>
          <a:lstStyle/>
          <a:p>
            <a:pPr algn="ctr"/>
            <a:r>
              <a:rPr sz="600">
                <a:solidFill>
                  <a:srgbClr val="B9A488"/>
                </a:solidFill>
              </a:rPr>
              <a:t>AB_ToxiBulb</a:t>
            </a:r>
          </a:p>
        </p:txBody>
      </p:sp>
      <p:sp>
        <p:nvSpPr>
          <p:cNvPr id="92" name="AB_GiantToxicFlower" descr="AB_GiantToxicFlower (AB_GiantToxicFlower)&#10;&#10;[no cached sprite]"/>
          <p:cNvSpPr/>
          <p:nvPr/>
        </p:nvSpPr>
        <p:spPr>
          <a:xfrm>
            <a:off x="9930383" y="3822191"/>
            <a:ext cx="640080" cy="27431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AB_GiantToxicFlower</a:t>
            </a:r>
          </a:p>
        </p:txBody>
      </p:sp>
      <p:sp>
        <p:nvSpPr>
          <p:cNvPr id="93" name="TextBox 92"/>
          <p:cNvSpPr txBox="1"/>
          <p:nvPr/>
        </p:nvSpPr>
        <p:spPr>
          <a:xfrm>
            <a:off x="9930383" y="4105655"/>
            <a:ext cx="640080" cy="146304"/>
          </a:xfrm>
          <a:prstGeom prst="rect">
            <a:avLst/>
          </a:prstGeom>
          <a:noFill/>
        </p:spPr>
        <p:txBody>
          <a:bodyPr wrap="none">
            <a:spAutoFit/>
          </a:bodyPr>
          <a:lstStyle/>
          <a:p>
            <a:pPr algn="ctr"/>
            <a:r>
              <a:rPr sz="600">
                <a:solidFill>
                  <a:srgbClr val="B9A488"/>
                </a:solidFill>
              </a:rPr>
              <a:t>AB_GiantToxicFlo</a:t>
            </a:r>
          </a:p>
        </p:txBody>
      </p:sp>
      <p:sp>
        <p:nvSpPr>
          <p:cNvPr id="94" name="TextBox 93"/>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the first truly dead ground. Thematic handle: **no outlet** — and its image: **a just-lost sunset, flickering with wrathful lightning.**_ 🔑 **Read against `forsaken_crags.md` where the regions overlap** (Gray Crags, Sunreach, Nightspill): the interleave ruling (owner, 2026-09-06) is crag = the standing relief that shatters the wind, wasteland = the drained flat between — no border drawn, no tile churn, and never regularized into bullseye rings. 🔑 **Read against `arid_shrubland.md`.** The shrubland is where the land goes mild and life becomes the danger; the Wasteland is the opposite inversion — **the land itself is the only danger, and there is almost nothing alive to fear.** You can sleep here without a watch. The ground will still be killing you while you do.</a:t>
            </a:r>
          </a:p>
        </p:txBody>
      </p:sp>
      <p:sp>
        <p:nvSpPr>
          <p:cNvPr id="95" name="TextBox 94"/>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(1): BMT_Stoneback. Departures (7 moves): AcanthamoebaSmall, Eyeling, pustule hornets x3, SW_Electrictick, Toxalope; (1 out): AA_FissionMouse.
INCONSISTENCIES:
1. None structural — losses are all correct routings; ban 3 ("wildlife never the headline threat") is easier to honor at 14.
OPPORTUNITIES:
1. The wretched-many register (§4) has room for 2-3 of the 103 unrouted homeless needs-owner rows (sick, cornered, scavenging body plans).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the_greentide</a:t>
            </a:r>
            <a:r>
              <a:rPr sz="1100">
                <a:solidFill>
                  <a:srgbClr val="B9A488"/>
                </a:solidFill>
              </a:rPr>
              <a:t>   18 animals · 11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fambaa" descr="fambaa (Fambaa)&#10;drawSize 6.0 · assigned here · art:improve&#10;“tree crusher”"/>
          <p:cNvPicPr>
            <a:picLocks noChangeAspect="1"/>
          </p:cNvPicPr>
          <p:nvPr/>
        </p:nvPicPr>
        <p:blipFill>
          <a:blip r:embed="rId2"/>
          <a:stretch>
            <a:fillRect/>
          </a:stretch>
        </p:blipFill>
        <p:spPr>
          <a:xfrm>
            <a:off x="274320" y="932688"/>
            <a:ext cx="1973267" cy="1973267"/>
          </a:xfrm>
          <a:prstGeom prst="rect">
            <a:avLst/>
          </a:prstGeom>
        </p:spPr>
      </p:pic>
      <p:sp>
        <p:nvSpPr>
          <p:cNvPr id="5" name="Oval 4"/>
          <p:cNvSpPr/>
          <p:nvPr/>
        </p:nvSpPr>
        <p:spPr>
          <a:xfrm>
            <a:off x="2165291"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915099"/>
            <a:ext cx="1973267" cy="146304"/>
          </a:xfrm>
          <a:prstGeom prst="rect">
            <a:avLst/>
          </a:prstGeom>
          <a:noFill/>
        </p:spPr>
        <p:txBody>
          <a:bodyPr wrap="none">
            <a:spAutoFit/>
          </a:bodyPr>
          <a:lstStyle/>
          <a:p>
            <a:pPr algn="ctr"/>
            <a:r>
              <a:rPr sz="600">
                <a:solidFill>
                  <a:srgbClr val="B9A488"/>
                </a:solidFill>
              </a:rPr>
              <a:t>fambaa</a:t>
            </a:r>
          </a:p>
        </p:txBody>
      </p:sp>
      <p:pic>
        <p:nvPicPr>
          <p:cNvPr id="7" name="Dragonsnake" descr="Dragonsnake (Dragonsnake)&#10;drawSize 4.0 · assigned here · art:improve"/>
          <p:cNvPicPr>
            <a:picLocks noChangeAspect="1"/>
          </p:cNvPicPr>
          <p:nvPr/>
        </p:nvPicPr>
        <p:blipFill>
          <a:blip r:embed="rId3"/>
          <a:stretch>
            <a:fillRect/>
          </a:stretch>
        </p:blipFill>
        <p:spPr>
          <a:xfrm>
            <a:off x="2375603" y="932688"/>
            <a:ext cx="1973267" cy="1973267"/>
          </a:xfrm>
          <a:prstGeom prst="rect">
            <a:avLst/>
          </a:prstGeom>
        </p:spPr>
      </p:pic>
      <p:sp>
        <p:nvSpPr>
          <p:cNvPr id="8" name="Oval 7"/>
          <p:cNvSpPr/>
          <p:nvPr/>
        </p:nvSpPr>
        <p:spPr>
          <a:xfrm>
            <a:off x="426657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5603" y="2915099"/>
            <a:ext cx="1973267" cy="146304"/>
          </a:xfrm>
          <a:prstGeom prst="rect">
            <a:avLst/>
          </a:prstGeom>
          <a:noFill/>
        </p:spPr>
        <p:txBody>
          <a:bodyPr wrap="none">
            <a:spAutoFit/>
          </a:bodyPr>
          <a:lstStyle/>
          <a:p>
            <a:pPr algn="ctr"/>
            <a:r>
              <a:rPr sz="600">
                <a:solidFill>
                  <a:srgbClr val="B9A488"/>
                </a:solidFill>
              </a:rPr>
              <a:t>Dragonsnake</a:t>
            </a:r>
          </a:p>
        </p:txBody>
      </p:sp>
      <p:pic>
        <p:nvPicPr>
          <p:cNvPr id="10" name="Peko-peko" descr="Peko-peko (PekoPeko)&#10;drawSize 2.5 · assigned here · art:improve"/>
          <p:cNvPicPr>
            <a:picLocks noChangeAspect="1"/>
          </p:cNvPicPr>
          <p:nvPr/>
        </p:nvPicPr>
        <p:blipFill>
          <a:blip r:embed="rId4"/>
          <a:stretch>
            <a:fillRect/>
          </a:stretch>
        </p:blipFill>
        <p:spPr>
          <a:xfrm>
            <a:off x="4476886" y="1631553"/>
            <a:ext cx="1274401" cy="1274401"/>
          </a:xfrm>
          <a:prstGeom prst="rect">
            <a:avLst/>
          </a:prstGeom>
        </p:spPr>
      </p:pic>
      <p:sp>
        <p:nvSpPr>
          <p:cNvPr id="11" name="Oval 10"/>
          <p:cNvSpPr/>
          <p:nvPr/>
        </p:nvSpPr>
        <p:spPr>
          <a:xfrm>
            <a:off x="5668992" y="16132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6886" y="2915099"/>
            <a:ext cx="1274401" cy="146304"/>
          </a:xfrm>
          <a:prstGeom prst="rect">
            <a:avLst/>
          </a:prstGeom>
          <a:noFill/>
        </p:spPr>
        <p:txBody>
          <a:bodyPr wrap="none">
            <a:spAutoFit/>
          </a:bodyPr>
          <a:lstStyle/>
          <a:p>
            <a:pPr algn="ctr"/>
            <a:r>
              <a:rPr sz="600">
                <a:solidFill>
                  <a:srgbClr val="B9A488"/>
                </a:solidFill>
              </a:rPr>
              <a:t>Peko-peko</a:t>
            </a:r>
          </a:p>
        </p:txBody>
      </p:sp>
      <p:pic>
        <p:nvPicPr>
          <p:cNvPr id="13" name="gelagrub" descr="gelagrub (Gelagrub)&#10;drawSize 2.4000000953674316 · assigned here · art:keep"/>
          <p:cNvPicPr>
            <a:picLocks noChangeAspect="1"/>
          </p:cNvPicPr>
          <p:nvPr/>
        </p:nvPicPr>
        <p:blipFill>
          <a:blip r:embed="rId5"/>
          <a:stretch>
            <a:fillRect/>
          </a:stretch>
        </p:blipFill>
        <p:spPr>
          <a:xfrm>
            <a:off x="5879304" y="1682529"/>
            <a:ext cx="1223425" cy="1223425"/>
          </a:xfrm>
          <a:prstGeom prst="rect">
            <a:avLst/>
          </a:prstGeom>
        </p:spPr>
      </p:pic>
      <p:sp>
        <p:nvSpPr>
          <p:cNvPr id="14" name="Oval 13"/>
          <p:cNvSpPr/>
          <p:nvPr/>
        </p:nvSpPr>
        <p:spPr>
          <a:xfrm>
            <a:off x="7020434" y="166424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79304" y="2915099"/>
            <a:ext cx="1223425" cy="146304"/>
          </a:xfrm>
          <a:prstGeom prst="rect">
            <a:avLst/>
          </a:prstGeom>
          <a:noFill/>
        </p:spPr>
        <p:txBody>
          <a:bodyPr wrap="none">
            <a:spAutoFit/>
          </a:bodyPr>
          <a:lstStyle/>
          <a:p>
            <a:pPr algn="ctr"/>
            <a:r>
              <a:rPr sz="600">
                <a:solidFill>
                  <a:srgbClr val="B9A488"/>
                </a:solidFill>
              </a:rPr>
              <a:t>gelagrub</a:t>
            </a:r>
          </a:p>
        </p:txBody>
      </p:sp>
      <p:pic>
        <p:nvPicPr>
          <p:cNvPr id="16" name="hawk-bat" descr="hawk-bat (Hawkbat)&#10;drawSize 2.0 · assigned here · art:improve"/>
          <p:cNvPicPr>
            <a:picLocks noChangeAspect="1"/>
          </p:cNvPicPr>
          <p:nvPr/>
        </p:nvPicPr>
        <p:blipFill>
          <a:blip r:embed="rId6"/>
          <a:stretch>
            <a:fillRect/>
          </a:stretch>
        </p:blipFill>
        <p:spPr>
          <a:xfrm>
            <a:off x="7230746" y="1886433"/>
            <a:ext cx="1019521" cy="1019521"/>
          </a:xfrm>
          <a:prstGeom prst="rect">
            <a:avLst/>
          </a:prstGeom>
        </p:spPr>
      </p:pic>
      <p:sp>
        <p:nvSpPr>
          <p:cNvPr id="17" name="Oval 16"/>
          <p:cNvSpPr/>
          <p:nvPr/>
        </p:nvSpPr>
        <p:spPr>
          <a:xfrm>
            <a:off x="8167972" y="186814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30746" y="2915099"/>
            <a:ext cx="1019521" cy="146304"/>
          </a:xfrm>
          <a:prstGeom prst="rect">
            <a:avLst/>
          </a:prstGeom>
          <a:noFill/>
        </p:spPr>
        <p:txBody>
          <a:bodyPr wrap="none">
            <a:spAutoFit/>
          </a:bodyPr>
          <a:lstStyle/>
          <a:p>
            <a:pPr algn="ctr"/>
            <a:r>
              <a:rPr sz="600">
                <a:solidFill>
                  <a:srgbClr val="B9A488"/>
                </a:solidFill>
              </a:rPr>
              <a:t>hawk-bat</a:t>
            </a:r>
          </a:p>
        </p:txBody>
      </p:sp>
      <p:pic>
        <p:nvPicPr>
          <p:cNvPr id="19" name="diggerpede" descr="diggerpede (BMT_Diggerpede)&#10;drawSize 1.5 · assigned here · art:keep"/>
          <p:cNvPicPr>
            <a:picLocks noChangeAspect="1"/>
          </p:cNvPicPr>
          <p:nvPr/>
        </p:nvPicPr>
        <p:blipFill>
          <a:blip r:embed="rId7"/>
          <a:stretch>
            <a:fillRect/>
          </a:stretch>
        </p:blipFill>
        <p:spPr>
          <a:xfrm>
            <a:off x="8378284" y="2141314"/>
            <a:ext cx="764641" cy="764641"/>
          </a:xfrm>
          <a:prstGeom prst="rect">
            <a:avLst/>
          </a:prstGeom>
        </p:spPr>
      </p:pic>
      <p:sp>
        <p:nvSpPr>
          <p:cNvPr id="20" name="Oval 19"/>
          <p:cNvSpPr/>
          <p:nvPr/>
        </p:nvSpPr>
        <p:spPr>
          <a:xfrm>
            <a:off x="9060629" y="212302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78284" y="2915099"/>
            <a:ext cx="764641" cy="146304"/>
          </a:xfrm>
          <a:prstGeom prst="rect">
            <a:avLst/>
          </a:prstGeom>
          <a:noFill/>
        </p:spPr>
        <p:txBody>
          <a:bodyPr wrap="none">
            <a:spAutoFit/>
          </a:bodyPr>
          <a:lstStyle/>
          <a:p>
            <a:pPr algn="ctr"/>
            <a:r>
              <a:rPr sz="600">
                <a:solidFill>
                  <a:srgbClr val="B9A488"/>
                </a:solidFill>
              </a:rPr>
              <a:t>diggerpede</a:t>
            </a:r>
          </a:p>
        </p:txBody>
      </p:sp>
      <p:pic>
        <p:nvPicPr>
          <p:cNvPr id="22" name="k'lor'slug" descr="k'lor'slug (Klorslug)&#10;drawSize 1.5 · assigned here · art:improve"/>
          <p:cNvPicPr>
            <a:picLocks noChangeAspect="1"/>
          </p:cNvPicPr>
          <p:nvPr/>
        </p:nvPicPr>
        <p:blipFill>
          <a:blip r:embed="rId8"/>
          <a:stretch>
            <a:fillRect/>
          </a:stretch>
        </p:blipFill>
        <p:spPr>
          <a:xfrm>
            <a:off x="9270941" y="2141314"/>
            <a:ext cx="764641" cy="764641"/>
          </a:xfrm>
          <a:prstGeom prst="rect">
            <a:avLst/>
          </a:prstGeom>
        </p:spPr>
      </p:pic>
      <p:sp>
        <p:nvSpPr>
          <p:cNvPr id="23" name="Oval 22"/>
          <p:cNvSpPr/>
          <p:nvPr/>
        </p:nvSpPr>
        <p:spPr>
          <a:xfrm>
            <a:off x="9953286" y="212302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70941" y="2915099"/>
            <a:ext cx="764641" cy="146304"/>
          </a:xfrm>
          <a:prstGeom prst="rect">
            <a:avLst/>
          </a:prstGeom>
          <a:noFill/>
        </p:spPr>
        <p:txBody>
          <a:bodyPr wrap="none">
            <a:spAutoFit/>
          </a:bodyPr>
          <a:lstStyle/>
          <a:p>
            <a:pPr algn="ctr"/>
            <a:r>
              <a:rPr sz="600">
                <a:solidFill>
                  <a:srgbClr val="B9A488"/>
                </a:solidFill>
              </a:rPr>
              <a:t>k'lor'slug</a:t>
            </a:r>
          </a:p>
        </p:txBody>
      </p:sp>
      <p:pic>
        <p:nvPicPr>
          <p:cNvPr id="25" name="kinrath" descr="kinrath (Kinrath)&#10;drawSize 1.2000000476837158 · assigned here · art:improve"/>
          <p:cNvPicPr>
            <a:picLocks noChangeAspect="1"/>
          </p:cNvPicPr>
          <p:nvPr/>
        </p:nvPicPr>
        <p:blipFill>
          <a:blip r:embed="rId9"/>
          <a:stretch>
            <a:fillRect/>
          </a:stretch>
        </p:blipFill>
        <p:spPr>
          <a:xfrm>
            <a:off x="10163598" y="2294242"/>
            <a:ext cx="611712" cy="611712"/>
          </a:xfrm>
          <a:prstGeom prst="rect">
            <a:avLst/>
          </a:prstGeom>
        </p:spPr>
      </p:pic>
      <p:sp>
        <p:nvSpPr>
          <p:cNvPr id="26" name="Oval 25"/>
          <p:cNvSpPr/>
          <p:nvPr/>
        </p:nvSpPr>
        <p:spPr>
          <a:xfrm>
            <a:off x="10693015" y="227595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63598" y="2915099"/>
            <a:ext cx="640080" cy="146304"/>
          </a:xfrm>
          <a:prstGeom prst="rect">
            <a:avLst/>
          </a:prstGeom>
          <a:noFill/>
        </p:spPr>
        <p:txBody>
          <a:bodyPr wrap="none">
            <a:spAutoFit/>
          </a:bodyPr>
          <a:lstStyle/>
          <a:p>
            <a:pPr algn="ctr"/>
            <a:r>
              <a:rPr sz="600">
                <a:solidFill>
                  <a:srgbClr val="B9A488"/>
                </a:solidFill>
              </a:rPr>
              <a:t>kinrath</a:t>
            </a:r>
          </a:p>
        </p:txBody>
      </p:sp>
      <p:pic>
        <p:nvPicPr>
          <p:cNvPr id="28" name="needlepost" descr="needlepost (AA_Needlepost)&#10;drawSize 0.7900000214576721 · assigned here · art:keep"/>
          <p:cNvPicPr>
            <a:picLocks noChangeAspect="1"/>
          </p:cNvPicPr>
          <p:nvPr/>
        </p:nvPicPr>
        <p:blipFill>
          <a:blip r:embed="rId10"/>
          <a:stretch>
            <a:fillRect/>
          </a:stretch>
        </p:blipFill>
        <p:spPr>
          <a:xfrm>
            <a:off x="10903327" y="2503244"/>
            <a:ext cx="402711" cy="402711"/>
          </a:xfrm>
          <a:prstGeom prst="rect">
            <a:avLst/>
          </a:prstGeom>
        </p:spPr>
      </p:pic>
      <p:sp>
        <p:nvSpPr>
          <p:cNvPr id="29" name="Oval 28"/>
          <p:cNvSpPr/>
          <p:nvPr/>
        </p:nvSpPr>
        <p:spPr>
          <a:xfrm>
            <a:off x="11223742" y="24849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03327" y="2915099"/>
            <a:ext cx="640080" cy="146304"/>
          </a:xfrm>
          <a:prstGeom prst="rect">
            <a:avLst/>
          </a:prstGeom>
          <a:noFill/>
        </p:spPr>
        <p:txBody>
          <a:bodyPr wrap="none">
            <a:spAutoFit/>
          </a:bodyPr>
          <a:lstStyle/>
          <a:p>
            <a:pPr algn="ctr"/>
            <a:r>
              <a:rPr sz="600">
                <a:solidFill>
                  <a:srgbClr val="B9A488"/>
                </a:solidFill>
              </a:rPr>
              <a:t>needlepost</a:t>
            </a:r>
          </a:p>
        </p:txBody>
      </p:sp>
      <p:pic>
        <p:nvPicPr>
          <p:cNvPr id="31" name="mott" descr="mott (Mott)&#10;drawSize 0.75 · assigned here · art:keep"/>
          <p:cNvPicPr>
            <a:picLocks noChangeAspect="1"/>
          </p:cNvPicPr>
          <p:nvPr/>
        </p:nvPicPr>
        <p:blipFill>
          <a:blip r:embed="rId11"/>
          <a:stretch>
            <a:fillRect/>
          </a:stretch>
        </p:blipFill>
        <p:spPr>
          <a:xfrm>
            <a:off x="11434054" y="2523634"/>
            <a:ext cx="382320" cy="382320"/>
          </a:xfrm>
          <a:prstGeom prst="rect">
            <a:avLst/>
          </a:prstGeom>
        </p:spPr>
      </p:pic>
      <p:sp>
        <p:nvSpPr>
          <p:cNvPr id="32" name="Oval 31"/>
          <p:cNvSpPr/>
          <p:nvPr/>
        </p:nvSpPr>
        <p:spPr>
          <a:xfrm>
            <a:off x="11734079" y="250534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34054" y="2915099"/>
            <a:ext cx="640080" cy="146304"/>
          </a:xfrm>
          <a:prstGeom prst="rect">
            <a:avLst/>
          </a:prstGeom>
          <a:noFill/>
        </p:spPr>
        <p:txBody>
          <a:bodyPr wrap="none">
            <a:spAutoFit/>
          </a:bodyPr>
          <a:lstStyle/>
          <a:p>
            <a:pPr algn="ctr"/>
            <a:r>
              <a:rPr sz="600">
                <a:solidFill>
                  <a:srgbClr val="B9A488"/>
                </a:solidFill>
              </a:rPr>
              <a:t>mott</a:t>
            </a:r>
          </a:p>
        </p:txBody>
      </p:sp>
      <p:pic>
        <p:nvPicPr>
          <p:cNvPr id="34" name="nuna" descr="nuna (Nuna)&#10;drawSize 0.6000000238418579 · assigned here · art:keep"/>
          <p:cNvPicPr>
            <a:picLocks noChangeAspect="1"/>
          </p:cNvPicPr>
          <p:nvPr/>
        </p:nvPicPr>
        <p:blipFill>
          <a:blip r:embed="rId12"/>
          <a:stretch>
            <a:fillRect/>
          </a:stretch>
        </p:blipFill>
        <p:spPr>
          <a:xfrm>
            <a:off x="274320" y="3143699"/>
            <a:ext cx="305856" cy="305856"/>
          </a:xfrm>
          <a:prstGeom prst="rect">
            <a:avLst/>
          </a:prstGeom>
        </p:spPr>
      </p:pic>
      <p:sp>
        <p:nvSpPr>
          <p:cNvPr id="35" name="Oval 34"/>
          <p:cNvSpPr/>
          <p:nvPr/>
        </p:nvSpPr>
        <p:spPr>
          <a:xfrm>
            <a:off x="497880" y="312541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3458699"/>
            <a:ext cx="640080" cy="146304"/>
          </a:xfrm>
          <a:prstGeom prst="rect">
            <a:avLst/>
          </a:prstGeom>
          <a:noFill/>
        </p:spPr>
        <p:txBody>
          <a:bodyPr wrap="none">
            <a:spAutoFit/>
          </a:bodyPr>
          <a:lstStyle/>
          <a:p>
            <a:pPr algn="ctr"/>
            <a:r>
              <a:rPr sz="600">
                <a:solidFill>
                  <a:srgbClr val="B9A488"/>
                </a:solidFill>
              </a:rPr>
              <a:t>nuna</a:t>
            </a:r>
          </a:p>
        </p:txBody>
      </p:sp>
      <p:pic>
        <p:nvPicPr>
          <p:cNvPr id="37" name="worrt" descr="worrt (Worrt)&#10;drawSize 0.6000000238418579 · assigned here · art:keep"/>
          <p:cNvPicPr>
            <a:picLocks noChangeAspect="1"/>
          </p:cNvPicPr>
          <p:nvPr/>
        </p:nvPicPr>
        <p:blipFill>
          <a:blip r:embed="rId13"/>
          <a:stretch>
            <a:fillRect/>
          </a:stretch>
        </p:blipFill>
        <p:spPr>
          <a:xfrm>
            <a:off x="708192" y="3143699"/>
            <a:ext cx="305856" cy="305856"/>
          </a:xfrm>
          <a:prstGeom prst="rect">
            <a:avLst/>
          </a:prstGeom>
        </p:spPr>
      </p:pic>
      <p:sp>
        <p:nvSpPr>
          <p:cNvPr id="38" name="Oval 37"/>
          <p:cNvSpPr/>
          <p:nvPr/>
        </p:nvSpPr>
        <p:spPr>
          <a:xfrm>
            <a:off x="931752" y="312541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8192" y="3458699"/>
            <a:ext cx="640080" cy="146304"/>
          </a:xfrm>
          <a:prstGeom prst="rect">
            <a:avLst/>
          </a:prstGeom>
          <a:noFill/>
        </p:spPr>
        <p:txBody>
          <a:bodyPr wrap="none">
            <a:spAutoFit/>
          </a:bodyPr>
          <a:lstStyle/>
          <a:p>
            <a:pPr algn="ctr"/>
            <a:r>
              <a:rPr sz="600">
                <a:solidFill>
                  <a:srgbClr val="B9A488"/>
                </a:solidFill>
              </a:rPr>
              <a:t>worrt</a:t>
            </a:r>
          </a:p>
        </p:txBody>
      </p:sp>
      <p:pic>
        <p:nvPicPr>
          <p:cNvPr id="40" name="clodhopper" descr="clodhopper (Clodhopper)&#10;drawSize 0.5 · assigned here · art:keep"/>
          <p:cNvPicPr>
            <a:picLocks noChangeAspect="1"/>
          </p:cNvPicPr>
          <p:nvPr/>
        </p:nvPicPr>
        <p:blipFill>
          <a:blip r:embed="rId14"/>
          <a:stretch>
            <a:fillRect/>
          </a:stretch>
        </p:blipFill>
        <p:spPr>
          <a:xfrm>
            <a:off x="1142064" y="3186453"/>
            <a:ext cx="263102" cy="263102"/>
          </a:xfrm>
          <a:prstGeom prst="rect">
            <a:avLst/>
          </a:prstGeom>
        </p:spPr>
      </p:pic>
      <p:sp>
        <p:nvSpPr>
          <p:cNvPr id="41" name="Oval 40"/>
          <p:cNvSpPr/>
          <p:nvPr/>
        </p:nvSpPr>
        <p:spPr>
          <a:xfrm>
            <a:off x="1322871" y="31681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42064" y="3458699"/>
            <a:ext cx="640080" cy="146304"/>
          </a:xfrm>
          <a:prstGeom prst="rect">
            <a:avLst/>
          </a:prstGeom>
          <a:noFill/>
        </p:spPr>
        <p:txBody>
          <a:bodyPr wrap="none">
            <a:spAutoFit/>
          </a:bodyPr>
          <a:lstStyle/>
          <a:p>
            <a:pPr algn="ctr"/>
            <a:r>
              <a:rPr sz="600">
                <a:solidFill>
                  <a:srgbClr val="B9A488"/>
                </a:solidFill>
              </a:rPr>
              <a:t>clodhopper</a:t>
            </a:r>
          </a:p>
        </p:txBody>
      </p:sp>
      <p:pic>
        <p:nvPicPr>
          <p:cNvPr id="43" name="shiro" descr="shiro (Shiro)&#10;drawSize 0.5 · assigned here · art:improve"/>
          <p:cNvPicPr>
            <a:picLocks noChangeAspect="1"/>
          </p:cNvPicPr>
          <p:nvPr/>
        </p:nvPicPr>
        <p:blipFill>
          <a:blip r:embed="rId15"/>
          <a:stretch>
            <a:fillRect/>
          </a:stretch>
        </p:blipFill>
        <p:spPr>
          <a:xfrm>
            <a:off x="1533183" y="3186453"/>
            <a:ext cx="263102" cy="263102"/>
          </a:xfrm>
          <a:prstGeom prst="rect">
            <a:avLst/>
          </a:prstGeom>
        </p:spPr>
      </p:pic>
      <p:sp>
        <p:nvSpPr>
          <p:cNvPr id="44" name="Oval 43"/>
          <p:cNvSpPr/>
          <p:nvPr/>
        </p:nvSpPr>
        <p:spPr>
          <a:xfrm>
            <a:off x="1713989" y="31681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33183" y="3458699"/>
            <a:ext cx="640080" cy="146304"/>
          </a:xfrm>
          <a:prstGeom prst="rect">
            <a:avLst/>
          </a:prstGeom>
          <a:noFill/>
        </p:spPr>
        <p:txBody>
          <a:bodyPr wrap="none">
            <a:spAutoFit/>
          </a:bodyPr>
          <a:lstStyle/>
          <a:p>
            <a:pPr algn="ctr"/>
            <a:r>
              <a:rPr sz="600">
                <a:solidFill>
                  <a:srgbClr val="B9A488"/>
                </a:solidFill>
              </a:rPr>
              <a:t>shiro</a:t>
            </a:r>
          </a:p>
        </p:txBody>
      </p:sp>
      <p:pic>
        <p:nvPicPr>
          <p:cNvPr id="46" name="convor" descr="convor (Convor)&#10;drawSize 0.4000000059604645 · assigned here · art:keep"/>
          <p:cNvPicPr>
            <a:picLocks noChangeAspect="1"/>
          </p:cNvPicPr>
          <p:nvPr/>
        </p:nvPicPr>
        <p:blipFill>
          <a:blip r:embed="rId16"/>
          <a:stretch>
            <a:fillRect/>
          </a:stretch>
        </p:blipFill>
        <p:spPr>
          <a:xfrm>
            <a:off x="1924301" y="3186453"/>
            <a:ext cx="263102" cy="263102"/>
          </a:xfrm>
          <a:prstGeom prst="rect">
            <a:avLst/>
          </a:prstGeom>
        </p:spPr>
      </p:pic>
      <p:sp>
        <p:nvSpPr>
          <p:cNvPr id="47" name="Oval 46"/>
          <p:cNvSpPr/>
          <p:nvPr/>
        </p:nvSpPr>
        <p:spPr>
          <a:xfrm>
            <a:off x="2105107" y="31681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24301" y="3458699"/>
            <a:ext cx="640080" cy="146304"/>
          </a:xfrm>
          <a:prstGeom prst="rect">
            <a:avLst/>
          </a:prstGeom>
          <a:noFill/>
        </p:spPr>
        <p:txBody>
          <a:bodyPr wrap="none">
            <a:spAutoFit/>
          </a:bodyPr>
          <a:lstStyle/>
          <a:p>
            <a:pPr algn="ctr"/>
            <a:r>
              <a:rPr sz="600">
                <a:solidFill>
                  <a:srgbClr val="B9A488"/>
                </a:solidFill>
              </a:rPr>
              <a:t>convor</a:t>
            </a:r>
          </a:p>
        </p:txBody>
      </p:sp>
      <p:pic>
        <p:nvPicPr>
          <p:cNvPr id="49" name="whisperbird" descr="whisperbird (Whisperbird)&#10;drawSize 0.4000000059604645 · assigned here · art:improve"/>
          <p:cNvPicPr>
            <a:picLocks noChangeAspect="1"/>
          </p:cNvPicPr>
          <p:nvPr/>
        </p:nvPicPr>
        <p:blipFill>
          <a:blip r:embed="rId17"/>
          <a:stretch>
            <a:fillRect/>
          </a:stretch>
        </p:blipFill>
        <p:spPr>
          <a:xfrm>
            <a:off x="2315419" y="3186453"/>
            <a:ext cx="263102" cy="263102"/>
          </a:xfrm>
          <a:prstGeom prst="rect">
            <a:avLst/>
          </a:prstGeom>
        </p:spPr>
      </p:pic>
      <p:sp>
        <p:nvSpPr>
          <p:cNvPr id="50" name="Oval 49"/>
          <p:cNvSpPr/>
          <p:nvPr/>
        </p:nvSpPr>
        <p:spPr>
          <a:xfrm>
            <a:off x="2496226" y="31681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315419" y="3458699"/>
            <a:ext cx="640080" cy="146304"/>
          </a:xfrm>
          <a:prstGeom prst="rect">
            <a:avLst/>
          </a:prstGeom>
          <a:noFill/>
        </p:spPr>
        <p:txBody>
          <a:bodyPr wrap="none">
            <a:spAutoFit/>
          </a:bodyPr>
          <a:lstStyle/>
          <a:p>
            <a:pPr algn="ctr"/>
            <a:r>
              <a:rPr sz="600">
                <a:solidFill>
                  <a:srgbClr val="B9A488"/>
                </a:solidFill>
              </a:rPr>
              <a:t>whisperbird</a:t>
            </a:r>
          </a:p>
        </p:txBody>
      </p:sp>
      <p:pic>
        <p:nvPicPr>
          <p:cNvPr id="52" name="swarmlings" descr="swarmlings (VFEI2_Swarmling)&#10;drawSize 0.20000000298023224 · assigned here · art:improve"/>
          <p:cNvPicPr>
            <a:picLocks noChangeAspect="1"/>
          </p:cNvPicPr>
          <p:nvPr/>
        </p:nvPicPr>
        <p:blipFill>
          <a:blip r:embed="rId18"/>
          <a:stretch>
            <a:fillRect/>
          </a:stretch>
        </p:blipFill>
        <p:spPr>
          <a:xfrm>
            <a:off x="2706538" y="3186453"/>
            <a:ext cx="263102" cy="263102"/>
          </a:xfrm>
          <a:prstGeom prst="rect">
            <a:avLst/>
          </a:prstGeom>
        </p:spPr>
      </p:pic>
      <p:sp>
        <p:nvSpPr>
          <p:cNvPr id="53" name="Oval 52"/>
          <p:cNvSpPr/>
          <p:nvPr/>
        </p:nvSpPr>
        <p:spPr>
          <a:xfrm>
            <a:off x="2887344" y="31681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06538" y="3458699"/>
            <a:ext cx="640080" cy="146304"/>
          </a:xfrm>
          <a:prstGeom prst="rect">
            <a:avLst/>
          </a:prstGeom>
          <a:noFill/>
        </p:spPr>
        <p:txBody>
          <a:bodyPr wrap="none">
            <a:spAutoFit/>
          </a:bodyPr>
          <a:lstStyle/>
          <a:p>
            <a:pPr algn="ctr"/>
            <a:r>
              <a:rPr sz="600">
                <a:solidFill>
                  <a:srgbClr val="B9A488"/>
                </a:solidFill>
              </a:rPr>
              <a:t>swarmlings</a:t>
            </a:r>
          </a:p>
        </p:txBody>
      </p:sp>
      <p:pic>
        <p:nvPicPr>
          <p:cNvPr id="55" name="gizka" descr="gizka (Gizka)&#10;drawSize 0.18000000715255737 · assigned here · art:keep&#10;“not here”"/>
          <p:cNvPicPr>
            <a:picLocks noChangeAspect="1"/>
          </p:cNvPicPr>
          <p:nvPr/>
        </p:nvPicPr>
        <p:blipFill>
          <a:blip r:embed="rId19"/>
          <a:stretch>
            <a:fillRect/>
          </a:stretch>
        </p:blipFill>
        <p:spPr>
          <a:xfrm>
            <a:off x="3097656" y="3186453"/>
            <a:ext cx="263102" cy="263102"/>
          </a:xfrm>
          <a:prstGeom prst="rect">
            <a:avLst/>
          </a:prstGeom>
        </p:spPr>
      </p:pic>
      <p:sp>
        <p:nvSpPr>
          <p:cNvPr id="56" name="Oval 55"/>
          <p:cNvSpPr/>
          <p:nvPr/>
        </p:nvSpPr>
        <p:spPr>
          <a:xfrm>
            <a:off x="3278462" y="31681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097656" y="3458699"/>
            <a:ext cx="640080" cy="146304"/>
          </a:xfrm>
          <a:prstGeom prst="rect">
            <a:avLst/>
          </a:prstGeom>
          <a:noFill/>
        </p:spPr>
        <p:txBody>
          <a:bodyPr wrap="none">
            <a:spAutoFit/>
          </a:bodyPr>
          <a:lstStyle/>
          <a:p>
            <a:pPr algn="ctr"/>
            <a:r>
              <a:rPr sz="600">
                <a:solidFill>
                  <a:srgbClr val="B9A488"/>
                </a:solidFill>
              </a:rPr>
              <a:t>gizka</a:t>
            </a:r>
          </a:p>
        </p:txBody>
      </p:sp>
      <p:sp>
        <p:nvSpPr>
          <p:cNvPr id="58" name="TextBox 57"/>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59" name="Plant_Bubblespore_Wild" descr="Plant_Bubblespore_Wild (Plant_Bubblespore_Wild)&#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Plant_Bubblespore_Wild</a:t>
            </a:r>
          </a:p>
        </p:txBody>
      </p:sp>
      <p:sp>
        <p:nvSpPr>
          <p:cNvPr id="60" name="TextBox 59"/>
          <p:cNvSpPr txBox="1"/>
          <p:nvPr/>
        </p:nvSpPr>
        <p:spPr>
          <a:xfrm>
            <a:off x="274320" y="4379975"/>
            <a:ext cx="640080" cy="146304"/>
          </a:xfrm>
          <a:prstGeom prst="rect">
            <a:avLst/>
          </a:prstGeom>
          <a:noFill/>
        </p:spPr>
        <p:txBody>
          <a:bodyPr wrap="none">
            <a:spAutoFit/>
          </a:bodyPr>
          <a:lstStyle/>
          <a:p>
            <a:pPr algn="ctr"/>
            <a:r>
              <a:rPr sz="600">
                <a:solidFill>
                  <a:srgbClr val="B9A488"/>
                </a:solidFill>
              </a:rPr>
              <a:t>Plant_Bubblespor</a:t>
            </a:r>
          </a:p>
        </p:txBody>
      </p:sp>
      <p:sp>
        <p:nvSpPr>
          <p:cNvPr id="61" name="Plant_HubbaGourd_Wild" descr="Plant_HubbaGourd_Wild (Plant_HubbaGourd_Wild)&#10;&#10;[no cached sprite]"/>
          <p:cNvSpPr/>
          <p:nvPr/>
        </p:nvSpPr>
        <p:spPr>
          <a:xfrm>
            <a:off x="950975"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Plant_HubbaGourd_Wild</a:t>
            </a:r>
          </a:p>
        </p:txBody>
      </p:sp>
      <p:sp>
        <p:nvSpPr>
          <p:cNvPr id="62" name="TextBox 61"/>
          <p:cNvSpPr txBox="1"/>
          <p:nvPr/>
        </p:nvSpPr>
        <p:spPr>
          <a:xfrm>
            <a:off x="950975" y="4379975"/>
            <a:ext cx="640080" cy="146304"/>
          </a:xfrm>
          <a:prstGeom prst="rect">
            <a:avLst/>
          </a:prstGeom>
          <a:noFill/>
        </p:spPr>
        <p:txBody>
          <a:bodyPr wrap="none">
            <a:spAutoFit/>
          </a:bodyPr>
          <a:lstStyle/>
          <a:p>
            <a:pPr algn="ctr"/>
            <a:r>
              <a:rPr sz="600">
                <a:solidFill>
                  <a:srgbClr val="B9A488"/>
                </a:solidFill>
              </a:rPr>
              <a:t>Plant_HubbaGourd</a:t>
            </a:r>
          </a:p>
        </p:txBody>
      </p:sp>
      <p:sp>
        <p:nvSpPr>
          <p:cNvPr id="63" name="Plant_TookeTrap_Wild" descr="Plant_TookeTrap_Wild (Plant_TookeTrap_Wild)&#10;&#10;[no cached sprite]"/>
          <p:cNvSpPr/>
          <p:nvPr/>
        </p:nvSpPr>
        <p:spPr>
          <a:xfrm>
            <a:off x="1627631"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Plant_TookeTrap_Wild</a:t>
            </a:r>
          </a:p>
        </p:txBody>
      </p:sp>
      <p:sp>
        <p:nvSpPr>
          <p:cNvPr id="64" name="TextBox 63"/>
          <p:cNvSpPr txBox="1"/>
          <p:nvPr/>
        </p:nvSpPr>
        <p:spPr>
          <a:xfrm>
            <a:off x="1627631" y="4379975"/>
            <a:ext cx="640080" cy="146304"/>
          </a:xfrm>
          <a:prstGeom prst="rect">
            <a:avLst/>
          </a:prstGeom>
          <a:noFill/>
        </p:spPr>
        <p:txBody>
          <a:bodyPr wrap="none">
            <a:spAutoFit/>
          </a:bodyPr>
          <a:lstStyle/>
          <a:p>
            <a:pPr algn="ctr"/>
            <a:r>
              <a:rPr sz="600">
                <a:solidFill>
                  <a:srgbClr val="B9A488"/>
                </a:solidFill>
              </a:rPr>
              <a:t>Plant_TookeTrap_</a:t>
            </a:r>
          </a:p>
        </p:txBody>
      </p:sp>
      <p:sp>
        <p:nvSpPr>
          <p:cNvPr id="65" name="BMT_GiantLeaf" descr="BMT_GiantLeaf (BMT_GiantLeaf)&#10;&#10;[no cached sprite]"/>
          <p:cNvSpPr/>
          <p:nvPr/>
        </p:nvSpPr>
        <p:spPr>
          <a:xfrm>
            <a:off x="2304287"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BMT_GiantLeaf</a:t>
            </a:r>
          </a:p>
        </p:txBody>
      </p:sp>
      <p:sp>
        <p:nvSpPr>
          <p:cNvPr id="66" name="TextBox 65"/>
          <p:cNvSpPr txBox="1"/>
          <p:nvPr/>
        </p:nvSpPr>
        <p:spPr>
          <a:xfrm>
            <a:off x="2304287" y="4379975"/>
            <a:ext cx="640080" cy="146304"/>
          </a:xfrm>
          <a:prstGeom prst="rect">
            <a:avLst/>
          </a:prstGeom>
          <a:noFill/>
        </p:spPr>
        <p:txBody>
          <a:bodyPr wrap="none">
            <a:spAutoFit/>
          </a:bodyPr>
          <a:lstStyle/>
          <a:p>
            <a:pPr algn="ctr"/>
            <a:r>
              <a:rPr sz="600">
                <a:solidFill>
                  <a:srgbClr val="B9A488"/>
                </a:solidFill>
              </a:rPr>
              <a:t>BMT_GiantLeaf</a:t>
            </a:r>
          </a:p>
        </p:txBody>
      </p:sp>
      <p:sp>
        <p:nvSpPr>
          <p:cNvPr id="67" name="Plant_Chakroot_Wild" descr="Plant_Chakroot_Wild (Plant_Chakroot_Wild)&#10;&#10;[no cached sprite]"/>
          <p:cNvSpPr/>
          <p:nvPr/>
        </p:nvSpPr>
        <p:spPr>
          <a:xfrm>
            <a:off x="2980943"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Plant_Chakroot_Wild</a:t>
            </a:r>
          </a:p>
        </p:txBody>
      </p:sp>
      <p:sp>
        <p:nvSpPr>
          <p:cNvPr id="68" name="TextBox 67"/>
          <p:cNvSpPr txBox="1"/>
          <p:nvPr/>
        </p:nvSpPr>
        <p:spPr>
          <a:xfrm>
            <a:off x="2980943" y="4379975"/>
            <a:ext cx="640080" cy="146304"/>
          </a:xfrm>
          <a:prstGeom prst="rect">
            <a:avLst/>
          </a:prstGeom>
          <a:noFill/>
        </p:spPr>
        <p:txBody>
          <a:bodyPr wrap="none">
            <a:spAutoFit/>
          </a:bodyPr>
          <a:lstStyle/>
          <a:p>
            <a:pPr algn="ctr"/>
            <a:r>
              <a:rPr sz="600">
                <a:solidFill>
                  <a:srgbClr val="B9A488"/>
                </a:solidFill>
              </a:rPr>
              <a:t>Plant_Chakroot_W</a:t>
            </a:r>
          </a:p>
        </p:txBody>
      </p:sp>
      <p:sp>
        <p:nvSpPr>
          <p:cNvPr id="69" name="Plant_MujaFruit_Wild" descr="Plant_MujaFruit_Wild (Plant_MujaFruit_Wild)&#10;&#10;[no cached sprite]"/>
          <p:cNvSpPr/>
          <p:nvPr/>
        </p:nvSpPr>
        <p:spPr>
          <a:xfrm>
            <a:off x="3657599"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Plant_MujaFruit_Wild</a:t>
            </a:r>
          </a:p>
        </p:txBody>
      </p:sp>
      <p:sp>
        <p:nvSpPr>
          <p:cNvPr id="70" name="TextBox 69"/>
          <p:cNvSpPr txBox="1"/>
          <p:nvPr/>
        </p:nvSpPr>
        <p:spPr>
          <a:xfrm>
            <a:off x="3657599" y="4379975"/>
            <a:ext cx="640080" cy="146304"/>
          </a:xfrm>
          <a:prstGeom prst="rect">
            <a:avLst/>
          </a:prstGeom>
          <a:noFill/>
        </p:spPr>
        <p:txBody>
          <a:bodyPr wrap="none">
            <a:spAutoFit/>
          </a:bodyPr>
          <a:lstStyle/>
          <a:p>
            <a:pPr algn="ctr"/>
            <a:r>
              <a:rPr sz="600">
                <a:solidFill>
                  <a:srgbClr val="B9A488"/>
                </a:solidFill>
              </a:rPr>
              <a:t>Plant_MujaFruit_</a:t>
            </a:r>
          </a:p>
        </p:txBody>
      </p:sp>
      <p:pic>
        <p:nvPicPr>
          <p:cNvPr id="71" name="AB_SugarFamewort" descr="AB_SugarFamewort (AB_SugarFamewort)&#10;"/>
          <p:cNvPicPr>
            <a:picLocks noChangeAspect="1"/>
          </p:cNvPicPr>
          <p:nvPr/>
        </p:nvPicPr>
        <p:blipFill>
          <a:blip r:embed="rId20"/>
          <a:stretch>
            <a:fillRect/>
          </a:stretch>
        </p:blipFill>
        <p:spPr>
          <a:xfrm>
            <a:off x="4334255" y="3822191"/>
            <a:ext cx="548639" cy="548639"/>
          </a:xfrm>
          <a:prstGeom prst="rect">
            <a:avLst/>
          </a:prstGeom>
        </p:spPr>
      </p:pic>
      <p:sp>
        <p:nvSpPr>
          <p:cNvPr id="72" name="TextBox 71"/>
          <p:cNvSpPr txBox="1"/>
          <p:nvPr/>
        </p:nvSpPr>
        <p:spPr>
          <a:xfrm>
            <a:off x="4334255" y="4379975"/>
            <a:ext cx="640080" cy="146304"/>
          </a:xfrm>
          <a:prstGeom prst="rect">
            <a:avLst/>
          </a:prstGeom>
          <a:noFill/>
        </p:spPr>
        <p:txBody>
          <a:bodyPr wrap="none">
            <a:spAutoFit/>
          </a:bodyPr>
          <a:lstStyle/>
          <a:p>
            <a:pPr algn="ctr"/>
            <a:r>
              <a:rPr sz="600">
                <a:solidFill>
                  <a:srgbClr val="B9A488"/>
                </a:solidFill>
              </a:rPr>
              <a:t>AB_SugarFamewort</a:t>
            </a:r>
          </a:p>
        </p:txBody>
      </p:sp>
      <p:sp>
        <p:nvSpPr>
          <p:cNvPr id="73" name="Plant_HydenockTree_Wild" descr="Plant_HydenockTree_Wild (Plant_HydenockTree_Wild)&#10;&#10;[no cached sprite]"/>
          <p:cNvSpPr/>
          <p:nvPr/>
        </p:nvSpPr>
        <p:spPr>
          <a:xfrm>
            <a:off x="5010912"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Plant_HydenockTree_Wild</a:t>
            </a:r>
          </a:p>
        </p:txBody>
      </p:sp>
      <p:sp>
        <p:nvSpPr>
          <p:cNvPr id="74" name="TextBox 73"/>
          <p:cNvSpPr txBox="1"/>
          <p:nvPr/>
        </p:nvSpPr>
        <p:spPr>
          <a:xfrm>
            <a:off x="5010912" y="4379975"/>
            <a:ext cx="640080" cy="146304"/>
          </a:xfrm>
          <a:prstGeom prst="rect">
            <a:avLst/>
          </a:prstGeom>
          <a:noFill/>
        </p:spPr>
        <p:txBody>
          <a:bodyPr wrap="none">
            <a:spAutoFit/>
          </a:bodyPr>
          <a:lstStyle/>
          <a:p>
            <a:pPr algn="ctr"/>
            <a:r>
              <a:rPr sz="600">
                <a:solidFill>
                  <a:srgbClr val="B9A488"/>
                </a:solidFill>
              </a:rPr>
              <a:t>Plant_HydenockTr</a:t>
            </a:r>
          </a:p>
        </p:txBody>
      </p:sp>
      <p:sp>
        <p:nvSpPr>
          <p:cNvPr id="75" name="Plant_JoganTree_Wild" descr="Plant_JoganTree_Wild (Plant_JoganTree_Wild)&#10;&#10;[no cached sprite]"/>
          <p:cNvSpPr/>
          <p:nvPr/>
        </p:nvSpPr>
        <p:spPr>
          <a:xfrm>
            <a:off x="5687568"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Plant_JoganTree_Wild</a:t>
            </a:r>
          </a:p>
        </p:txBody>
      </p:sp>
      <p:sp>
        <p:nvSpPr>
          <p:cNvPr id="76" name="TextBox 75"/>
          <p:cNvSpPr txBox="1"/>
          <p:nvPr/>
        </p:nvSpPr>
        <p:spPr>
          <a:xfrm>
            <a:off x="5687568" y="4379975"/>
            <a:ext cx="640080" cy="146304"/>
          </a:xfrm>
          <a:prstGeom prst="rect">
            <a:avLst/>
          </a:prstGeom>
          <a:noFill/>
        </p:spPr>
        <p:txBody>
          <a:bodyPr wrap="none">
            <a:spAutoFit/>
          </a:bodyPr>
          <a:lstStyle/>
          <a:p>
            <a:pPr algn="ctr"/>
            <a:r>
              <a:rPr sz="600">
                <a:solidFill>
                  <a:srgbClr val="B9A488"/>
                </a:solidFill>
              </a:rPr>
              <a:t>Plant_JoganTree_</a:t>
            </a:r>
          </a:p>
        </p:txBody>
      </p:sp>
      <p:sp>
        <p:nvSpPr>
          <p:cNvPr id="77" name="Plant_FelucianGlowspore_Wild" descr="Plant_FelucianGlowspore_Wild (Plant_FelucianGlowspore_Wild)&#10;&#10;[no cached sprite]"/>
          <p:cNvSpPr/>
          <p:nvPr/>
        </p:nvSpPr>
        <p:spPr>
          <a:xfrm>
            <a:off x="6364224"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Plant_FelucianGlowspore_Wild</a:t>
            </a:r>
          </a:p>
        </p:txBody>
      </p:sp>
      <p:sp>
        <p:nvSpPr>
          <p:cNvPr id="78" name="TextBox 77"/>
          <p:cNvSpPr txBox="1"/>
          <p:nvPr/>
        </p:nvSpPr>
        <p:spPr>
          <a:xfrm>
            <a:off x="6364224" y="4379975"/>
            <a:ext cx="640080" cy="146304"/>
          </a:xfrm>
          <a:prstGeom prst="rect">
            <a:avLst/>
          </a:prstGeom>
          <a:noFill/>
        </p:spPr>
        <p:txBody>
          <a:bodyPr wrap="none">
            <a:spAutoFit/>
          </a:bodyPr>
          <a:lstStyle/>
          <a:p>
            <a:pPr algn="ctr"/>
            <a:r>
              <a:rPr sz="600">
                <a:solidFill>
                  <a:srgbClr val="B9A488"/>
                </a:solidFill>
              </a:rPr>
              <a:t>Plant_FelucianGl</a:t>
            </a:r>
          </a:p>
        </p:txBody>
      </p:sp>
      <p:pic>
        <p:nvPicPr>
          <p:cNvPr id="79" name="AB_JungleTree" descr="AB_JungleTree (AB_JungleTree)&#10;"/>
          <p:cNvPicPr>
            <a:picLocks noChangeAspect="1"/>
          </p:cNvPicPr>
          <p:nvPr/>
        </p:nvPicPr>
        <p:blipFill>
          <a:blip r:embed="rId21"/>
          <a:stretch>
            <a:fillRect/>
          </a:stretch>
        </p:blipFill>
        <p:spPr>
          <a:xfrm>
            <a:off x="7040880" y="3822191"/>
            <a:ext cx="548639" cy="548639"/>
          </a:xfrm>
          <a:prstGeom prst="rect">
            <a:avLst/>
          </a:prstGeom>
        </p:spPr>
      </p:pic>
      <p:sp>
        <p:nvSpPr>
          <p:cNvPr id="80" name="TextBox 79"/>
          <p:cNvSpPr txBox="1"/>
          <p:nvPr/>
        </p:nvSpPr>
        <p:spPr>
          <a:xfrm>
            <a:off x="7040880" y="4379975"/>
            <a:ext cx="640080" cy="146304"/>
          </a:xfrm>
          <a:prstGeom prst="rect">
            <a:avLst/>
          </a:prstGeom>
          <a:noFill/>
        </p:spPr>
        <p:txBody>
          <a:bodyPr wrap="none">
            <a:spAutoFit/>
          </a:bodyPr>
          <a:lstStyle/>
          <a:p>
            <a:pPr algn="ctr"/>
            <a:r>
              <a:rPr sz="600">
                <a:solidFill>
                  <a:srgbClr val="B9A488"/>
                </a:solidFill>
              </a:rPr>
              <a:t>AB_JungleTree</a:t>
            </a:r>
          </a:p>
        </p:txBody>
      </p:sp>
      <p:sp>
        <p:nvSpPr>
          <p:cNvPr id="81" name="TextBox 80"/>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ready by the owner ("This is superb. Write it up!"). Defines `BiomeCypreJungle` (GRiNDTerra Biomes — "Cypre" was the donor's tree name and dies with the eviction). **The biome's name is THE GREENTIDE** (owner's pick). Thematic handle: **water is the only argument** — and its image: **a green ribbon of total war steaming through Extreme Desert sun, growing visibly while you watch.**_ 🔑 **Read against `weeping_stones.md` and `the_cracked_lands.md`** — the three water-laws of the dayside are a ladder: the oasis (scarcity → sacred peace), the canyon (hidden water → ambush), the Greentide (permanent plenty → open free-for-all). 🔴 **There is NO truce here** (owner, emphatic): *"This is NOT an oasis, it's an open free-for-all."* Everything is eating or being eaten, mating or laying eggs, growing visibly or dying trying.</a:t>
            </a:r>
          </a:p>
        </p:txBody>
      </p:sp>
      <p:sp>
        <p:nvSpPr>
          <p:cNvPr id="82" name="TextBox 81"/>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(3): GiantAnt_Race (event-only, by ruling), Tach + Rikknit (both-jungles ruling). Flier→roster arriving: BMT_FacetMoth. Fliers extracted: Convor, Hawkbat.
Departures (9 moves): AA_BloodShrimp, AA_Razorjack, Beldon, Dalgo, Dianoga, Falumpaset, Hssiss, Lylek, ShiroTrap.
INCONSISTENCIES:
1. GiantAnt_Race is event-only ("only the raiding events") — belongs on the event roster, not wildAnimals; keep it off the sheet's resident cast.
2. Losing Lylek, Hssiss, Dianoga strips three of four big predators; §4's "open free-for-all, no truce" now rests on Kinrath + Dragonsnake alone.
OPPORTUNITIES:
1. Rikknit's ovum-sac cuisine note is a whole §7 Uniquely-available entry (ji rikknit, egg delicacy) — write it.
2. Tach the Greatbole-canopy thief pairs with §7b's living towers; a steal-from-camps mechanic fits the register.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poison_forest</a:t>
            </a:r>
            <a:r>
              <a:rPr sz="1100">
                <a:solidFill>
                  <a:srgbClr val="B9A488"/>
                </a:solidFill>
              </a:rPr>
              <a:t>   19 animals · 9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lylek" descr="lylek (Lylek)&#10;drawSize 5.0 · moved in from the_greentide · art:improve&#10;“Poison Forest”"/>
          <p:cNvPicPr>
            <a:picLocks noChangeAspect="1"/>
          </p:cNvPicPr>
          <p:nvPr/>
        </p:nvPicPr>
        <p:blipFill>
          <a:blip r:embed="rId2"/>
          <a:stretch>
            <a:fillRect/>
          </a:stretch>
        </p:blipFill>
        <p:spPr>
          <a:xfrm>
            <a:off x="274320" y="932688"/>
            <a:ext cx="2018957" cy="2018957"/>
          </a:xfrm>
          <a:prstGeom prst="rect">
            <a:avLst/>
          </a:prstGeom>
        </p:spPr>
      </p:pic>
      <p:sp>
        <p:nvSpPr>
          <p:cNvPr id="5" name="Oval 4"/>
          <p:cNvSpPr/>
          <p:nvPr/>
        </p:nvSpPr>
        <p:spPr>
          <a:xfrm>
            <a:off x="2210981" y="914400"/>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960789"/>
            <a:ext cx="2018957" cy="146304"/>
          </a:xfrm>
          <a:prstGeom prst="rect">
            <a:avLst/>
          </a:prstGeom>
          <a:noFill/>
        </p:spPr>
        <p:txBody>
          <a:bodyPr wrap="none">
            <a:spAutoFit/>
          </a:bodyPr>
          <a:lstStyle/>
          <a:p>
            <a:pPr algn="ctr"/>
            <a:r>
              <a:rPr sz="600">
                <a:solidFill>
                  <a:srgbClr val="B9A488"/>
                </a:solidFill>
              </a:rPr>
              <a:t>lylek</a:t>
            </a:r>
          </a:p>
        </p:txBody>
      </p:sp>
      <p:pic>
        <p:nvPicPr>
          <p:cNvPr id="7" name="helixien" descr="helixien (AA_Helixien)&#10;drawSize 4.0 · assigned here · art:keep&#10;“Not here”"/>
          <p:cNvPicPr>
            <a:picLocks noChangeAspect="1"/>
          </p:cNvPicPr>
          <p:nvPr/>
        </p:nvPicPr>
        <p:blipFill>
          <a:blip r:embed="rId3"/>
          <a:stretch>
            <a:fillRect/>
          </a:stretch>
        </p:blipFill>
        <p:spPr>
          <a:xfrm>
            <a:off x="2421293" y="932688"/>
            <a:ext cx="2018957" cy="2018957"/>
          </a:xfrm>
          <a:prstGeom prst="rect">
            <a:avLst/>
          </a:prstGeom>
        </p:spPr>
      </p:pic>
      <p:sp>
        <p:nvSpPr>
          <p:cNvPr id="8" name="Oval 7"/>
          <p:cNvSpPr/>
          <p:nvPr/>
        </p:nvSpPr>
        <p:spPr>
          <a:xfrm>
            <a:off x="435795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21293" y="2960789"/>
            <a:ext cx="2018957" cy="146304"/>
          </a:xfrm>
          <a:prstGeom prst="rect">
            <a:avLst/>
          </a:prstGeom>
          <a:noFill/>
        </p:spPr>
        <p:txBody>
          <a:bodyPr wrap="none">
            <a:spAutoFit/>
          </a:bodyPr>
          <a:lstStyle/>
          <a:p>
            <a:pPr algn="ctr"/>
            <a:r>
              <a:rPr sz="600">
                <a:solidFill>
                  <a:srgbClr val="B9A488"/>
                </a:solidFill>
              </a:rPr>
              <a:t>helixien</a:t>
            </a:r>
          </a:p>
        </p:txBody>
      </p:sp>
      <p:pic>
        <p:nvPicPr>
          <p:cNvPr id="10" name="wildpod" descr="wildpod (AA_Wildpod)&#10;drawSize 4.0 · assigned here · art:improve&#10;“8 squares”"/>
          <p:cNvPicPr>
            <a:picLocks noChangeAspect="1"/>
          </p:cNvPicPr>
          <p:nvPr/>
        </p:nvPicPr>
        <p:blipFill>
          <a:blip r:embed="rId4"/>
          <a:stretch>
            <a:fillRect/>
          </a:stretch>
        </p:blipFill>
        <p:spPr>
          <a:xfrm>
            <a:off x="4568266" y="932688"/>
            <a:ext cx="2018957" cy="2018957"/>
          </a:xfrm>
          <a:prstGeom prst="rect">
            <a:avLst/>
          </a:prstGeom>
        </p:spPr>
      </p:pic>
      <p:sp>
        <p:nvSpPr>
          <p:cNvPr id="11" name="Oval 10"/>
          <p:cNvSpPr/>
          <p:nvPr/>
        </p:nvSpPr>
        <p:spPr>
          <a:xfrm>
            <a:off x="6504928"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8266" y="2960789"/>
            <a:ext cx="2018957" cy="146304"/>
          </a:xfrm>
          <a:prstGeom prst="rect">
            <a:avLst/>
          </a:prstGeom>
          <a:noFill/>
        </p:spPr>
        <p:txBody>
          <a:bodyPr wrap="none">
            <a:spAutoFit/>
          </a:bodyPr>
          <a:lstStyle/>
          <a:p>
            <a:pPr algn="ctr"/>
            <a:r>
              <a:rPr sz="600">
                <a:solidFill>
                  <a:srgbClr val="B9A488"/>
                </a:solidFill>
              </a:rPr>
              <a:t>wildpod</a:t>
            </a:r>
          </a:p>
        </p:txBody>
      </p:sp>
      <p:pic>
        <p:nvPicPr>
          <p:cNvPr id="13" name="visceral" descr="visceral (Visceral)&#10;drawSize 1.2000000476837158 · assigned here · art:keep"/>
          <p:cNvPicPr>
            <a:picLocks noChangeAspect="1"/>
          </p:cNvPicPr>
          <p:nvPr/>
        </p:nvPicPr>
        <p:blipFill>
          <a:blip r:embed="rId5"/>
          <a:stretch>
            <a:fillRect/>
          </a:stretch>
        </p:blipFill>
        <p:spPr>
          <a:xfrm>
            <a:off x="6715240" y="2325768"/>
            <a:ext cx="625876" cy="625876"/>
          </a:xfrm>
          <a:prstGeom prst="rect">
            <a:avLst/>
          </a:prstGeom>
        </p:spPr>
      </p:pic>
      <p:sp>
        <p:nvSpPr>
          <p:cNvPr id="14" name="Oval 13"/>
          <p:cNvSpPr/>
          <p:nvPr/>
        </p:nvSpPr>
        <p:spPr>
          <a:xfrm>
            <a:off x="7258820" y="230748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15240" y="2960789"/>
            <a:ext cx="640080" cy="146304"/>
          </a:xfrm>
          <a:prstGeom prst="rect">
            <a:avLst/>
          </a:prstGeom>
          <a:noFill/>
        </p:spPr>
        <p:txBody>
          <a:bodyPr wrap="none">
            <a:spAutoFit/>
          </a:bodyPr>
          <a:lstStyle/>
          <a:p>
            <a:pPr algn="ctr"/>
            <a:r>
              <a:rPr sz="600">
                <a:solidFill>
                  <a:srgbClr val="B9A488"/>
                </a:solidFill>
              </a:rPr>
              <a:t>visceral</a:t>
            </a:r>
          </a:p>
        </p:txBody>
      </p:sp>
      <p:pic>
        <p:nvPicPr>
          <p:cNvPr id="16" name="giant crowned silkie" descr="giant crowned silkie (AA_GiantCrownedSilkie)&#10;drawSize 1.100000023841858 · assigned here · art:keep"/>
          <p:cNvPicPr>
            <a:picLocks noChangeAspect="1"/>
          </p:cNvPicPr>
          <p:nvPr/>
        </p:nvPicPr>
        <p:blipFill>
          <a:blip r:embed="rId6"/>
          <a:stretch>
            <a:fillRect/>
          </a:stretch>
        </p:blipFill>
        <p:spPr>
          <a:xfrm>
            <a:off x="7469132" y="2377924"/>
            <a:ext cx="573720" cy="573720"/>
          </a:xfrm>
          <a:prstGeom prst="rect">
            <a:avLst/>
          </a:prstGeom>
        </p:spPr>
      </p:pic>
      <p:sp>
        <p:nvSpPr>
          <p:cNvPr id="17" name="Oval 16"/>
          <p:cNvSpPr/>
          <p:nvPr/>
        </p:nvSpPr>
        <p:spPr>
          <a:xfrm>
            <a:off x="7960557" y="235963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9132" y="2960789"/>
            <a:ext cx="640080" cy="146304"/>
          </a:xfrm>
          <a:prstGeom prst="rect">
            <a:avLst/>
          </a:prstGeom>
          <a:noFill/>
        </p:spPr>
        <p:txBody>
          <a:bodyPr wrap="none">
            <a:spAutoFit/>
          </a:bodyPr>
          <a:lstStyle/>
          <a:p>
            <a:pPr algn="ctr"/>
            <a:r>
              <a:rPr sz="600">
                <a:solidFill>
                  <a:srgbClr val="B9A488"/>
                </a:solidFill>
              </a:rPr>
              <a:t>giant crowned si</a:t>
            </a:r>
          </a:p>
        </p:txBody>
      </p:sp>
      <p:pic>
        <p:nvPicPr>
          <p:cNvPr id="19" name="decay drake" descr="decay drake (AA_DecayDrake)&#10;drawSize 1.0 · assigned here · art:keep&#10;“not here”"/>
          <p:cNvPicPr>
            <a:picLocks noChangeAspect="1"/>
          </p:cNvPicPr>
          <p:nvPr/>
        </p:nvPicPr>
        <p:blipFill>
          <a:blip r:embed="rId7"/>
          <a:stretch>
            <a:fillRect/>
          </a:stretch>
        </p:blipFill>
        <p:spPr>
          <a:xfrm>
            <a:off x="8170869" y="2430081"/>
            <a:ext cx="521563" cy="521563"/>
          </a:xfrm>
          <a:prstGeom prst="rect">
            <a:avLst/>
          </a:prstGeom>
        </p:spPr>
      </p:pic>
      <p:sp>
        <p:nvSpPr>
          <p:cNvPr id="20" name="Oval 19"/>
          <p:cNvSpPr/>
          <p:nvPr/>
        </p:nvSpPr>
        <p:spPr>
          <a:xfrm>
            <a:off x="8610137" y="241179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0869" y="2960789"/>
            <a:ext cx="640080" cy="146304"/>
          </a:xfrm>
          <a:prstGeom prst="rect">
            <a:avLst/>
          </a:prstGeom>
          <a:noFill/>
        </p:spPr>
        <p:txBody>
          <a:bodyPr wrap="none">
            <a:spAutoFit/>
          </a:bodyPr>
          <a:lstStyle/>
          <a:p>
            <a:pPr algn="ctr"/>
            <a:r>
              <a:rPr sz="600">
                <a:solidFill>
                  <a:srgbClr val="B9A488"/>
                </a:solidFill>
              </a:rPr>
              <a:t>decay drake</a:t>
            </a:r>
          </a:p>
        </p:txBody>
      </p:sp>
      <p:pic>
        <p:nvPicPr>
          <p:cNvPr id="22" name="screecher" descr="screecher (BMT_Screecher)&#10;drawSize 1.0 · assigned here · art:improve"/>
          <p:cNvPicPr>
            <a:picLocks noChangeAspect="1"/>
          </p:cNvPicPr>
          <p:nvPr/>
        </p:nvPicPr>
        <p:blipFill>
          <a:blip r:embed="rId8"/>
          <a:stretch>
            <a:fillRect/>
          </a:stretch>
        </p:blipFill>
        <p:spPr>
          <a:xfrm>
            <a:off x="8820449" y="2430081"/>
            <a:ext cx="521563" cy="521563"/>
          </a:xfrm>
          <a:prstGeom prst="rect">
            <a:avLst/>
          </a:prstGeom>
        </p:spPr>
      </p:pic>
      <p:sp>
        <p:nvSpPr>
          <p:cNvPr id="23" name="Oval 22"/>
          <p:cNvSpPr/>
          <p:nvPr/>
        </p:nvSpPr>
        <p:spPr>
          <a:xfrm>
            <a:off x="9259717" y="241179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0449" y="2960789"/>
            <a:ext cx="640080" cy="146304"/>
          </a:xfrm>
          <a:prstGeom prst="rect">
            <a:avLst/>
          </a:prstGeom>
          <a:noFill/>
        </p:spPr>
        <p:txBody>
          <a:bodyPr wrap="none">
            <a:spAutoFit/>
          </a:bodyPr>
          <a:lstStyle/>
          <a:p>
            <a:pPr algn="ctr"/>
            <a:r>
              <a:rPr sz="600">
                <a:solidFill>
                  <a:srgbClr val="B9A488"/>
                </a:solidFill>
              </a:rPr>
              <a:t>screecher</a:t>
            </a:r>
          </a:p>
        </p:txBody>
      </p:sp>
      <p:pic>
        <p:nvPicPr>
          <p:cNvPr id="25" name="plasmorph" descr="plasmorph (AA_Plasmorph)&#10;drawSize 1.0 · moved in from the_miasma · art:improve&#10;“The Poison Forest”"/>
          <p:cNvPicPr>
            <a:picLocks noChangeAspect="1"/>
          </p:cNvPicPr>
          <p:nvPr/>
        </p:nvPicPr>
        <p:blipFill>
          <a:blip r:embed="rId9"/>
          <a:stretch>
            <a:fillRect/>
          </a:stretch>
        </p:blipFill>
        <p:spPr>
          <a:xfrm>
            <a:off x="9470029" y="2430081"/>
            <a:ext cx="521563" cy="521563"/>
          </a:xfrm>
          <a:prstGeom prst="rect">
            <a:avLst/>
          </a:prstGeom>
        </p:spPr>
      </p:pic>
      <p:sp>
        <p:nvSpPr>
          <p:cNvPr id="26" name="Oval 25"/>
          <p:cNvSpPr/>
          <p:nvPr/>
        </p:nvSpPr>
        <p:spPr>
          <a:xfrm>
            <a:off x="9909297" y="2411793"/>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70029" y="2960789"/>
            <a:ext cx="640080" cy="146304"/>
          </a:xfrm>
          <a:prstGeom prst="rect">
            <a:avLst/>
          </a:prstGeom>
          <a:noFill/>
        </p:spPr>
        <p:txBody>
          <a:bodyPr wrap="none">
            <a:spAutoFit/>
          </a:bodyPr>
          <a:lstStyle/>
          <a:p>
            <a:pPr algn="ctr"/>
            <a:r>
              <a:rPr sz="600">
                <a:solidFill>
                  <a:srgbClr val="B9A488"/>
                </a:solidFill>
              </a:rPr>
              <a:t>plasmorph</a:t>
            </a:r>
          </a:p>
        </p:txBody>
      </p:sp>
      <p:pic>
        <p:nvPicPr>
          <p:cNvPr id="28" name="corruptor dryad" descr="corruptor dryad (AM_Dryad_Corruptor)&#10;drawSize 0.6669999957084656 · assigned here · art:keep"/>
          <p:cNvPicPr>
            <a:picLocks noChangeAspect="1"/>
          </p:cNvPicPr>
          <p:nvPr/>
        </p:nvPicPr>
        <p:blipFill>
          <a:blip r:embed="rId10"/>
          <a:stretch>
            <a:fillRect/>
          </a:stretch>
        </p:blipFill>
        <p:spPr>
          <a:xfrm>
            <a:off x="10119609" y="2603762"/>
            <a:ext cx="347883" cy="347883"/>
          </a:xfrm>
          <a:prstGeom prst="rect">
            <a:avLst/>
          </a:prstGeom>
        </p:spPr>
      </p:pic>
      <p:sp>
        <p:nvSpPr>
          <p:cNvPr id="29" name="Oval 28"/>
          <p:cNvSpPr/>
          <p:nvPr/>
        </p:nvSpPr>
        <p:spPr>
          <a:xfrm>
            <a:off x="10385196" y="258547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19609" y="2960789"/>
            <a:ext cx="640080" cy="146304"/>
          </a:xfrm>
          <a:prstGeom prst="rect">
            <a:avLst/>
          </a:prstGeom>
          <a:noFill/>
        </p:spPr>
        <p:txBody>
          <a:bodyPr wrap="none">
            <a:spAutoFit/>
          </a:bodyPr>
          <a:lstStyle/>
          <a:p>
            <a:pPr algn="ctr"/>
            <a:r>
              <a:rPr sz="600">
                <a:solidFill>
                  <a:srgbClr val="B9A488"/>
                </a:solidFill>
              </a:rPr>
              <a:t>corruptor dryad</a:t>
            </a:r>
          </a:p>
        </p:txBody>
      </p:sp>
      <p:pic>
        <p:nvPicPr>
          <p:cNvPr id="31" name="ocular dryad" descr="ocular dryad (AM_Dryad_Ocular)&#10;drawSize 0.6669999957084656 · assigned here · art:keep"/>
          <p:cNvPicPr>
            <a:picLocks noChangeAspect="1"/>
          </p:cNvPicPr>
          <p:nvPr/>
        </p:nvPicPr>
        <p:blipFill>
          <a:blip r:embed="rId11"/>
          <a:stretch>
            <a:fillRect/>
          </a:stretch>
        </p:blipFill>
        <p:spPr>
          <a:xfrm>
            <a:off x="10595508" y="2603762"/>
            <a:ext cx="347883" cy="347883"/>
          </a:xfrm>
          <a:prstGeom prst="rect">
            <a:avLst/>
          </a:prstGeom>
        </p:spPr>
      </p:pic>
      <p:sp>
        <p:nvSpPr>
          <p:cNvPr id="32" name="Oval 31"/>
          <p:cNvSpPr/>
          <p:nvPr/>
        </p:nvSpPr>
        <p:spPr>
          <a:xfrm>
            <a:off x="10861095" y="258547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95508" y="2960789"/>
            <a:ext cx="640080" cy="146304"/>
          </a:xfrm>
          <a:prstGeom prst="rect">
            <a:avLst/>
          </a:prstGeom>
          <a:noFill/>
        </p:spPr>
        <p:txBody>
          <a:bodyPr wrap="none">
            <a:spAutoFit/>
          </a:bodyPr>
          <a:lstStyle/>
          <a:p>
            <a:pPr algn="ctr"/>
            <a:r>
              <a:rPr sz="600">
                <a:solidFill>
                  <a:srgbClr val="B9A488"/>
                </a:solidFill>
              </a:rPr>
              <a:t>ocular dryad</a:t>
            </a:r>
          </a:p>
        </p:txBody>
      </p:sp>
      <p:pic>
        <p:nvPicPr>
          <p:cNvPr id="34" name="tumorous dryad" descr="tumorous dryad (AM_Dryad_Tumorous)&#10;drawSize 0.6669999957084656 · assigned here · art:keep"/>
          <p:cNvPicPr>
            <a:picLocks noChangeAspect="1"/>
          </p:cNvPicPr>
          <p:nvPr/>
        </p:nvPicPr>
        <p:blipFill>
          <a:blip r:embed="rId12"/>
          <a:stretch>
            <a:fillRect/>
          </a:stretch>
        </p:blipFill>
        <p:spPr>
          <a:xfrm>
            <a:off x="11071407" y="2603762"/>
            <a:ext cx="347883" cy="347883"/>
          </a:xfrm>
          <a:prstGeom prst="rect">
            <a:avLst/>
          </a:prstGeom>
        </p:spPr>
      </p:pic>
      <p:sp>
        <p:nvSpPr>
          <p:cNvPr id="35" name="Oval 34"/>
          <p:cNvSpPr/>
          <p:nvPr/>
        </p:nvSpPr>
        <p:spPr>
          <a:xfrm>
            <a:off x="11336994" y="258547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71407" y="2960789"/>
            <a:ext cx="640080" cy="146304"/>
          </a:xfrm>
          <a:prstGeom prst="rect">
            <a:avLst/>
          </a:prstGeom>
          <a:noFill/>
        </p:spPr>
        <p:txBody>
          <a:bodyPr wrap="none">
            <a:spAutoFit/>
          </a:bodyPr>
          <a:lstStyle/>
          <a:p>
            <a:pPr algn="ctr"/>
            <a:r>
              <a:rPr sz="600">
                <a:solidFill>
                  <a:srgbClr val="B9A488"/>
                </a:solidFill>
              </a:rPr>
              <a:t>tumorous dryad</a:t>
            </a:r>
          </a:p>
        </p:txBody>
      </p:sp>
      <p:pic>
        <p:nvPicPr>
          <p:cNvPr id="37" name="bedbug" descr="bedbug (AA_BedBug)&#10;drawSize 0.5 · assigned here · art:keep"/>
          <p:cNvPicPr>
            <a:picLocks noChangeAspect="1"/>
          </p:cNvPicPr>
          <p:nvPr/>
        </p:nvPicPr>
        <p:blipFill>
          <a:blip r:embed="rId13"/>
          <a:stretch>
            <a:fillRect/>
          </a:stretch>
        </p:blipFill>
        <p:spPr>
          <a:xfrm>
            <a:off x="11547306" y="2682451"/>
            <a:ext cx="269194" cy="269194"/>
          </a:xfrm>
          <a:prstGeom prst="rect">
            <a:avLst/>
          </a:prstGeom>
        </p:spPr>
      </p:pic>
      <p:sp>
        <p:nvSpPr>
          <p:cNvPr id="38" name="Oval 37"/>
          <p:cNvSpPr/>
          <p:nvPr/>
        </p:nvSpPr>
        <p:spPr>
          <a:xfrm>
            <a:off x="11734205" y="266416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547306" y="2960789"/>
            <a:ext cx="640080" cy="146304"/>
          </a:xfrm>
          <a:prstGeom prst="rect">
            <a:avLst/>
          </a:prstGeom>
          <a:noFill/>
        </p:spPr>
        <p:txBody>
          <a:bodyPr wrap="none">
            <a:spAutoFit/>
          </a:bodyPr>
          <a:lstStyle/>
          <a:p>
            <a:pPr algn="ctr"/>
            <a:r>
              <a:rPr sz="600">
                <a:solidFill>
                  <a:srgbClr val="B9A488"/>
                </a:solidFill>
              </a:rPr>
              <a:t>bedbug</a:t>
            </a:r>
          </a:p>
        </p:txBody>
      </p:sp>
      <p:pic>
        <p:nvPicPr>
          <p:cNvPr id="40" name="crystalmit" descr="crystalmit (AA_CrystalMit)&#10;drawSize 0.5 · assigned here · art:keep"/>
          <p:cNvPicPr>
            <a:picLocks noChangeAspect="1"/>
          </p:cNvPicPr>
          <p:nvPr/>
        </p:nvPicPr>
        <p:blipFill>
          <a:blip r:embed="rId14"/>
          <a:stretch>
            <a:fillRect/>
          </a:stretch>
        </p:blipFill>
        <p:spPr>
          <a:xfrm>
            <a:off x="274320" y="3189389"/>
            <a:ext cx="269194" cy="269194"/>
          </a:xfrm>
          <a:prstGeom prst="rect">
            <a:avLst/>
          </a:prstGeom>
        </p:spPr>
      </p:pic>
      <p:sp>
        <p:nvSpPr>
          <p:cNvPr id="41" name="Oval 40"/>
          <p:cNvSpPr/>
          <p:nvPr/>
        </p:nvSpPr>
        <p:spPr>
          <a:xfrm>
            <a:off x="461218" y="31711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3467727"/>
            <a:ext cx="640080" cy="146304"/>
          </a:xfrm>
          <a:prstGeom prst="rect">
            <a:avLst/>
          </a:prstGeom>
          <a:noFill/>
        </p:spPr>
        <p:txBody>
          <a:bodyPr wrap="none">
            <a:spAutoFit/>
          </a:bodyPr>
          <a:lstStyle/>
          <a:p>
            <a:pPr algn="ctr"/>
            <a:r>
              <a:rPr sz="600">
                <a:solidFill>
                  <a:srgbClr val="B9A488"/>
                </a:solidFill>
              </a:rPr>
              <a:t>crystalmit</a:t>
            </a:r>
          </a:p>
        </p:txBody>
      </p:sp>
      <p:pic>
        <p:nvPicPr>
          <p:cNvPr id="43" name="ocular jelly" descr="ocular jelly (AA_OcularJelly)&#10;drawSize 0.5 · assigned here · art:keep"/>
          <p:cNvPicPr>
            <a:picLocks noChangeAspect="1"/>
          </p:cNvPicPr>
          <p:nvPr/>
        </p:nvPicPr>
        <p:blipFill>
          <a:blip r:embed="rId15"/>
          <a:stretch>
            <a:fillRect/>
          </a:stretch>
        </p:blipFill>
        <p:spPr>
          <a:xfrm>
            <a:off x="671530" y="3189389"/>
            <a:ext cx="269194" cy="269194"/>
          </a:xfrm>
          <a:prstGeom prst="rect">
            <a:avLst/>
          </a:prstGeom>
        </p:spPr>
      </p:pic>
      <p:sp>
        <p:nvSpPr>
          <p:cNvPr id="44" name="Oval 43"/>
          <p:cNvSpPr/>
          <p:nvPr/>
        </p:nvSpPr>
        <p:spPr>
          <a:xfrm>
            <a:off x="858428" y="31711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1530" y="3467727"/>
            <a:ext cx="640080" cy="146304"/>
          </a:xfrm>
          <a:prstGeom prst="rect">
            <a:avLst/>
          </a:prstGeom>
          <a:noFill/>
        </p:spPr>
        <p:txBody>
          <a:bodyPr wrap="none">
            <a:spAutoFit/>
          </a:bodyPr>
          <a:lstStyle/>
          <a:p>
            <a:pPr algn="ctr"/>
            <a:r>
              <a:rPr sz="600">
                <a:solidFill>
                  <a:srgbClr val="B9A488"/>
                </a:solidFill>
              </a:rPr>
              <a:t>ocular jelly</a:t>
            </a:r>
          </a:p>
        </p:txBody>
      </p:sp>
      <p:pic>
        <p:nvPicPr>
          <p:cNvPr id="46" name="mynock" descr="mynock (Mynock)&#10;drawSize 0.5 · assigned here · art:keep"/>
          <p:cNvPicPr>
            <a:picLocks noChangeAspect="1"/>
          </p:cNvPicPr>
          <p:nvPr/>
        </p:nvPicPr>
        <p:blipFill>
          <a:blip r:embed="rId16"/>
          <a:stretch>
            <a:fillRect/>
          </a:stretch>
        </p:blipFill>
        <p:spPr>
          <a:xfrm>
            <a:off x="1068740" y="3189389"/>
            <a:ext cx="269194" cy="269194"/>
          </a:xfrm>
          <a:prstGeom prst="rect">
            <a:avLst/>
          </a:prstGeom>
        </p:spPr>
      </p:pic>
      <p:sp>
        <p:nvSpPr>
          <p:cNvPr id="47" name="Oval 46"/>
          <p:cNvSpPr/>
          <p:nvPr/>
        </p:nvSpPr>
        <p:spPr>
          <a:xfrm>
            <a:off x="1255638" y="31711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8740" y="3467727"/>
            <a:ext cx="640080" cy="146304"/>
          </a:xfrm>
          <a:prstGeom prst="rect">
            <a:avLst/>
          </a:prstGeom>
          <a:noFill/>
        </p:spPr>
        <p:txBody>
          <a:bodyPr wrap="none">
            <a:spAutoFit/>
          </a:bodyPr>
          <a:lstStyle/>
          <a:p>
            <a:pPr algn="ctr"/>
            <a:r>
              <a:rPr sz="600">
                <a:solidFill>
                  <a:srgbClr val="B9A488"/>
                </a:solidFill>
              </a:rPr>
              <a:t>mynock</a:t>
            </a:r>
          </a:p>
        </p:txBody>
      </p:sp>
      <p:pic>
        <p:nvPicPr>
          <p:cNvPr id="49" name="beetlefleet" descr="beetlefleet (GR_Beetlefleet)&#10;drawSize 0.30000001192092896 · assigned here · art:keep"/>
          <p:cNvPicPr>
            <a:picLocks noChangeAspect="1"/>
          </p:cNvPicPr>
          <p:nvPr/>
        </p:nvPicPr>
        <p:blipFill>
          <a:blip r:embed="rId17"/>
          <a:stretch>
            <a:fillRect/>
          </a:stretch>
        </p:blipFill>
        <p:spPr>
          <a:xfrm>
            <a:off x="1465950" y="3189389"/>
            <a:ext cx="269194" cy="269194"/>
          </a:xfrm>
          <a:prstGeom prst="rect">
            <a:avLst/>
          </a:prstGeom>
        </p:spPr>
      </p:pic>
      <p:sp>
        <p:nvSpPr>
          <p:cNvPr id="50" name="Oval 49"/>
          <p:cNvSpPr/>
          <p:nvPr/>
        </p:nvSpPr>
        <p:spPr>
          <a:xfrm>
            <a:off x="1652849" y="31711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65950" y="3467727"/>
            <a:ext cx="640080" cy="146304"/>
          </a:xfrm>
          <a:prstGeom prst="rect">
            <a:avLst/>
          </a:prstGeom>
          <a:noFill/>
        </p:spPr>
        <p:txBody>
          <a:bodyPr wrap="none">
            <a:spAutoFit/>
          </a:bodyPr>
          <a:lstStyle/>
          <a:p>
            <a:pPr algn="ctr"/>
            <a:r>
              <a:rPr sz="600">
                <a:solidFill>
                  <a:srgbClr val="B9A488"/>
                </a:solidFill>
              </a:rPr>
              <a:t>beetlefleet</a:t>
            </a:r>
          </a:p>
        </p:txBody>
      </p:sp>
      <p:pic>
        <p:nvPicPr>
          <p:cNvPr id="52" name="infected aerofleet" descr="infected aerofleet (AA_InfectedAerofleet)&#10;drawSize 0.20000000298023224 · assigned here · art:keep"/>
          <p:cNvPicPr>
            <a:picLocks noChangeAspect="1"/>
          </p:cNvPicPr>
          <p:nvPr/>
        </p:nvPicPr>
        <p:blipFill>
          <a:blip r:embed="rId18"/>
          <a:stretch>
            <a:fillRect/>
          </a:stretch>
        </p:blipFill>
        <p:spPr>
          <a:xfrm>
            <a:off x="1863161" y="3189389"/>
            <a:ext cx="269194" cy="269194"/>
          </a:xfrm>
          <a:prstGeom prst="rect">
            <a:avLst/>
          </a:prstGeom>
        </p:spPr>
      </p:pic>
      <p:sp>
        <p:nvSpPr>
          <p:cNvPr id="53" name="Oval 52"/>
          <p:cNvSpPr/>
          <p:nvPr/>
        </p:nvSpPr>
        <p:spPr>
          <a:xfrm>
            <a:off x="2050059" y="31711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63161" y="3467727"/>
            <a:ext cx="640080" cy="146304"/>
          </a:xfrm>
          <a:prstGeom prst="rect">
            <a:avLst/>
          </a:prstGeom>
          <a:noFill/>
        </p:spPr>
        <p:txBody>
          <a:bodyPr wrap="none">
            <a:spAutoFit/>
          </a:bodyPr>
          <a:lstStyle/>
          <a:p>
            <a:pPr algn="ctr"/>
            <a:r>
              <a:rPr sz="600">
                <a:solidFill>
                  <a:srgbClr val="B9A488"/>
                </a:solidFill>
              </a:rPr>
              <a:t>infected aerofle</a:t>
            </a:r>
          </a:p>
        </p:txBody>
      </p:sp>
      <p:pic>
        <p:nvPicPr>
          <p:cNvPr id="55" name="granite slug" descr="granite slug (GraniteSlug)&#10;drawSize 0.20000000298023224 · assigned here · art:keep"/>
          <p:cNvPicPr>
            <a:picLocks noChangeAspect="1"/>
          </p:cNvPicPr>
          <p:nvPr/>
        </p:nvPicPr>
        <p:blipFill>
          <a:blip r:embed="rId19"/>
          <a:stretch>
            <a:fillRect/>
          </a:stretch>
        </p:blipFill>
        <p:spPr>
          <a:xfrm>
            <a:off x="2260371" y="3189389"/>
            <a:ext cx="269194" cy="269194"/>
          </a:xfrm>
          <a:prstGeom prst="rect">
            <a:avLst/>
          </a:prstGeom>
        </p:spPr>
      </p:pic>
      <p:sp>
        <p:nvSpPr>
          <p:cNvPr id="56" name="Oval 55"/>
          <p:cNvSpPr/>
          <p:nvPr/>
        </p:nvSpPr>
        <p:spPr>
          <a:xfrm>
            <a:off x="2447269" y="31711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60371" y="3467727"/>
            <a:ext cx="640080" cy="146304"/>
          </a:xfrm>
          <a:prstGeom prst="rect">
            <a:avLst/>
          </a:prstGeom>
          <a:noFill/>
        </p:spPr>
        <p:txBody>
          <a:bodyPr wrap="none">
            <a:spAutoFit/>
          </a:bodyPr>
          <a:lstStyle/>
          <a:p>
            <a:pPr algn="ctr"/>
            <a:r>
              <a:rPr sz="600">
                <a:solidFill>
                  <a:srgbClr val="B9A488"/>
                </a:solidFill>
              </a:rPr>
              <a:t>granite slug</a:t>
            </a:r>
          </a:p>
        </p:txBody>
      </p:sp>
      <p:pic>
        <p:nvPicPr>
          <p:cNvPr id="58" name="neebray" descr="neebray (Neebray)&#10;drawSize 0.20000000298023224 · assigned here · art:keep"/>
          <p:cNvPicPr>
            <a:picLocks noChangeAspect="1"/>
          </p:cNvPicPr>
          <p:nvPr/>
        </p:nvPicPr>
        <p:blipFill>
          <a:blip r:embed="rId20"/>
          <a:stretch>
            <a:fillRect/>
          </a:stretch>
        </p:blipFill>
        <p:spPr>
          <a:xfrm>
            <a:off x="2657581" y="3189389"/>
            <a:ext cx="269194" cy="269194"/>
          </a:xfrm>
          <a:prstGeom prst="rect">
            <a:avLst/>
          </a:prstGeom>
        </p:spPr>
      </p:pic>
      <p:sp>
        <p:nvSpPr>
          <p:cNvPr id="59" name="Oval 58"/>
          <p:cNvSpPr/>
          <p:nvPr/>
        </p:nvSpPr>
        <p:spPr>
          <a:xfrm>
            <a:off x="2844480" y="317110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57581" y="3467727"/>
            <a:ext cx="640080" cy="146304"/>
          </a:xfrm>
          <a:prstGeom prst="rect">
            <a:avLst/>
          </a:prstGeom>
          <a:noFill/>
        </p:spPr>
        <p:txBody>
          <a:bodyPr wrap="none">
            <a:spAutoFit/>
          </a:bodyPr>
          <a:lstStyle/>
          <a:p>
            <a:pPr algn="ctr"/>
            <a:r>
              <a:rPr sz="600">
                <a:solidFill>
                  <a:srgbClr val="B9A488"/>
                </a:solidFill>
              </a:rPr>
              <a:t>neebray</a:t>
            </a:r>
          </a:p>
        </p:txBody>
      </p:sp>
      <p:sp>
        <p:nvSpPr>
          <p:cNvPr id="61" name="TextBox 60"/>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62" name="AB_CrystalHorn" descr="AB_CrystalHorn (AB_CrystalHorn)&#10;"/>
          <p:cNvPicPr>
            <a:picLocks noChangeAspect="1"/>
          </p:cNvPicPr>
          <p:nvPr/>
        </p:nvPicPr>
        <p:blipFill>
          <a:blip r:embed="rId21"/>
          <a:stretch>
            <a:fillRect/>
          </a:stretch>
        </p:blipFill>
        <p:spPr>
          <a:xfrm>
            <a:off x="274320" y="3822191"/>
            <a:ext cx="548639" cy="548639"/>
          </a:xfrm>
          <a:prstGeom prst="rect">
            <a:avLst/>
          </a:prstGeom>
        </p:spPr>
      </p:pic>
      <p:sp>
        <p:nvSpPr>
          <p:cNvPr id="63" name="TextBox 62"/>
          <p:cNvSpPr txBox="1"/>
          <p:nvPr/>
        </p:nvSpPr>
        <p:spPr>
          <a:xfrm>
            <a:off x="274320" y="4379975"/>
            <a:ext cx="640080" cy="146304"/>
          </a:xfrm>
          <a:prstGeom prst="rect">
            <a:avLst/>
          </a:prstGeom>
          <a:noFill/>
        </p:spPr>
        <p:txBody>
          <a:bodyPr wrap="none">
            <a:spAutoFit/>
          </a:bodyPr>
          <a:lstStyle/>
          <a:p>
            <a:pPr algn="ctr"/>
            <a:r>
              <a:rPr sz="600">
                <a:solidFill>
                  <a:srgbClr val="B9A488"/>
                </a:solidFill>
              </a:rPr>
              <a:t>AB_CrystalHorn</a:t>
            </a:r>
          </a:p>
        </p:txBody>
      </p:sp>
      <p:pic>
        <p:nvPicPr>
          <p:cNvPr id="64" name="AB_RavenNettle" descr="AB_RavenNettle (AB_RavenNettle)&#10;"/>
          <p:cNvPicPr>
            <a:picLocks noChangeAspect="1"/>
          </p:cNvPicPr>
          <p:nvPr/>
        </p:nvPicPr>
        <p:blipFill>
          <a:blip r:embed="rId22"/>
          <a:stretch>
            <a:fillRect/>
          </a:stretch>
        </p:blipFill>
        <p:spPr>
          <a:xfrm>
            <a:off x="950975" y="3822191"/>
            <a:ext cx="548639" cy="548639"/>
          </a:xfrm>
          <a:prstGeom prst="rect">
            <a:avLst/>
          </a:prstGeom>
        </p:spPr>
      </p:pic>
      <p:sp>
        <p:nvSpPr>
          <p:cNvPr id="65" name="TextBox 64"/>
          <p:cNvSpPr txBox="1"/>
          <p:nvPr/>
        </p:nvSpPr>
        <p:spPr>
          <a:xfrm>
            <a:off x="950975" y="4379975"/>
            <a:ext cx="640080" cy="146304"/>
          </a:xfrm>
          <a:prstGeom prst="rect">
            <a:avLst/>
          </a:prstGeom>
          <a:noFill/>
        </p:spPr>
        <p:txBody>
          <a:bodyPr wrap="none">
            <a:spAutoFit/>
          </a:bodyPr>
          <a:lstStyle/>
          <a:p>
            <a:pPr algn="ctr"/>
            <a:r>
              <a:rPr sz="600">
                <a:solidFill>
                  <a:srgbClr val="B9A488"/>
                </a:solidFill>
              </a:rPr>
              <a:t>AB_RavenNettle</a:t>
            </a:r>
          </a:p>
        </p:txBody>
      </p:sp>
      <p:pic>
        <p:nvPicPr>
          <p:cNvPr id="66" name="AB_KeeningCordax" descr="AB_KeeningCordax (AB_KeeningCordax)&#10;"/>
          <p:cNvPicPr>
            <a:picLocks noChangeAspect="1"/>
          </p:cNvPicPr>
          <p:nvPr/>
        </p:nvPicPr>
        <p:blipFill>
          <a:blip r:embed="rId23"/>
          <a:stretch>
            <a:fillRect/>
          </a:stretch>
        </p:blipFill>
        <p:spPr>
          <a:xfrm>
            <a:off x="1627631" y="3822191"/>
            <a:ext cx="548639" cy="548639"/>
          </a:xfrm>
          <a:prstGeom prst="rect">
            <a:avLst/>
          </a:prstGeom>
        </p:spPr>
      </p:pic>
      <p:sp>
        <p:nvSpPr>
          <p:cNvPr id="67" name="TextBox 66"/>
          <p:cNvSpPr txBox="1"/>
          <p:nvPr/>
        </p:nvSpPr>
        <p:spPr>
          <a:xfrm>
            <a:off x="1627631" y="4379975"/>
            <a:ext cx="640080" cy="146304"/>
          </a:xfrm>
          <a:prstGeom prst="rect">
            <a:avLst/>
          </a:prstGeom>
          <a:noFill/>
        </p:spPr>
        <p:txBody>
          <a:bodyPr wrap="none">
            <a:spAutoFit/>
          </a:bodyPr>
          <a:lstStyle/>
          <a:p>
            <a:pPr algn="ctr"/>
            <a:r>
              <a:rPr sz="600">
                <a:solidFill>
                  <a:srgbClr val="B9A488"/>
                </a:solidFill>
              </a:rPr>
              <a:t>AB_KeeningCordax</a:t>
            </a:r>
          </a:p>
        </p:txBody>
      </p:sp>
      <p:pic>
        <p:nvPicPr>
          <p:cNvPr id="68" name="AB_RedBugloss" descr="AB_RedBugloss (AB_RedBugloss)&#10;"/>
          <p:cNvPicPr>
            <a:picLocks noChangeAspect="1"/>
          </p:cNvPicPr>
          <p:nvPr/>
        </p:nvPicPr>
        <p:blipFill>
          <a:blip r:embed="rId24"/>
          <a:stretch>
            <a:fillRect/>
          </a:stretch>
        </p:blipFill>
        <p:spPr>
          <a:xfrm>
            <a:off x="2304287" y="3822191"/>
            <a:ext cx="548639" cy="548639"/>
          </a:xfrm>
          <a:prstGeom prst="rect">
            <a:avLst/>
          </a:prstGeom>
        </p:spPr>
      </p:pic>
      <p:sp>
        <p:nvSpPr>
          <p:cNvPr id="69" name="TextBox 68"/>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AB_RedBugloss</a:t>
            </a:r>
          </a:p>
        </p:txBody>
      </p:sp>
      <p:pic>
        <p:nvPicPr>
          <p:cNvPr id="70" name="AB_BloodBouquet" descr="AB_BloodBouquet (AB_BloodBouquet)&#10;"/>
          <p:cNvPicPr>
            <a:picLocks noChangeAspect="1"/>
          </p:cNvPicPr>
          <p:nvPr/>
        </p:nvPicPr>
        <p:blipFill>
          <a:blip r:embed="rId25"/>
          <a:stretch>
            <a:fillRect/>
          </a:stretch>
        </p:blipFill>
        <p:spPr>
          <a:xfrm>
            <a:off x="2980943" y="3822191"/>
            <a:ext cx="548639" cy="548639"/>
          </a:xfrm>
          <a:prstGeom prst="rect">
            <a:avLst/>
          </a:prstGeom>
        </p:spPr>
      </p:pic>
      <p:sp>
        <p:nvSpPr>
          <p:cNvPr id="71" name="TextBox 70"/>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AB_BloodBouquet</a:t>
            </a:r>
          </a:p>
        </p:txBody>
      </p:sp>
      <p:pic>
        <p:nvPicPr>
          <p:cNvPr id="72" name="BMT_Plant_TreeMartyr" descr="BMT_Plant_TreeMartyr (BMT_Plant_TreeMartyr)&#10;"/>
          <p:cNvPicPr>
            <a:picLocks noChangeAspect="1"/>
          </p:cNvPicPr>
          <p:nvPr/>
        </p:nvPicPr>
        <p:blipFill>
          <a:blip r:embed="rId26"/>
          <a:stretch>
            <a:fillRect/>
          </a:stretch>
        </p:blipFill>
        <p:spPr>
          <a:xfrm>
            <a:off x="3657599" y="3822191"/>
            <a:ext cx="548639" cy="548639"/>
          </a:xfrm>
          <a:prstGeom prst="rect">
            <a:avLst/>
          </a:prstGeom>
        </p:spPr>
      </p:pic>
      <p:sp>
        <p:nvSpPr>
          <p:cNvPr id="73" name="TextBox 72"/>
          <p:cNvSpPr txBox="1"/>
          <p:nvPr/>
        </p:nvSpPr>
        <p:spPr>
          <a:xfrm>
            <a:off x="3657599" y="4379975"/>
            <a:ext cx="640080" cy="146304"/>
          </a:xfrm>
          <a:prstGeom prst="rect">
            <a:avLst/>
          </a:prstGeom>
          <a:noFill/>
        </p:spPr>
        <p:txBody>
          <a:bodyPr wrap="none">
            <a:spAutoFit/>
          </a:bodyPr>
          <a:lstStyle/>
          <a:p>
            <a:pPr algn="ctr"/>
            <a:r>
              <a:rPr sz="600">
                <a:solidFill>
                  <a:srgbClr val="B9A488"/>
                </a:solidFill>
              </a:rPr>
              <a:t>BMT_Plant_TreeMa</a:t>
            </a:r>
          </a:p>
        </p:txBody>
      </p:sp>
      <p:pic>
        <p:nvPicPr>
          <p:cNvPr id="74" name="BMT_Plant_TreeTwistingThornwood" descr="BMT_Plant_TreeTwistingThornwood (BMT_Plant_TreeTwistingThornwood)&#10;"/>
          <p:cNvPicPr>
            <a:picLocks noChangeAspect="1"/>
          </p:cNvPicPr>
          <p:nvPr/>
        </p:nvPicPr>
        <p:blipFill>
          <a:blip r:embed="rId27"/>
          <a:stretch>
            <a:fillRect/>
          </a:stretch>
        </p:blipFill>
        <p:spPr>
          <a:xfrm>
            <a:off x="4334255" y="3822191"/>
            <a:ext cx="548639" cy="548639"/>
          </a:xfrm>
          <a:prstGeom prst="rect">
            <a:avLst/>
          </a:prstGeom>
        </p:spPr>
      </p:pic>
      <p:sp>
        <p:nvSpPr>
          <p:cNvPr id="75" name="TextBox 74"/>
          <p:cNvSpPr txBox="1"/>
          <p:nvPr/>
        </p:nvSpPr>
        <p:spPr>
          <a:xfrm>
            <a:off x="4334255" y="4379975"/>
            <a:ext cx="640080" cy="146304"/>
          </a:xfrm>
          <a:prstGeom prst="rect">
            <a:avLst/>
          </a:prstGeom>
          <a:noFill/>
        </p:spPr>
        <p:txBody>
          <a:bodyPr wrap="none">
            <a:spAutoFit/>
          </a:bodyPr>
          <a:lstStyle/>
          <a:p>
            <a:pPr algn="ctr"/>
            <a:r>
              <a:rPr sz="600">
                <a:solidFill>
                  <a:srgbClr val="B9A488"/>
                </a:solidFill>
              </a:rPr>
              <a:t>BMT_Plant_TreeTw</a:t>
            </a:r>
          </a:p>
        </p:txBody>
      </p:sp>
      <p:pic>
        <p:nvPicPr>
          <p:cNvPr id="76" name="AB_CrystalFlower" descr="AB_CrystalFlower (AB_CrystalFlower)&#10;"/>
          <p:cNvPicPr>
            <a:picLocks noChangeAspect="1"/>
          </p:cNvPicPr>
          <p:nvPr/>
        </p:nvPicPr>
        <p:blipFill>
          <a:blip r:embed="rId28"/>
          <a:stretch>
            <a:fillRect/>
          </a:stretch>
        </p:blipFill>
        <p:spPr>
          <a:xfrm>
            <a:off x="5010912" y="3822191"/>
            <a:ext cx="548639" cy="548639"/>
          </a:xfrm>
          <a:prstGeom prst="rect">
            <a:avLst/>
          </a:prstGeom>
        </p:spPr>
      </p:pic>
      <p:sp>
        <p:nvSpPr>
          <p:cNvPr id="77" name="TextBox 76"/>
          <p:cNvSpPr txBox="1"/>
          <p:nvPr/>
        </p:nvSpPr>
        <p:spPr>
          <a:xfrm>
            <a:off x="5010912" y="4379975"/>
            <a:ext cx="640080" cy="146304"/>
          </a:xfrm>
          <a:prstGeom prst="rect">
            <a:avLst/>
          </a:prstGeom>
          <a:noFill/>
        </p:spPr>
        <p:txBody>
          <a:bodyPr wrap="none">
            <a:spAutoFit/>
          </a:bodyPr>
          <a:lstStyle/>
          <a:p>
            <a:pPr algn="ctr"/>
            <a:r>
              <a:rPr sz="600">
                <a:solidFill>
                  <a:srgbClr val="B9A488"/>
                </a:solidFill>
              </a:rPr>
              <a:t>AB_CrystalFlower</a:t>
            </a:r>
          </a:p>
        </p:txBody>
      </p:sp>
      <p:pic>
        <p:nvPicPr>
          <p:cNvPr id="78" name="AB_GiantAgariTox" descr="AB_GiantAgariTox (AB_GiantAgariTox)&#10;"/>
          <p:cNvPicPr>
            <a:picLocks noChangeAspect="1"/>
          </p:cNvPicPr>
          <p:nvPr/>
        </p:nvPicPr>
        <p:blipFill>
          <a:blip r:embed="rId29"/>
          <a:stretch>
            <a:fillRect/>
          </a:stretch>
        </p:blipFill>
        <p:spPr>
          <a:xfrm>
            <a:off x="5687568" y="3822191"/>
            <a:ext cx="548639" cy="548639"/>
          </a:xfrm>
          <a:prstGeom prst="rect">
            <a:avLst/>
          </a:prstGeom>
        </p:spPr>
      </p:pic>
      <p:sp>
        <p:nvSpPr>
          <p:cNvPr id="79" name="TextBox 78"/>
          <p:cNvSpPr txBox="1"/>
          <p:nvPr/>
        </p:nvSpPr>
        <p:spPr>
          <a:xfrm>
            <a:off x="5687568" y="4379975"/>
            <a:ext cx="640080" cy="146304"/>
          </a:xfrm>
          <a:prstGeom prst="rect">
            <a:avLst/>
          </a:prstGeom>
          <a:noFill/>
        </p:spPr>
        <p:txBody>
          <a:bodyPr wrap="none">
            <a:spAutoFit/>
          </a:bodyPr>
          <a:lstStyle/>
          <a:p>
            <a:pPr algn="ctr"/>
            <a:r>
              <a:rPr sz="600">
                <a:solidFill>
                  <a:srgbClr val="B9A488"/>
                </a:solidFill>
              </a:rPr>
              <a:t>AB_GiantAgariTox</a:t>
            </a:r>
          </a:p>
        </p:txBody>
      </p:sp>
      <p:sp>
        <p:nvSpPr>
          <p:cNvPr id="80" name="TextBox 79"/>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_Second pass, 2026-09-05, weaving the owner's refinements: terminator not deep nightside · scattered twilight · cold gas vents, **no volcanism or geysers** · photosynthesis possible but dominated · water non-potable · meat toxic but prized._ **The original diagnosis stands:** it had no driving force. "Poison" was a label, not a mechanism, so its trees defaulted to tree-shaped. Now it has three axes — a twilight energy budget, a cold temperature ceiling, and a chemical anomaly — and everything else is forced.</a:t>
            </a:r>
          </a:p>
        </p:txBody>
      </p:sp>
      <p:sp>
        <p:nvSpPr>
          <p:cNvPr id="81" name="TextBox 80"/>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(5): Lylek, AA_Plasmorph, AA_LuciferBug, AA_Radyak, AA_RipperHound. Flier extracted: AA_InfectedAerofleet.
INCONSISTENCIES:
1. Ban: "Nothing fast. No sprinters, no pursuit predators" — Lylek and RipperHound are both pursuit-built; admit only with a rewritten slow/ambush hunting story.
2. Ban: "No open grazing herbivore body plans — nothing to graze" — Radyak (yak-analog) violates on silhouette; refashion as fungivore/vent-licker or reroute.
3. AA_Helixien kept here after being "not here"-ed out of three biomes — deliberate? Confirm at the sitting.
OPPORTUNITIES:
1. LuciferBug among the cold vents and black/purple phototrophs — the biome's light-lure predator; a natural fit, feature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the_miasma</a:t>
            </a:r>
            <a:r>
              <a:rPr sz="1100">
                <a:solidFill>
                  <a:srgbClr val="B9A488"/>
                </a:solidFill>
              </a:rPr>
              <a:t>   20 animals · 7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zakkeg" descr="zakkeg (Zakkeg)&#10;drawSize 5.0 · assigned here · art:redo&#10;“Make it lean, boney, and deeply disturbing.”"/>
          <p:cNvPicPr>
            <a:picLocks noChangeAspect="1"/>
          </p:cNvPicPr>
          <p:nvPr/>
        </p:nvPicPr>
        <p:blipFill>
          <a:blip r:embed="rId2"/>
          <a:stretch>
            <a:fillRect/>
          </a:stretch>
        </p:blipFill>
        <p:spPr>
          <a:xfrm>
            <a:off x="274320" y="932688"/>
            <a:ext cx="1899861" cy="1899861"/>
          </a:xfrm>
          <a:prstGeom prst="rect">
            <a:avLst/>
          </a:prstGeom>
        </p:spPr>
      </p:pic>
      <p:sp>
        <p:nvSpPr>
          <p:cNvPr id="5" name="Oval 4"/>
          <p:cNvSpPr/>
          <p:nvPr/>
        </p:nvSpPr>
        <p:spPr>
          <a:xfrm>
            <a:off x="2091885"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841693"/>
            <a:ext cx="1899861" cy="146304"/>
          </a:xfrm>
          <a:prstGeom prst="rect">
            <a:avLst/>
          </a:prstGeom>
          <a:noFill/>
        </p:spPr>
        <p:txBody>
          <a:bodyPr wrap="none">
            <a:spAutoFit/>
          </a:bodyPr>
          <a:lstStyle/>
          <a:p>
            <a:pPr algn="ctr"/>
            <a:r>
              <a:rPr sz="600">
                <a:solidFill>
                  <a:srgbClr val="B9A488"/>
                </a:solidFill>
              </a:rPr>
              <a:t>zakkeg</a:t>
            </a:r>
          </a:p>
        </p:txBody>
      </p:sp>
      <p:pic>
        <p:nvPicPr>
          <p:cNvPr id="7" name="dianoga" descr="dianoga (Dianoga)&#10;drawSize 4.0 · moved in from the_greentide · art:improve&#10;“6 cells, would be awesome if we could add tentacle pulling capabilities like the lasso power or future sarlacc mod, put it in the maiasma”"/>
          <p:cNvPicPr>
            <a:picLocks noChangeAspect="1"/>
          </p:cNvPicPr>
          <p:nvPr/>
        </p:nvPicPr>
        <p:blipFill>
          <a:blip r:embed="rId3"/>
          <a:stretch>
            <a:fillRect/>
          </a:stretch>
        </p:blipFill>
        <p:spPr>
          <a:xfrm>
            <a:off x="2302197" y="932688"/>
            <a:ext cx="1899861" cy="1899861"/>
          </a:xfrm>
          <a:prstGeom prst="rect">
            <a:avLst/>
          </a:prstGeom>
        </p:spPr>
      </p:pic>
      <p:sp>
        <p:nvSpPr>
          <p:cNvPr id="8" name="Oval 7"/>
          <p:cNvSpPr/>
          <p:nvPr/>
        </p:nvSpPr>
        <p:spPr>
          <a:xfrm>
            <a:off x="4119763" y="914400"/>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02197" y="2841693"/>
            <a:ext cx="1899861" cy="146304"/>
          </a:xfrm>
          <a:prstGeom prst="rect">
            <a:avLst/>
          </a:prstGeom>
          <a:noFill/>
        </p:spPr>
        <p:txBody>
          <a:bodyPr wrap="none">
            <a:spAutoFit/>
          </a:bodyPr>
          <a:lstStyle/>
          <a:p>
            <a:pPr algn="ctr"/>
            <a:r>
              <a:rPr sz="600">
                <a:solidFill>
                  <a:srgbClr val="B9A488"/>
                </a:solidFill>
              </a:rPr>
              <a:t>dianoga</a:t>
            </a:r>
          </a:p>
        </p:txBody>
      </p:sp>
      <p:pic>
        <p:nvPicPr>
          <p:cNvPr id="10" name="lockjaw" descr="lockjaw (AA_Lockjaw)&#10;drawSize 2.5 · assigned here · art:improve&#10;“Make it like a huge whale with alligator-like skin sitting and staring... then SNAP.”"/>
          <p:cNvPicPr>
            <a:picLocks noChangeAspect="1"/>
          </p:cNvPicPr>
          <p:nvPr/>
        </p:nvPicPr>
        <p:blipFill>
          <a:blip r:embed="rId4"/>
          <a:stretch>
            <a:fillRect/>
          </a:stretch>
        </p:blipFill>
        <p:spPr>
          <a:xfrm>
            <a:off x="4330075" y="1605555"/>
            <a:ext cx="1226994" cy="1226994"/>
          </a:xfrm>
          <a:prstGeom prst="rect">
            <a:avLst/>
          </a:prstGeom>
        </p:spPr>
      </p:pic>
      <p:sp>
        <p:nvSpPr>
          <p:cNvPr id="11" name="Oval 10"/>
          <p:cNvSpPr/>
          <p:nvPr/>
        </p:nvSpPr>
        <p:spPr>
          <a:xfrm>
            <a:off x="5474774" y="158726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0075" y="2841693"/>
            <a:ext cx="1226994" cy="146304"/>
          </a:xfrm>
          <a:prstGeom prst="rect">
            <a:avLst/>
          </a:prstGeom>
          <a:noFill/>
        </p:spPr>
        <p:txBody>
          <a:bodyPr wrap="none">
            <a:spAutoFit/>
          </a:bodyPr>
          <a:lstStyle/>
          <a:p>
            <a:pPr algn="ctr"/>
            <a:r>
              <a:rPr sz="600">
                <a:solidFill>
                  <a:srgbClr val="B9A488"/>
                </a:solidFill>
              </a:rPr>
              <a:t>lockjaw</a:t>
            </a:r>
          </a:p>
        </p:txBody>
      </p:sp>
      <p:pic>
        <p:nvPicPr>
          <p:cNvPr id="13" name="mantrap" descr="mantrap (AA_Mantrap)&#10;drawSize 2.0 · assigned here · art:improve&#10;“Twice as large, really frightening looking”"/>
          <p:cNvPicPr>
            <a:picLocks noChangeAspect="1"/>
          </p:cNvPicPr>
          <p:nvPr/>
        </p:nvPicPr>
        <p:blipFill>
          <a:blip r:embed="rId5"/>
          <a:stretch>
            <a:fillRect/>
          </a:stretch>
        </p:blipFill>
        <p:spPr>
          <a:xfrm>
            <a:off x="5685086" y="1850954"/>
            <a:ext cx="981595" cy="981595"/>
          </a:xfrm>
          <a:prstGeom prst="rect">
            <a:avLst/>
          </a:prstGeom>
        </p:spPr>
      </p:pic>
      <p:sp>
        <p:nvSpPr>
          <p:cNvPr id="14" name="Oval 13"/>
          <p:cNvSpPr/>
          <p:nvPr/>
        </p:nvSpPr>
        <p:spPr>
          <a:xfrm>
            <a:off x="6584385" y="183266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85086" y="2841693"/>
            <a:ext cx="981595" cy="146304"/>
          </a:xfrm>
          <a:prstGeom prst="rect">
            <a:avLst/>
          </a:prstGeom>
          <a:noFill/>
        </p:spPr>
        <p:txBody>
          <a:bodyPr wrap="none">
            <a:spAutoFit/>
          </a:bodyPr>
          <a:lstStyle/>
          <a:p>
            <a:pPr algn="ctr"/>
            <a:r>
              <a:rPr sz="600">
                <a:solidFill>
                  <a:srgbClr val="B9A488"/>
                </a:solidFill>
              </a:rPr>
              <a:t>mantrap</a:t>
            </a:r>
          </a:p>
        </p:txBody>
      </p:sp>
      <p:pic>
        <p:nvPicPr>
          <p:cNvPr id="16" name="vornskyr" descr="vornskyr (Vornskyr)&#10;drawSize 2.0 · assigned here · art:improve"/>
          <p:cNvPicPr>
            <a:picLocks noChangeAspect="1"/>
          </p:cNvPicPr>
          <p:nvPr/>
        </p:nvPicPr>
        <p:blipFill>
          <a:blip r:embed="rId6"/>
          <a:stretch>
            <a:fillRect/>
          </a:stretch>
        </p:blipFill>
        <p:spPr>
          <a:xfrm>
            <a:off x="6794697" y="1850954"/>
            <a:ext cx="981595" cy="981595"/>
          </a:xfrm>
          <a:prstGeom prst="rect">
            <a:avLst/>
          </a:prstGeom>
        </p:spPr>
      </p:pic>
      <p:sp>
        <p:nvSpPr>
          <p:cNvPr id="17" name="Oval 16"/>
          <p:cNvSpPr/>
          <p:nvPr/>
        </p:nvSpPr>
        <p:spPr>
          <a:xfrm>
            <a:off x="7693996" y="183266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4697" y="2841693"/>
            <a:ext cx="981595" cy="146304"/>
          </a:xfrm>
          <a:prstGeom prst="rect">
            <a:avLst/>
          </a:prstGeom>
          <a:noFill/>
        </p:spPr>
        <p:txBody>
          <a:bodyPr wrap="none">
            <a:spAutoFit/>
          </a:bodyPr>
          <a:lstStyle/>
          <a:p>
            <a:pPr algn="ctr"/>
            <a:r>
              <a:rPr sz="600">
                <a:solidFill>
                  <a:srgbClr val="B9A488"/>
                </a:solidFill>
              </a:rPr>
              <a:t>vornskyr</a:t>
            </a:r>
          </a:p>
        </p:txBody>
      </p:sp>
      <p:pic>
        <p:nvPicPr>
          <p:cNvPr id="19" name="thermadon" descr="thermadon (AA_Thermadon)&#10;drawSize 1.5 · assigned here · art:improve"/>
          <p:cNvPicPr>
            <a:picLocks noChangeAspect="1"/>
          </p:cNvPicPr>
          <p:nvPr/>
        </p:nvPicPr>
        <p:blipFill>
          <a:blip r:embed="rId7"/>
          <a:stretch>
            <a:fillRect/>
          </a:stretch>
        </p:blipFill>
        <p:spPr>
          <a:xfrm>
            <a:off x="7904308" y="2096353"/>
            <a:ext cx="736196" cy="736196"/>
          </a:xfrm>
          <a:prstGeom prst="rect">
            <a:avLst/>
          </a:prstGeom>
        </p:spPr>
      </p:pic>
      <p:sp>
        <p:nvSpPr>
          <p:cNvPr id="20" name="Oval 19"/>
          <p:cNvSpPr/>
          <p:nvPr/>
        </p:nvSpPr>
        <p:spPr>
          <a:xfrm>
            <a:off x="8558209" y="20780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4308" y="2841693"/>
            <a:ext cx="736196" cy="146304"/>
          </a:xfrm>
          <a:prstGeom prst="rect">
            <a:avLst/>
          </a:prstGeom>
          <a:noFill/>
        </p:spPr>
        <p:txBody>
          <a:bodyPr wrap="none">
            <a:spAutoFit/>
          </a:bodyPr>
          <a:lstStyle/>
          <a:p>
            <a:pPr algn="ctr"/>
            <a:r>
              <a:rPr sz="600">
                <a:solidFill>
                  <a:srgbClr val="B9A488"/>
                </a:solidFill>
              </a:rPr>
              <a:t>thermadon</a:t>
            </a:r>
          </a:p>
        </p:txBody>
      </p:sp>
      <p:pic>
        <p:nvPicPr>
          <p:cNvPr id="22" name="runyip" descr="runyip (Runyip)&#10;drawSize 1.5 · assigned here · art:keep"/>
          <p:cNvPicPr>
            <a:picLocks noChangeAspect="1"/>
          </p:cNvPicPr>
          <p:nvPr/>
        </p:nvPicPr>
        <p:blipFill>
          <a:blip r:embed="rId8"/>
          <a:stretch>
            <a:fillRect/>
          </a:stretch>
        </p:blipFill>
        <p:spPr>
          <a:xfrm>
            <a:off x="8768521" y="2096353"/>
            <a:ext cx="736196" cy="736196"/>
          </a:xfrm>
          <a:prstGeom prst="rect">
            <a:avLst/>
          </a:prstGeom>
        </p:spPr>
      </p:pic>
      <p:sp>
        <p:nvSpPr>
          <p:cNvPr id="23" name="Oval 22"/>
          <p:cNvSpPr/>
          <p:nvPr/>
        </p:nvSpPr>
        <p:spPr>
          <a:xfrm>
            <a:off x="9422421" y="207806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68521" y="2841693"/>
            <a:ext cx="736196" cy="146304"/>
          </a:xfrm>
          <a:prstGeom prst="rect">
            <a:avLst/>
          </a:prstGeom>
          <a:noFill/>
        </p:spPr>
        <p:txBody>
          <a:bodyPr wrap="none">
            <a:spAutoFit/>
          </a:bodyPr>
          <a:lstStyle/>
          <a:p>
            <a:pPr algn="ctr"/>
            <a:r>
              <a:rPr sz="600">
                <a:solidFill>
                  <a:srgbClr val="B9A488"/>
                </a:solidFill>
              </a:rPr>
              <a:t>runyip</a:t>
            </a:r>
          </a:p>
        </p:txBody>
      </p:sp>
      <p:pic>
        <p:nvPicPr>
          <p:cNvPr id="25" name="raptor shrimp" descr="raptor shrimp (AA_RaptorShrimp)&#10;drawSize 1.399999976158142 · assigned here · art:improve"/>
          <p:cNvPicPr>
            <a:picLocks noChangeAspect="1"/>
          </p:cNvPicPr>
          <p:nvPr/>
        </p:nvPicPr>
        <p:blipFill>
          <a:blip r:embed="rId9"/>
          <a:stretch>
            <a:fillRect/>
          </a:stretch>
        </p:blipFill>
        <p:spPr>
          <a:xfrm>
            <a:off x="9632733" y="2145433"/>
            <a:ext cx="687116" cy="687116"/>
          </a:xfrm>
          <a:prstGeom prst="rect">
            <a:avLst/>
          </a:prstGeom>
        </p:spPr>
      </p:pic>
      <p:sp>
        <p:nvSpPr>
          <p:cNvPr id="26" name="Oval 25"/>
          <p:cNvSpPr/>
          <p:nvPr/>
        </p:nvSpPr>
        <p:spPr>
          <a:xfrm>
            <a:off x="10237554" y="212714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32733" y="2841693"/>
            <a:ext cx="687116" cy="146304"/>
          </a:xfrm>
          <a:prstGeom prst="rect">
            <a:avLst/>
          </a:prstGeom>
          <a:noFill/>
        </p:spPr>
        <p:txBody>
          <a:bodyPr wrap="none">
            <a:spAutoFit/>
          </a:bodyPr>
          <a:lstStyle/>
          <a:p>
            <a:pPr algn="ctr"/>
            <a:r>
              <a:rPr sz="600">
                <a:solidFill>
                  <a:srgbClr val="B9A488"/>
                </a:solidFill>
              </a:rPr>
              <a:t>raptor shrimp</a:t>
            </a:r>
          </a:p>
        </p:txBody>
      </p:sp>
      <p:pic>
        <p:nvPicPr>
          <p:cNvPr id="28" name="decay drake" descr="decay drake (AA_DecayDrake)&#10;drawSize 1.0 · assigned here · art:keep&#10;“not here”"/>
          <p:cNvPicPr>
            <a:picLocks noChangeAspect="1"/>
          </p:cNvPicPr>
          <p:nvPr/>
        </p:nvPicPr>
        <p:blipFill>
          <a:blip r:embed="rId10"/>
          <a:stretch>
            <a:fillRect/>
          </a:stretch>
        </p:blipFill>
        <p:spPr>
          <a:xfrm>
            <a:off x="10447866" y="2341752"/>
            <a:ext cx="490797" cy="490797"/>
          </a:xfrm>
          <a:prstGeom prst="rect">
            <a:avLst/>
          </a:prstGeom>
        </p:spPr>
      </p:pic>
      <p:sp>
        <p:nvSpPr>
          <p:cNvPr id="29" name="Oval 28"/>
          <p:cNvSpPr/>
          <p:nvPr/>
        </p:nvSpPr>
        <p:spPr>
          <a:xfrm>
            <a:off x="10856368" y="232346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7866" y="2841693"/>
            <a:ext cx="640080" cy="146304"/>
          </a:xfrm>
          <a:prstGeom prst="rect">
            <a:avLst/>
          </a:prstGeom>
          <a:noFill/>
        </p:spPr>
        <p:txBody>
          <a:bodyPr wrap="none">
            <a:spAutoFit/>
          </a:bodyPr>
          <a:lstStyle/>
          <a:p>
            <a:pPr algn="ctr"/>
            <a:r>
              <a:rPr sz="600">
                <a:solidFill>
                  <a:srgbClr val="B9A488"/>
                </a:solidFill>
              </a:rPr>
              <a:t>decay drake</a:t>
            </a:r>
          </a:p>
        </p:txBody>
      </p:sp>
      <p:pic>
        <p:nvPicPr>
          <p:cNvPr id="31" name="aaroxis dendoria" descr="aaroxis dendoria (BMT_AaroxisDendoria)&#10;drawSize 1.0 · assigned here · art:improve"/>
          <p:cNvPicPr>
            <a:picLocks noChangeAspect="1"/>
          </p:cNvPicPr>
          <p:nvPr/>
        </p:nvPicPr>
        <p:blipFill>
          <a:blip r:embed="rId11"/>
          <a:stretch>
            <a:fillRect/>
          </a:stretch>
        </p:blipFill>
        <p:spPr>
          <a:xfrm>
            <a:off x="11066680" y="2341752"/>
            <a:ext cx="490797" cy="490797"/>
          </a:xfrm>
          <a:prstGeom prst="rect">
            <a:avLst/>
          </a:prstGeom>
        </p:spPr>
      </p:pic>
      <p:sp>
        <p:nvSpPr>
          <p:cNvPr id="32" name="Oval 31"/>
          <p:cNvSpPr/>
          <p:nvPr/>
        </p:nvSpPr>
        <p:spPr>
          <a:xfrm>
            <a:off x="11475181" y="232346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66680" y="2841693"/>
            <a:ext cx="640080" cy="146304"/>
          </a:xfrm>
          <a:prstGeom prst="rect">
            <a:avLst/>
          </a:prstGeom>
          <a:noFill/>
        </p:spPr>
        <p:txBody>
          <a:bodyPr wrap="none">
            <a:spAutoFit/>
          </a:bodyPr>
          <a:lstStyle/>
          <a:p>
            <a:pPr algn="ctr"/>
            <a:r>
              <a:rPr sz="600">
                <a:solidFill>
                  <a:srgbClr val="B9A488"/>
                </a:solidFill>
              </a:rPr>
              <a:t>aaroxis dendoria</a:t>
            </a:r>
          </a:p>
        </p:txBody>
      </p:sp>
      <p:sp>
        <p:nvSpPr>
          <p:cNvPr id="34" name="RSW_RustNipper" descr="RSW_RustNipper (RSW_RustNipper)&#10;drawSize 1.0 · assigned here · art:improve&#10;[no cached sprite]"/>
          <p:cNvSpPr/>
          <p:nvPr/>
        </p:nvSpPr>
        <p:spPr>
          <a:xfrm>
            <a:off x="274320" y="3070293"/>
            <a:ext cx="640080" cy="490797"/>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RSW_RustNipper</a:t>
            </a:r>
          </a:p>
        </p:txBody>
      </p:sp>
      <p:sp>
        <p:nvSpPr>
          <p:cNvPr id="35" name="TextBox 34"/>
          <p:cNvSpPr txBox="1"/>
          <p:nvPr/>
        </p:nvSpPr>
        <p:spPr>
          <a:xfrm>
            <a:off x="274320" y="3570235"/>
            <a:ext cx="640080" cy="146304"/>
          </a:xfrm>
          <a:prstGeom prst="rect">
            <a:avLst/>
          </a:prstGeom>
          <a:noFill/>
        </p:spPr>
        <p:txBody>
          <a:bodyPr wrap="none">
            <a:spAutoFit/>
          </a:bodyPr>
          <a:lstStyle/>
          <a:p>
            <a:pPr algn="ctr"/>
            <a:r>
              <a:rPr sz="600">
                <a:solidFill>
                  <a:srgbClr val="B9A488"/>
                </a:solidFill>
              </a:rPr>
              <a:t>RSW_RustNipper</a:t>
            </a:r>
          </a:p>
        </p:txBody>
      </p:sp>
      <p:sp>
        <p:nvSpPr>
          <p:cNvPr id="36" name="RSW_Yobshrimp" descr="RSW_Yobshrimp (RSW_Yobshrimp)&#10;drawSize 1.0 · assigned here · art:improve&#10;“Rename to FeatherFeel”&#10;[no cached sprite]"/>
          <p:cNvSpPr/>
          <p:nvPr/>
        </p:nvSpPr>
        <p:spPr>
          <a:xfrm>
            <a:off x="893133" y="3070293"/>
            <a:ext cx="640080" cy="490797"/>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RSW_Yobshrimp</a:t>
            </a:r>
          </a:p>
        </p:txBody>
      </p:sp>
      <p:sp>
        <p:nvSpPr>
          <p:cNvPr id="37" name="TextBox 36"/>
          <p:cNvSpPr txBox="1"/>
          <p:nvPr/>
        </p:nvSpPr>
        <p:spPr>
          <a:xfrm>
            <a:off x="893133" y="3570235"/>
            <a:ext cx="640080" cy="146304"/>
          </a:xfrm>
          <a:prstGeom prst="rect">
            <a:avLst/>
          </a:prstGeom>
          <a:noFill/>
        </p:spPr>
        <p:txBody>
          <a:bodyPr wrap="none">
            <a:spAutoFit/>
          </a:bodyPr>
          <a:lstStyle/>
          <a:p>
            <a:pPr algn="ctr"/>
            <a:r>
              <a:rPr sz="600">
                <a:solidFill>
                  <a:srgbClr val="B9A488"/>
                </a:solidFill>
              </a:rPr>
              <a:t>RSW_Yobshrimp</a:t>
            </a:r>
          </a:p>
        </p:txBody>
      </p:sp>
      <p:sp>
        <p:nvSpPr>
          <p:cNvPr id="38" name="RSW_SandoAquaMonster" descr="RSW_SandoAquaMonster (RSW_SandoAquaMonster)&#10;drawSize 1.0 · moved in from the_scald · art:keep&#10;“Miasma”&#10;[no cached sprite]"/>
          <p:cNvSpPr/>
          <p:nvPr/>
        </p:nvSpPr>
        <p:spPr>
          <a:xfrm>
            <a:off x="1511947" y="3070293"/>
            <a:ext cx="640080" cy="490797"/>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RSW_SandoAquaMonster</a:t>
            </a:r>
          </a:p>
        </p:txBody>
      </p:sp>
      <p:sp>
        <p:nvSpPr>
          <p:cNvPr id="39" name="TextBox 38"/>
          <p:cNvSpPr txBox="1"/>
          <p:nvPr/>
        </p:nvSpPr>
        <p:spPr>
          <a:xfrm>
            <a:off x="1511947" y="3570235"/>
            <a:ext cx="640080" cy="146304"/>
          </a:xfrm>
          <a:prstGeom prst="rect">
            <a:avLst/>
          </a:prstGeom>
          <a:noFill/>
        </p:spPr>
        <p:txBody>
          <a:bodyPr wrap="none">
            <a:spAutoFit/>
          </a:bodyPr>
          <a:lstStyle/>
          <a:p>
            <a:pPr algn="ctr"/>
            <a:r>
              <a:rPr sz="600">
                <a:solidFill>
                  <a:srgbClr val="B9A488"/>
                </a:solidFill>
              </a:rPr>
              <a:t>RSW_SandoAquaMon</a:t>
            </a:r>
          </a:p>
        </p:txBody>
      </p:sp>
      <p:pic>
        <p:nvPicPr>
          <p:cNvPr id="40" name="anooba" descr="anooba (Anooba)&#10;drawSize 0.949999988079071 · assigned here · art:improve"/>
          <p:cNvPicPr>
            <a:picLocks noChangeAspect="1"/>
          </p:cNvPicPr>
          <p:nvPr/>
        </p:nvPicPr>
        <p:blipFill>
          <a:blip r:embed="rId12"/>
          <a:stretch>
            <a:fillRect/>
          </a:stretch>
        </p:blipFill>
        <p:spPr>
          <a:xfrm>
            <a:off x="2130761" y="3094833"/>
            <a:ext cx="466257" cy="466257"/>
          </a:xfrm>
          <a:prstGeom prst="rect">
            <a:avLst/>
          </a:prstGeom>
        </p:spPr>
      </p:pic>
      <p:sp>
        <p:nvSpPr>
          <p:cNvPr id="41" name="Oval 40"/>
          <p:cNvSpPr/>
          <p:nvPr/>
        </p:nvSpPr>
        <p:spPr>
          <a:xfrm>
            <a:off x="2514722" y="307654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30761" y="3570235"/>
            <a:ext cx="640080" cy="146304"/>
          </a:xfrm>
          <a:prstGeom prst="rect">
            <a:avLst/>
          </a:prstGeom>
          <a:noFill/>
        </p:spPr>
        <p:txBody>
          <a:bodyPr wrap="none">
            <a:spAutoFit/>
          </a:bodyPr>
          <a:lstStyle/>
          <a:p>
            <a:pPr algn="ctr"/>
            <a:r>
              <a:rPr sz="600">
                <a:solidFill>
                  <a:srgbClr val="B9A488"/>
                </a:solidFill>
              </a:rPr>
              <a:t>anooba</a:t>
            </a:r>
          </a:p>
        </p:txBody>
      </p:sp>
      <p:pic>
        <p:nvPicPr>
          <p:cNvPr id="43" name="Grank" descr="Grank (Grank)&#10;drawSize 0.8500000238418579 · assigned here · art:improve"/>
          <p:cNvPicPr>
            <a:picLocks noChangeAspect="1"/>
          </p:cNvPicPr>
          <p:nvPr/>
        </p:nvPicPr>
        <p:blipFill>
          <a:blip r:embed="rId13"/>
          <a:stretch>
            <a:fillRect/>
          </a:stretch>
        </p:blipFill>
        <p:spPr>
          <a:xfrm>
            <a:off x="2725034" y="3143913"/>
            <a:ext cx="417178" cy="417178"/>
          </a:xfrm>
          <a:prstGeom prst="rect">
            <a:avLst/>
          </a:prstGeom>
        </p:spPr>
      </p:pic>
      <p:sp>
        <p:nvSpPr>
          <p:cNvPr id="44" name="Oval 43"/>
          <p:cNvSpPr/>
          <p:nvPr/>
        </p:nvSpPr>
        <p:spPr>
          <a:xfrm>
            <a:off x="3059916" y="312562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25034" y="3570235"/>
            <a:ext cx="640080" cy="146304"/>
          </a:xfrm>
          <a:prstGeom prst="rect">
            <a:avLst/>
          </a:prstGeom>
          <a:noFill/>
        </p:spPr>
        <p:txBody>
          <a:bodyPr wrap="none">
            <a:spAutoFit/>
          </a:bodyPr>
          <a:lstStyle/>
          <a:p>
            <a:pPr algn="ctr"/>
            <a:r>
              <a:rPr sz="600">
                <a:solidFill>
                  <a:srgbClr val="B9A488"/>
                </a:solidFill>
              </a:rPr>
              <a:t>Grank</a:t>
            </a:r>
          </a:p>
        </p:txBody>
      </p:sp>
      <p:pic>
        <p:nvPicPr>
          <p:cNvPr id="46" name="crested dragon" descr="crested dragon (BMT_CrestedDragon)&#10;drawSize 0.699999988079071 · assigned here · art:improve&#10;“Make it green and mottled”"/>
          <p:cNvPicPr>
            <a:picLocks noChangeAspect="1"/>
          </p:cNvPicPr>
          <p:nvPr/>
        </p:nvPicPr>
        <p:blipFill>
          <a:blip r:embed="rId14"/>
          <a:stretch>
            <a:fillRect/>
          </a:stretch>
        </p:blipFill>
        <p:spPr>
          <a:xfrm>
            <a:off x="3270228" y="3217533"/>
            <a:ext cx="343558" cy="343558"/>
          </a:xfrm>
          <a:prstGeom prst="rect">
            <a:avLst/>
          </a:prstGeom>
        </p:spPr>
      </p:pic>
      <p:sp>
        <p:nvSpPr>
          <p:cNvPr id="47" name="Oval 46"/>
          <p:cNvSpPr/>
          <p:nvPr/>
        </p:nvSpPr>
        <p:spPr>
          <a:xfrm>
            <a:off x="3531491" y="319924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70228" y="3570235"/>
            <a:ext cx="640080" cy="146304"/>
          </a:xfrm>
          <a:prstGeom prst="rect">
            <a:avLst/>
          </a:prstGeom>
          <a:noFill/>
        </p:spPr>
        <p:txBody>
          <a:bodyPr wrap="none">
            <a:spAutoFit/>
          </a:bodyPr>
          <a:lstStyle/>
          <a:p>
            <a:pPr algn="ctr"/>
            <a:r>
              <a:rPr sz="600">
                <a:solidFill>
                  <a:srgbClr val="B9A488"/>
                </a:solidFill>
              </a:rPr>
              <a:t>crested dragon</a:t>
            </a:r>
          </a:p>
        </p:txBody>
      </p:sp>
      <p:pic>
        <p:nvPicPr>
          <p:cNvPr id="49" name="shiro" descr="shiro (Shiro)&#10;drawSize 0.5 · assigned here · art:improve"/>
          <p:cNvPicPr>
            <a:picLocks noChangeAspect="1"/>
          </p:cNvPicPr>
          <p:nvPr/>
        </p:nvPicPr>
        <p:blipFill>
          <a:blip r:embed="rId15"/>
          <a:stretch>
            <a:fillRect/>
          </a:stretch>
        </p:blipFill>
        <p:spPr>
          <a:xfrm>
            <a:off x="3741803" y="3307776"/>
            <a:ext cx="253314" cy="253314"/>
          </a:xfrm>
          <a:prstGeom prst="rect">
            <a:avLst/>
          </a:prstGeom>
        </p:spPr>
      </p:pic>
      <p:sp>
        <p:nvSpPr>
          <p:cNvPr id="50" name="Oval 49"/>
          <p:cNvSpPr/>
          <p:nvPr/>
        </p:nvSpPr>
        <p:spPr>
          <a:xfrm>
            <a:off x="3912822" y="328948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41803" y="3570235"/>
            <a:ext cx="640080" cy="146304"/>
          </a:xfrm>
          <a:prstGeom prst="rect">
            <a:avLst/>
          </a:prstGeom>
          <a:noFill/>
        </p:spPr>
        <p:txBody>
          <a:bodyPr wrap="none">
            <a:spAutoFit/>
          </a:bodyPr>
          <a:lstStyle/>
          <a:p>
            <a:pPr algn="ctr"/>
            <a:r>
              <a:rPr sz="600">
                <a:solidFill>
                  <a:srgbClr val="B9A488"/>
                </a:solidFill>
              </a:rPr>
              <a:t>shiro</a:t>
            </a:r>
          </a:p>
        </p:txBody>
      </p:sp>
      <p:pic>
        <p:nvPicPr>
          <p:cNvPr id="52" name="whisperbird" descr="whisperbird (Whisperbird)&#10;drawSize 0.4000000059604645 · assigned here · art:improve"/>
          <p:cNvPicPr>
            <a:picLocks noChangeAspect="1"/>
          </p:cNvPicPr>
          <p:nvPr/>
        </p:nvPicPr>
        <p:blipFill>
          <a:blip r:embed="rId16"/>
          <a:stretch>
            <a:fillRect/>
          </a:stretch>
        </p:blipFill>
        <p:spPr>
          <a:xfrm>
            <a:off x="4123134" y="3307776"/>
            <a:ext cx="253314" cy="253314"/>
          </a:xfrm>
          <a:prstGeom prst="rect">
            <a:avLst/>
          </a:prstGeom>
        </p:spPr>
      </p:pic>
      <p:sp>
        <p:nvSpPr>
          <p:cNvPr id="53" name="Oval 52"/>
          <p:cNvSpPr/>
          <p:nvPr/>
        </p:nvSpPr>
        <p:spPr>
          <a:xfrm>
            <a:off x="4294153" y="328948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23134" y="3570235"/>
            <a:ext cx="640080" cy="146304"/>
          </a:xfrm>
          <a:prstGeom prst="rect">
            <a:avLst/>
          </a:prstGeom>
          <a:noFill/>
        </p:spPr>
        <p:txBody>
          <a:bodyPr wrap="none">
            <a:spAutoFit/>
          </a:bodyPr>
          <a:lstStyle/>
          <a:p>
            <a:pPr algn="ctr"/>
            <a:r>
              <a:rPr sz="600">
                <a:solidFill>
                  <a:srgbClr val="B9A488"/>
                </a:solidFill>
              </a:rPr>
              <a:t>whisperbird</a:t>
            </a:r>
          </a:p>
        </p:txBody>
      </p:sp>
      <p:pic>
        <p:nvPicPr>
          <p:cNvPr id="55" name="black swarmlings" descr="black swarmlings (VFEI2_BlackSwarmling)&#10;drawSize 0.20000000298023224 · assigned here · art:improve"/>
          <p:cNvPicPr>
            <a:picLocks noChangeAspect="1"/>
          </p:cNvPicPr>
          <p:nvPr/>
        </p:nvPicPr>
        <p:blipFill>
          <a:blip r:embed="rId17"/>
          <a:stretch>
            <a:fillRect/>
          </a:stretch>
        </p:blipFill>
        <p:spPr>
          <a:xfrm>
            <a:off x="4504465" y="3307776"/>
            <a:ext cx="253314" cy="253314"/>
          </a:xfrm>
          <a:prstGeom prst="rect">
            <a:avLst/>
          </a:prstGeom>
        </p:spPr>
      </p:pic>
      <p:sp>
        <p:nvSpPr>
          <p:cNvPr id="56" name="Oval 55"/>
          <p:cNvSpPr/>
          <p:nvPr/>
        </p:nvSpPr>
        <p:spPr>
          <a:xfrm>
            <a:off x="4675483" y="328948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04465" y="3570235"/>
            <a:ext cx="640080" cy="146304"/>
          </a:xfrm>
          <a:prstGeom prst="rect">
            <a:avLst/>
          </a:prstGeom>
          <a:noFill/>
        </p:spPr>
        <p:txBody>
          <a:bodyPr wrap="none">
            <a:spAutoFit/>
          </a:bodyPr>
          <a:lstStyle/>
          <a:p>
            <a:pPr algn="ctr"/>
            <a:r>
              <a:rPr sz="600">
                <a:solidFill>
                  <a:srgbClr val="B9A488"/>
                </a:solidFill>
              </a:rPr>
              <a:t>black swarmlings</a:t>
            </a:r>
          </a:p>
        </p:txBody>
      </p:sp>
      <p:pic>
        <p:nvPicPr>
          <p:cNvPr id="58" name="swarmlings" descr="swarmlings (VFEI2_Swarmling)&#10;drawSize 0.20000000298023224 · assigned here · art:improve"/>
          <p:cNvPicPr>
            <a:picLocks noChangeAspect="1"/>
          </p:cNvPicPr>
          <p:nvPr/>
        </p:nvPicPr>
        <p:blipFill>
          <a:blip r:embed="rId18"/>
          <a:stretch>
            <a:fillRect/>
          </a:stretch>
        </p:blipFill>
        <p:spPr>
          <a:xfrm>
            <a:off x="4885795" y="3307776"/>
            <a:ext cx="253314" cy="253314"/>
          </a:xfrm>
          <a:prstGeom prst="rect">
            <a:avLst/>
          </a:prstGeom>
        </p:spPr>
      </p:pic>
      <p:sp>
        <p:nvSpPr>
          <p:cNvPr id="59" name="Oval 58"/>
          <p:cNvSpPr/>
          <p:nvPr/>
        </p:nvSpPr>
        <p:spPr>
          <a:xfrm>
            <a:off x="5056814" y="328948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85795" y="3570235"/>
            <a:ext cx="640080" cy="146304"/>
          </a:xfrm>
          <a:prstGeom prst="rect">
            <a:avLst/>
          </a:prstGeom>
          <a:noFill/>
        </p:spPr>
        <p:txBody>
          <a:bodyPr wrap="none">
            <a:spAutoFit/>
          </a:bodyPr>
          <a:lstStyle/>
          <a:p>
            <a:pPr algn="ctr"/>
            <a:r>
              <a:rPr sz="600">
                <a:solidFill>
                  <a:srgbClr val="B9A488"/>
                </a:solidFill>
              </a:rPr>
              <a:t>swarmlings</a:t>
            </a:r>
          </a:p>
        </p:txBody>
      </p:sp>
      <p:sp>
        <p:nvSpPr>
          <p:cNvPr id="61" name="TextBox 60"/>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62" name="BMT_RainbowTongue" descr="BMT_RainbowTongue (BMT_RainbowTongue)&#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BMT_RainbowTongue</a:t>
            </a:r>
          </a:p>
        </p:txBody>
      </p:sp>
      <p:sp>
        <p:nvSpPr>
          <p:cNvPr id="63" name="TextBox 62"/>
          <p:cNvSpPr txBox="1"/>
          <p:nvPr/>
        </p:nvSpPr>
        <p:spPr>
          <a:xfrm>
            <a:off x="274320" y="4379975"/>
            <a:ext cx="640080" cy="146304"/>
          </a:xfrm>
          <a:prstGeom prst="rect">
            <a:avLst/>
          </a:prstGeom>
          <a:noFill/>
        </p:spPr>
        <p:txBody>
          <a:bodyPr wrap="none">
            <a:spAutoFit/>
          </a:bodyPr>
          <a:lstStyle/>
          <a:p>
            <a:pPr algn="ctr"/>
            <a:r>
              <a:rPr sz="600">
                <a:solidFill>
                  <a:srgbClr val="B9A488"/>
                </a:solidFill>
              </a:rPr>
              <a:t>BMT_RainbowTongu</a:t>
            </a:r>
          </a:p>
        </p:txBody>
      </p:sp>
      <p:pic>
        <p:nvPicPr>
          <p:cNvPr id="64" name="BMT_Plant_SewerReed" descr="BMT_Plant_SewerReed (BMT_Plant_SewerReed)&#10;"/>
          <p:cNvPicPr>
            <a:picLocks noChangeAspect="1"/>
          </p:cNvPicPr>
          <p:nvPr/>
        </p:nvPicPr>
        <p:blipFill>
          <a:blip r:embed="rId19"/>
          <a:stretch>
            <a:fillRect/>
          </a:stretch>
        </p:blipFill>
        <p:spPr>
          <a:xfrm>
            <a:off x="950975" y="3822191"/>
            <a:ext cx="548639" cy="548639"/>
          </a:xfrm>
          <a:prstGeom prst="rect">
            <a:avLst/>
          </a:prstGeom>
        </p:spPr>
      </p:pic>
      <p:sp>
        <p:nvSpPr>
          <p:cNvPr id="65" name="TextBox 64"/>
          <p:cNvSpPr txBox="1"/>
          <p:nvPr/>
        </p:nvSpPr>
        <p:spPr>
          <a:xfrm>
            <a:off x="950975" y="4379975"/>
            <a:ext cx="640080" cy="146304"/>
          </a:xfrm>
          <a:prstGeom prst="rect">
            <a:avLst/>
          </a:prstGeom>
          <a:noFill/>
        </p:spPr>
        <p:txBody>
          <a:bodyPr wrap="none">
            <a:spAutoFit/>
          </a:bodyPr>
          <a:lstStyle/>
          <a:p>
            <a:pPr algn="ctr"/>
            <a:r>
              <a:rPr sz="600">
                <a:solidFill>
                  <a:srgbClr val="B9A488"/>
                </a:solidFill>
              </a:rPr>
              <a:t>BMT_Plant_SewerR</a:t>
            </a:r>
          </a:p>
        </p:txBody>
      </p:sp>
      <p:sp>
        <p:nvSpPr>
          <p:cNvPr id="66" name="BMT_Plant_Snaketails" descr="BMT_Plant_Snaketails (BMT_Plant_Snaketails)&#10;&#10;[no cached sprite]"/>
          <p:cNvSpPr/>
          <p:nvPr/>
        </p:nvSpPr>
        <p:spPr>
          <a:xfrm>
            <a:off x="1627631"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BMT_Plant_Snaketails</a:t>
            </a:r>
          </a:p>
        </p:txBody>
      </p:sp>
      <p:sp>
        <p:nvSpPr>
          <p:cNvPr id="67" name="TextBox 66"/>
          <p:cNvSpPr txBox="1"/>
          <p:nvPr/>
        </p:nvSpPr>
        <p:spPr>
          <a:xfrm>
            <a:off x="1627631" y="4379975"/>
            <a:ext cx="640080" cy="146304"/>
          </a:xfrm>
          <a:prstGeom prst="rect">
            <a:avLst/>
          </a:prstGeom>
          <a:noFill/>
        </p:spPr>
        <p:txBody>
          <a:bodyPr wrap="none">
            <a:spAutoFit/>
          </a:bodyPr>
          <a:lstStyle/>
          <a:p>
            <a:pPr algn="ctr"/>
            <a:r>
              <a:rPr sz="600">
                <a:solidFill>
                  <a:srgbClr val="B9A488"/>
                </a:solidFill>
              </a:rPr>
              <a:t>BMT_Plant_Snaket</a:t>
            </a:r>
          </a:p>
        </p:txBody>
      </p:sp>
      <p:pic>
        <p:nvPicPr>
          <p:cNvPr id="68" name="AB_ParasiticMangrove" descr="AB_ParasiticMangrove (AB_ParasiticMangrove)&#10;"/>
          <p:cNvPicPr>
            <a:picLocks noChangeAspect="1"/>
          </p:cNvPicPr>
          <p:nvPr/>
        </p:nvPicPr>
        <p:blipFill>
          <a:blip r:embed="rId20"/>
          <a:stretch>
            <a:fillRect/>
          </a:stretch>
        </p:blipFill>
        <p:spPr>
          <a:xfrm>
            <a:off x="2304287" y="3822191"/>
            <a:ext cx="548639" cy="548639"/>
          </a:xfrm>
          <a:prstGeom prst="rect">
            <a:avLst/>
          </a:prstGeom>
        </p:spPr>
      </p:pic>
      <p:sp>
        <p:nvSpPr>
          <p:cNvPr id="69" name="TextBox 68"/>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AB_ParasiticMang</a:t>
            </a:r>
          </a:p>
        </p:txBody>
      </p:sp>
      <p:pic>
        <p:nvPicPr>
          <p:cNvPr id="70" name="AB_MangrovePalm" descr="AB_MangrovePalm (AB_MangrovePalm)&#10;"/>
          <p:cNvPicPr>
            <a:picLocks noChangeAspect="1"/>
          </p:cNvPicPr>
          <p:nvPr/>
        </p:nvPicPr>
        <p:blipFill>
          <a:blip r:embed="rId21"/>
          <a:stretch>
            <a:fillRect/>
          </a:stretch>
        </p:blipFill>
        <p:spPr>
          <a:xfrm>
            <a:off x="2980943" y="3822191"/>
            <a:ext cx="548639" cy="548639"/>
          </a:xfrm>
          <a:prstGeom prst="rect">
            <a:avLst/>
          </a:prstGeom>
        </p:spPr>
      </p:pic>
      <p:sp>
        <p:nvSpPr>
          <p:cNvPr id="71" name="TextBox 70"/>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AB_MangrovePalm</a:t>
            </a:r>
          </a:p>
        </p:txBody>
      </p:sp>
      <p:sp>
        <p:nvSpPr>
          <p:cNvPr id="72" name="BMT_Plant_TreeTanglerootMangrove" descr="BMT_Plant_TreeTanglerootMangrove (BMT_Plant_TreeTanglerootMangrove)&#10;&#10;[no cached sprite]"/>
          <p:cNvSpPr/>
          <p:nvPr/>
        </p:nvSpPr>
        <p:spPr>
          <a:xfrm>
            <a:off x="3657599"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BMT_Plant_TreeTanglerootMangrove</a:t>
            </a:r>
          </a:p>
        </p:txBody>
      </p:sp>
      <p:sp>
        <p:nvSpPr>
          <p:cNvPr id="73" name="TextBox 72"/>
          <p:cNvSpPr txBox="1"/>
          <p:nvPr/>
        </p:nvSpPr>
        <p:spPr>
          <a:xfrm>
            <a:off x="3657599" y="4379975"/>
            <a:ext cx="640080" cy="146304"/>
          </a:xfrm>
          <a:prstGeom prst="rect">
            <a:avLst/>
          </a:prstGeom>
          <a:noFill/>
        </p:spPr>
        <p:txBody>
          <a:bodyPr wrap="none">
            <a:spAutoFit/>
          </a:bodyPr>
          <a:lstStyle/>
          <a:p>
            <a:pPr algn="ctr"/>
            <a:r>
              <a:rPr sz="600">
                <a:solidFill>
                  <a:srgbClr val="B9A488"/>
                </a:solidFill>
              </a:rPr>
              <a:t>BMT_Plant_TreeTa</a:t>
            </a:r>
          </a:p>
        </p:txBody>
      </p:sp>
      <p:pic>
        <p:nvPicPr>
          <p:cNvPr id="74" name="AB_MangroveTree" descr="AB_MangroveTree (AB_MangroveTree)&#10;"/>
          <p:cNvPicPr>
            <a:picLocks noChangeAspect="1"/>
          </p:cNvPicPr>
          <p:nvPr/>
        </p:nvPicPr>
        <p:blipFill>
          <a:blip r:embed="rId22"/>
          <a:stretch>
            <a:fillRect/>
          </a:stretch>
        </p:blipFill>
        <p:spPr>
          <a:xfrm>
            <a:off x="4334255" y="3822191"/>
            <a:ext cx="548639" cy="548639"/>
          </a:xfrm>
          <a:prstGeom prst="rect">
            <a:avLst/>
          </a:prstGeom>
        </p:spPr>
      </p:pic>
      <p:sp>
        <p:nvSpPr>
          <p:cNvPr id="75" name="TextBox 74"/>
          <p:cNvSpPr txBox="1"/>
          <p:nvPr/>
        </p:nvSpPr>
        <p:spPr>
          <a:xfrm>
            <a:off x="4334255" y="4379975"/>
            <a:ext cx="640080" cy="146304"/>
          </a:xfrm>
          <a:prstGeom prst="rect">
            <a:avLst/>
          </a:prstGeom>
          <a:noFill/>
        </p:spPr>
        <p:txBody>
          <a:bodyPr wrap="none">
            <a:spAutoFit/>
          </a:bodyPr>
          <a:lstStyle/>
          <a:p>
            <a:pPr algn="ctr"/>
            <a:r>
              <a:rPr sz="600">
                <a:solidFill>
                  <a:srgbClr val="B9A488"/>
                </a:solidFill>
              </a:rPr>
              <a:t>AB_MangroveTree</a:t>
            </a:r>
          </a:p>
        </p:txBody>
      </p:sp>
      <p:sp>
        <p:nvSpPr>
          <p:cNvPr id="76" name="TextBox 75"/>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("Ok! Write it up!"). Defines `AB_MiasmicMangrove` (Alpha Biomes). **The biome's name is THE MIASMA** (owner: "a great name for it"); the weather effect keeps the same word — the place is named for its own breath. Thematic handle: **the lifeboat at the drain** — and its soul, in the owner's words: **"Out of darkness, possibility. Out of muck and stink, rebirth... maybe. It's being worked out."**_ 🔑 **Read against `the_slime.md` and `the_rot.md`** — the elder siblings who already made it. The Slime has its registry, the Rot has its gut: each achieved its miracle. The Miasma is the same pressure **before the breakthrough** — no mind, no mechanism, no miracle yet. Just everything ending up in one place and being worked, ferociously, toward something not ready. 🔴 **The gene-reactor mechanic is RESERVED to the Slime** (standing ruling) — nothing here duplicates it; the Working (§3) is undirected ecology, never a machine.</a:t>
            </a:r>
          </a:p>
        </p:txBody>
      </p:sp>
      <p:sp>
        <p:nvSpPr>
          <p:cNvPr id="77" name="TextBox 76"/>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(7): Dianoga, RSW_SandoAquaMonster, BMT_PodWorm, Blarth, Blixus, JRWBeelzebufo, MarshHaunt. Flier→roster arriving: Bogwing.
Departures (12 moves): entire aquatic cast to the seas (RSW_Faa/Laa/Mee/OpeeSeaKiller/SiltLamprey, Yobshrimp) + AA_BloodShrimp, AA_Helixien, AA_Plasmorph, AA_Slurrypede, BMT_Gembug, Kreetle.
INCONSISTENCIES:
1. JRWBeelzebufo reads as "giant frog" — collides with ban 7 (no vanilla-Earth fauna) and the recognizability rule; rename/reskin owed.
2. SandoAquaMonster is an open-ocean titan routed into brine channels; sheet's rings-of-refuge fiction needs a line justifying it.
3. Blarth ("Hutt pets") carries faction-territory language — overlaps the new ninth roster; owner said Miasma, but dual-list it deliberately.
OPPORTUNITIES:
1. Losing six fish leaves the surge-channel scavenger niche open — Dianoga's "tentacle pulling like lasso" note is the star; build it.
2. MarshHaunt + Dianoga + SandoAquaMonster gives a three-tier water-menace ladder; say so in §4's rings.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the_contagion</a:t>
            </a:r>
            <a:r>
              <a:rPr sz="1100">
                <a:solidFill>
                  <a:srgbClr val="B9A488"/>
                </a:solidFill>
              </a:rPr>
              <a:t>   14 animals · 10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helixien" descr="helixien (AA_Helixien)&#10;drawSize 4.0 · assigned here · art:keep&#10;“Not here”"/>
          <p:cNvPicPr>
            <a:picLocks noChangeAspect="1"/>
          </p:cNvPicPr>
          <p:nvPr/>
        </p:nvPicPr>
        <p:blipFill>
          <a:blip r:embed="rId2"/>
          <a:stretch>
            <a:fillRect/>
          </a:stretch>
        </p:blipFill>
        <p:spPr>
          <a:xfrm>
            <a:off x="274320" y="932688"/>
            <a:ext cx="2194560" cy="2194560"/>
          </a:xfrm>
          <a:prstGeom prst="rect">
            <a:avLst/>
          </a:prstGeom>
        </p:spPr>
      </p:pic>
      <p:sp>
        <p:nvSpPr>
          <p:cNvPr id="5" name="Oval 4"/>
          <p:cNvSpPr/>
          <p:nvPr/>
        </p:nvSpPr>
        <p:spPr>
          <a:xfrm>
            <a:off x="238658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136391"/>
            <a:ext cx="2194560" cy="146304"/>
          </a:xfrm>
          <a:prstGeom prst="rect">
            <a:avLst/>
          </a:prstGeom>
          <a:noFill/>
        </p:spPr>
        <p:txBody>
          <a:bodyPr wrap="none">
            <a:spAutoFit/>
          </a:bodyPr>
          <a:lstStyle/>
          <a:p>
            <a:pPr algn="ctr"/>
            <a:r>
              <a:rPr sz="600">
                <a:solidFill>
                  <a:srgbClr val="B9A488"/>
                </a:solidFill>
              </a:rPr>
              <a:t>helixien</a:t>
            </a:r>
          </a:p>
        </p:txBody>
      </p:sp>
      <p:pic>
        <p:nvPicPr>
          <p:cNvPr id="7" name="red spore" descr="red spore (AA_RedSpore)&#10;drawSize 2.0 · assigned here · art:keep"/>
          <p:cNvPicPr>
            <a:picLocks noChangeAspect="1"/>
          </p:cNvPicPr>
          <p:nvPr/>
        </p:nvPicPr>
        <p:blipFill>
          <a:blip r:embed="rId3"/>
          <a:stretch>
            <a:fillRect/>
          </a:stretch>
        </p:blipFill>
        <p:spPr>
          <a:xfrm>
            <a:off x="2596896" y="1993391"/>
            <a:ext cx="1133856" cy="1133856"/>
          </a:xfrm>
          <a:prstGeom prst="rect">
            <a:avLst/>
          </a:prstGeom>
        </p:spPr>
      </p:pic>
      <p:sp>
        <p:nvSpPr>
          <p:cNvPr id="8" name="Oval 7"/>
          <p:cNvSpPr/>
          <p:nvPr/>
        </p:nvSpPr>
        <p:spPr>
          <a:xfrm>
            <a:off x="3648456" y="197510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96896" y="3136391"/>
            <a:ext cx="1133856" cy="146304"/>
          </a:xfrm>
          <a:prstGeom prst="rect">
            <a:avLst/>
          </a:prstGeom>
          <a:noFill/>
        </p:spPr>
        <p:txBody>
          <a:bodyPr wrap="none">
            <a:spAutoFit/>
          </a:bodyPr>
          <a:lstStyle/>
          <a:p>
            <a:pPr algn="ctr"/>
            <a:r>
              <a:rPr sz="600">
                <a:solidFill>
                  <a:srgbClr val="B9A488"/>
                </a:solidFill>
              </a:rPr>
              <a:t>red spore</a:t>
            </a:r>
          </a:p>
        </p:txBody>
      </p:sp>
      <p:pic>
        <p:nvPicPr>
          <p:cNvPr id="10" name="rough-plated monitor" descr="rough-plated monitor (AA_RoughPlatedMonitor)&#10;drawSize 2.0 · assigned here · art:keep"/>
          <p:cNvPicPr>
            <a:picLocks noChangeAspect="1"/>
          </p:cNvPicPr>
          <p:nvPr/>
        </p:nvPicPr>
        <p:blipFill>
          <a:blip r:embed="rId4"/>
          <a:stretch>
            <a:fillRect/>
          </a:stretch>
        </p:blipFill>
        <p:spPr>
          <a:xfrm>
            <a:off x="3858768" y="1993391"/>
            <a:ext cx="1133856" cy="1133856"/>
          </a:xfrm>
          <a:prstGeom prst="rect">
            <a:avLst/>
          </a:prstGeom>
        </p:spPr>
      </p:pic>
      <p:sp>
        <p:nvSpPr>
          <p:cNvPr id="11" name="Oval 10"/>
          <p:cNvSpPr/>
          <p:nvPr/>
        </p:nvSpPr>
        <p:spPr>
          <a:xfrm>
            <a:off x="4910328" y="197510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58768" y="3136391"/>
            <a:ext cx="1133856" cy="146304"/>
          </a:xfrm>
          <a:prstGeom prst="rect">
            <a:avLst/>
          </a:prstGeom>
          <a:noFill/>
        </p:spPr>
        <p:txBody>
          <a:bodyPr wrap="none">
            <a:spAutoFit/>
          </a:bodyPr>
          <a:lstStyle/>
          <a:p>
            <a:pPr algn="ctr"/>
            <a:r>
              <a:rPr sz="600">
                <a:solidFill>
                  <a:srgbClr val="B9A488"/>
                </a:solidFill>
              </a:rPr>
              <a:t>rough-plated mon</a:t>
            </a:r>
          </a:p>
        </p:txBody>
      </p:sp>
      <p:pic>
        <p:nvPicPr>
          <p:cNvPr id="13" name="blood shrimp" descr="blood shrimp (AA_BloodShrimp)&#10;drawSize 1.0 · assigned here · art:improve&#10;“ocular only”"/>
          <p:cNvPicPr>
            <a:picLocks noChangeAspect="1"/>
          </p:cNvPicPr>
          <p:nvPr/>
        </p:nvPicPr>
        <p:blipFill>
          <a:blip r:embed="rId5"/>
          <a:stretch>
            <a:fillRect/>
          </a:stretch>
        </p:blipFill>
        <p:spPr>
          <a:xfrm>
            <a:off x="5120640" y="2560320"/>
            <a:ext cx="566928" cy="566928"/>
          </a:xfrm>
          <a:prstGeom prst="rect">
            <a:avLst/>
          </a:prstGeom>
        </p:spPr>
      </p:pic>
      <p:sp>
        <p:nvSpPr>
          <p:cNvPr id="14" name="Oval 13"/>
          <p:cNvSpPr/>
          <p:nvPr/>
        </p:nvSpPr>
        <p:spPr>
          <a:xfrm>
            <a:off x="5605272" y="254203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0" y="3136391"/>
            <a:ext cx="640080" cy="146304"/>
          </a:xfrm>
          <a:prstGeom prst="rect">
            <a:avLst/>
          </a:prstGeom>
          <a:noFill/>
        </p:spPr>
        <p:txBody>
          <a:bodyPr wrap="none">
            <a:spAutoFit/>
          </a:bodyPr>
          <a:lstStyle/>
          <a:p>
            <a:pPr algn="ctr"/>
            <a:r>
              <a:rPr sz="600">
                <a:solidFill>
                  <a:srgbClr val="B9A488"/>
                </a:solidFill>
              </a:rPr>
              <a:t>blood shrimp</a:t>
            </a:r>
          </a:p>
        </p:txBody>
      </p:sp>
      <p:pic>
        <p:nvPicPr>
          <p:cNvPr id="16" name="razorjack" descr="razorjack (AA_Razorjack)&#10;drawSize 1.0 · assigned here · art:improve&#10;“Pyrelands”"/>
          <p:cNvPicPr>
            <a:picLocks noChangeAspect="1"/>
          </p:cNvPicPr>
          <p:nvPr/>
        </p:nvPicPr>
        <p:blipFill>
          <a:blip r:embed="rId6"/>
          <a:stretch>
            <a:fillRect/>
          </a:stretch>
        </p:blipFill>
        <p:spPr>
          <a:xfrm>
            <a:off x="5815583" y="2560320"/>
            <a:ext cx="566928" cy="566928"/>
          </a:xfrm>
          <a:prstGeom prst="rect">
            <a:avLst/>
          </a:prstGeom>
        </p:spPr>
      </p:pic>
      <p:sp>
        <p:nvSpPr>
          <p:cNvPr id="17" name="Oval 16"/>
          <p:cNvSpPr/>
          <p:nvPr/>
        </p:nvSpPr>
        <p:spPr>
          <a:xfrm>
            <a:off x="6300216" y="254203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15583" y="3136391"/>
            <a:ext cx="640080" cy="146304"/>
          </a:xfrm>
          <a:prstGeom prst="rect">
            <a:avLst/>
          </a:prstGeom>
          <a:noFill/>
        </p:spPr>
        <p:txBody>
          <a:bodyPr wrap="none">
            <a:spAutoFit/>
          </a:bodyPr>
          <a:lstStyle/>
          <a:p>
            <a:pPr algn="ctr"/>
            <a:r>
              <a:rPr sz="600">
                <a:solidFill>
                  <a:srgbClr val="B9A488"/>
                </a:solidFill>
              </a:rPr>
              <a:t>razorjack</a:t>
            </a:r>
          </a:p>
        </p:txBody>
      </p:sp>
      <p:pic>
        <p:nvPicPr>
          <p:cNvPr id="19" name="blood shrimp" descr="blood shrimp (AA_BloodShrimp)&#10;drawSize 1.0 · moved in from the_greentide · art:improve&#10;“ocular only”"/>
          <p:cNvPicPr>
            <a:picLocks noChangeAspect="1"/>
          </p:cNvPicPr>
          <p:nvPr/>
        </p:nvPicPr>
        <p:blipFill>
          <a:blip r:embed="rId5"/>
          <a:stretch>
            <a:fillRect/>
          </a:stretch>
        </p:blipFill>
        <p:spPr>
          <a:xfrm>
            <a:off x="6510527" y="2560320"/>
            <a:ext cx="566928" cy="566928"/>
          </a:xfrm>
          <a:prstGeom prst="rect">
            <a:avLst/>
          </a:prstGeom>
        </p:spPr>
      </p:pic>
      <p:sp>
        <p:nvSpPr>
          <p:cNvPr id="20" name="Oval 19"/>
          <p:cNvSpPr/>
          <p:nvPr/>
        </p:nvSpPr>
        <p:spPr>
          <a:xfrm>
            <a:off x="6995159" y="2542032"/>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7" y="3136391"/>
            <a:ext cx="640080" cy="146304"/>
          </a:xfrm>
          <a:prstGeom prst="rect">
            <a:avLst/>
          </a:prstGeom>
          <a:noFill/>
        </p:spPr>
        <p:txBody>
          <a:bodyPr wrap="none">
            <a:spAutoFit/>
          </a:bodyPr>
          <a:lstStyle/>
          <a:p>
            <a:pPr algn="ctr"/>
            <a:r>
              <a:rPr sz="600">
                <a:solidFill>
                  <a:srgbClr val="B9A488"/>
                </a:solidFill>
              </a:rPr>
              <a:t>blood shrimp</a:t>
            </a:r>
          </a:p>
        </p:txBody>
      </p:sp>
      <p:pic>
        <p:nvPicPr>
          <p:cNvPr id="22" name="blood shrimp" descr="blood shrimp (AA_BloodShrimp)&#10;drawSize 1.0 · moved in from the_miasma · art:improve&#10;“ocular only”"/>
          <p:cNvPicPr>
            <a:picLocks noChangeAspect="1"/>
          </p:cNvPicPr>
          <p:nvPr/>
        </p:nvPicPr>
        <p:blipFill>
          <a:blip r:embed="rId5"/>
          <a:stretch>
            <a:fillRect/>
          </a:stretch>
        </p:blipFill>
        <p:spPr>
          <a:xfrm>
            <a:off x="7205471" y="2560320"/>
            <a:ext cx="566928" cy="566928"/>
          </a:xfrm>
          <a:prstGeom prst="rect">
            <a:avLst/>
          </a:prstGeom>
        </p:spPr>
      </p:pic>
      <p:sp>
        <p:nvSpPr>
          <p:cNvPr id="23" name="Oval 22"/>
          <p:cNvSpPr/>
          <p:nvPr/>
        </p:nvSpPr>
        <p:spPr>
          <a:xfrm>
            <a:off x="7690103" y="2542032"/>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05471" y="3136391"/>
            <a:ext cx="640080" cy="146304"/>
          </a:xfrm>
          <a:prstGeom prst="rect">
            <a:avLst/>
          </a:prstGeom>
          <a:noFill/>
        </p:spPr>
        <p:txBody>
          <a:bodyPr wrap="none">
            <a:spAutoFit/>
          </a:bodyPr>
          <a:lstStyle/>
          <a:p>
            <a:pPr algn="ctr"/>
            <a:r>
              <a:rPr sz="600">
                <a:solidFill>
                  <a:srgbClr val="B9A488"/>
                </a:solidFill>
              </a:rPr>
              <a:t>blood shrimp</a:t>
            </a:r>
          </a:p>
        </p:txBody>
      </p:sp>
      <p:pic>
        <p:nvPicPr>
          <p:cNvPr id="25" name="drainer" descr="drainer (AA_Drainer)&#10;drawSize 0.5 · assigned here · art:keep"/>
          <p:cNvPicPr>
            <a:picLocks noChangeAspect="1"/>
          </p:cNvPicPr>
          <p:nvPr/>
        </p:nvPicPr>
        <p:blipFill>
          <a:blip r:embed="rId7"/>
          <a:stretch>
            <a:fillRect/>
          </a:stretch>
        </p:blipFill>
        <p:spPr>
          <a:xfrm>
            <a:off x="7900415" y="2834640"/>
            <a:ext cx="292608" cy="292608"/>
          </a:xfrm>
          <a:prstGeom prst="rect">
            <a:avLst/>
          </a:prstGeom>
        </p:spPr>
      </p:pic>
      <p:sp>
        <p:nvSpPr>
          <p:cNvPr id="26" name="Oval 25"/>
          <p:cNvSpPr/>
          <p:nvPr/>
        </p:nvSpPr>
        <p:spPr>
          <a:xfrm>
            <a:off x="8110727"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0415" y="3136391"/>
            <a:ext cx="640080" cy="146304"/>
          </a:xfrm>
          <a:prstGeom prst="rect">
            <a:avLst/>
          </a:prstGeom>
          <a:noFill/>
        </p:spPr>
        <p:txBody>
          <a:bodyPr wrap="none">
            <a:spAutoFit/>
          </a:bodyPr>
          <a:lstStyle/>
          <a:p>
            <a:pPr algn="ctr"/>
            <a:r>
              <a:rPr sz="600">
                <a:solidFill>
                  <a:srgbClr val="B9A488"/>
                </a:solidFill>
              </a:rPr>
              <a:t>drainer</a:t>
            </a:r>
          </a:p>
        </p:txBody>
      </p:sp>
      <p:pic>
        <p:nvPicPr>
          <p:cNvPr id="28" name="ocular jelly" descr="ocular jelly (AA_OcularJelly)&#10;drawSize 0.5 · assigned here · art:keep"/>
          <p:cNvPicPr>
            <a:picLocks noChangeAspect="1"/>
          </p:cNvPicPr>
          <p:nvPr/>
        </p:nvPicPr>
        <p:blipFill>
          <a:blip r:embed="rId8"/>
          <a:stretch>
            <a:fillRect/>
          </a:stretch>
        </p:blipFill>
        <p:spPr>
          <a:xfrm>
            <a:off x="8321040" y="2834640"/>
            <a:ext cx="292608" cy="292608"/>
          </a:xfrm>
          <a:prstGeom prst="rect">
            <a:avLst/>
          </a:prstGeom>
        </p:spPr>
      </p:pic>
      <p:sp>
        <p:nvSpPr>
          <p:cNvPr id="29" name="Oval 28"/>
          <p:cNvSpPr/>
          <p:nvPr/>
        </p:nvSpPr>
        <p:spPr>
          <a:xfrm>
            <a:off x="8531352"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136391"/>
            <a:ext cx="640080" cy="146304"/>
          </a:xfrm>
          <a:prstGeom prst="rect">
            <a:avLst/>
          </a:prstGeom>
          <a:noFill/>
        </p:spPr>
        <p:txBody>
          <a:bodyPr wrap="none">
            <a:spAutoFit/>
          </a:bodyPr>
          <a:lstStyle/>
          <a:p>
            <a:pPr algn="ctr"/>
            <a:r>
              <a:rPr sz="600">
                <a:solidFill>
                  <a:srgbClr val="B9A488"/>
                </a:solidFill>
              </a:rPr>
              <a:t>ocular jelly</a:t>
            </a:r>
          </a:p>
        </p:txBody>
      </p:sp>
      <p:pic>
        <p:nvPicPr>
          <p:cNvPr id="31" name="red goo" descr="red goo (AA_RedGoo)&#10;drawSize 0.5 · assigned here · art:keep"/>
          <p:cNvPicPr>
            <a:picLocks noChangeAspect="1"/>
          </p:cNvPicPr>
          <p:nvPr/>
        </p:nvPicPr>
        <p:blipFill>
          <a:blip r:embed="rId9"/>
          <a:stretch>
            <a:fillRect/>
          </a:stretch>
        </p:blipFill>
        <p:spPr>
          <a:xfrm>
            <a:off x="8741664" y="2834640"/>
            <a:ext cx="292608" cy="292608"/>
          </a:xfrm>
          <a:prstGeom prst="rect">
            <a:avLst/>
          </a:prstGeom>
        </p:spPr>
      </p:pic>
      <p:sp>
        <p:nvSpPr>
          <p:cNvPr id="32" name="Oval 31"/>
          <p:cNvSpPr/>
          <p:nvPr/>
        </p:nvSpPr>
        <p:spPr>
          <a:xfrm>
            <a:off x="8951976"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41664" y="3136391"/>
            <a:ext cx="640080" cy="146304"/>
          </a:xfrm>
          <a:prstGeom prst="rect">
            <a:avLst/>
          </a:prstGeom>
          <a:noFill/>
        </p:spPr>
        <p:txBody>
          <a:bodyPr wrap="none">
            <a:spAutoFit/>
          </a:bodyPr>
          <a:lstStyle/>
          <a:p>
            <a:pPr algn="ctr"/>
            <a:r>
              <a:rPr sz="600">
                <a:solidFill>
                  <a:srgbClr val="B9A488"/>
                </a:solidFill>
              </a:rPr>
              <a:t>red goo</a:t>
            </a:r>
          </a:p>
        </p:txBody>
      </p:sp>
      <p:pic>
        <p:nvPicPr>
          <p:cNvPr id="34" name="ikee" descr="ikee (AA_Eyeling)&#10;drawSize 0.4000000059604645 · moved in from wasteland · art:keep&#10;“ocular”"/>
          <p:cNvPicPr>
            <a:picLocks noChangeAspect="1"/>
          </p:cNvPicPr>
          <p:nvPr/>
        </p:nvPicPr>
        <p:blipFill>
          <a:blip r:embed="rId10"/>
          <a:stretch>
            <a:fillRect/>
          </a:stretch>
        </p:blipFill>
        <p:spPr>
          <a:xfrm>
            <a:off x="9162288" y="2834640"/>
            <a:ext cx="292608" cy="292608"/>
          </a:xfrm>
          <a:prstGeom prst="rect">
            <a:avLst/>
          </a:prstGeom>
        </p:spPr>
      </p:pic>
      <p:sp>
        <p:nvSpPr>
          <p:cNvPr id="35" name="Oval 34"/>
          <p:cNvSpPr/>
          <p:nvPr/>
        </p:nvSpPr>
        <p:spPr>
          <a:xfrm>
            <a:off x="9372600" y="2816352"/>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62288" y="3136391"/>
            <a:ext cx="640080" cy="146304"/>
          </a:xfrm>
          <a:prstGeom prst="rect">
            <a:avLst/>
          </a:prstGeom>
          <a:noFill/>
        </p:spPr>
        <p:txBody>
          <a:bodyPr wrap="none">
            <a:spAutoFit/>
          </a:bodyPr>
          <a:lstStyle/>
          <a:p>
            <a:pPr algn="ctr"/>
            <a:r>
              <a:rPr sz="600">
                <a:solidFill>
                  <a:srgbClr val="B9A488"/>
                </a:solidFill>
              </a:rPr>
              <a:t>ikee</a:t>
            </a:r>
          </a:p>
        </p:txBody>
      </p:sp>
      <p:pic>
        <p:nvPicPr>
          <p:cNvPr id="37" name="swarmling" descr="swarmling (AA_Swarmling)&#10;drawSize 0.30000001192092896 · assigned here · art:keep"/>
          <p:cNvPicPr>
            <a:picLocks noChangeAspect="1"/>
          </p:cNvPicPr>
          <p:nvPr/>
        </p:nvPicPr>
        <p:blipFill>
          <a:blip r:embed="rId11"/>
          <a:stretch>
            <a:fillRect/>
          </a:stretch>
        </p:blipFill>
        <p:spPr>
          <a:xfrm>
            <a:off x="9582912" y="2834640"/>
            <a:ext cx="292608" cy="292608"/>
          </a:xfrm>
          <a:prstGeom prst="rect">
            <a:avLst/>
          </a:prstGeom>
        </p:spPr>
      </p:pic>
      <p:sp>
        <p:nvSpPr>
          <p:cNvPr id="38" name="Oval 37"/>
          <p:cNvSpPr/>
          <p:nvPr/>
        </p:nvSpPr>
        <p:spPr>
          <a:xfrm>
            <a:off x="9793224"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82912" y="3136391"/>
            <a:ext cx="640080" cy="146304"/>
          </a:xfrm>
          <a:prstGeom prst="rect">
            <a:avLst/>
          </a:prstGeom>
          <a:noFill/>
        </p:spPr>
        <p:txBody>
          <a:bodyPr wrap="none">
            <a:spAutoFit/>
          </a:bodyPr>
          <a:lstStyle/>
          <a:p>
            <a:pPr algn="ctr"/>
            <a:r>
              <a:rPr sz="600">
                <a:solidFill>
                  <a:srgbClr val="B9A488"/>
                </a:solidFill>
              </a:rPr>
              <a:t>swarmling</a:t>
            </a:r>
          </a:p>
        </p:txBody>
      </p:sp>
      <p:pic>
        <p:nvPicPr>
          <p:cNvPr id="40" name="infected aerofleet" descr="infected aerofleet (AA_InfectedAerofleet)&#10;drawSize 0.20000000298023224 · assigned here · art:keep"/>
          <p:cNvPicPr>
            <a:picLocks noChangeAspect="1"/>
          </p:cNvPicPr>
          <p:nvPr/>
        </p:nvPicPr>
        <p:blipFill>
          <a:blip r:embed="rId12"/>
          <a:stretch>
            <a:fillRect/>
          </a:stretch>
        </p:blipFill>
        <p:spPr>
          <a:xfrm>
            <a:off x="10003536" y="2834640"/>
            <a:ext cx="292608" cy="292608"/>
          </a:xfrm>
          <a:prstGeom prst="rect">
            <a:avLst/>
          </a:prstGeom>
        </p:spPr>
      </p:pic>
      <p:sp>
        <p:nvSpPr>
          <p:cNvPr id="41" name="Oval 40"/>
          <p:cNvSpPr/>
          <p:nvPr/>
        </p:nvSpPr>
        <p:spPr>
          <a:xfrm>
            <a:off x="10213848"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03536" y="3136391"/>
            <a:ext cx="640080" cy="146304"/>
          </a:xfrm>
          <a:prstGeom prst="rect">
            <a:avLst/>
          </a:prstGeom>
          <a:noFill/>
        </p:spPr>
        <p:txBody>
          <a:bodyPr wrap="none">
            <a:spAutoFit/>
          </a:bodyPr>
          <a:lstStyle/>
          <a:p>
            <a:pPr algn="ctr"/>
            <a:r>
              <a:rPr sz="600">
                <a:solidFill>
                  <a:srgbClr val="B9A488"/>
                </a:solidFill>
              </a:rPr>
              <a:t>infected aerofle</a:t>
            </a:r>
          </a:p>
        </p:txBody>
      </p:sp>
      <p:pic>
        <p:nvPicPr>
          <p:cNvPr id="43" name="drainer larva" descr="drainer larva (AA_DrainerLarva)&#10;drawSize 0.10000000149011612 · assigned here · art:keep"/>
          <p:cNvPicPr>
            <a:picLocks noChangeAspect="1"/>
          </p:cNvPicPr>
          <p:nvPr/>
        </p:nvPicPr>
        <p:blipFill>
          <a:blip r:embed="rId13"/>
          <a:stretch>
            <a:fillRect/>
          </a:stretch>
        </p:blipFill>
        <p:spPr>
          <a:xfrm>
            <a:off x="10424160" y="2834640"/>
            <a:ext cx="292608" cy="292608"/>
          </a:xfrm>
          <a:prstGeom prst="rect">
            <a:avLst/>
          </a:prstGeom>
        </p:spPr>
      </p:pic>
      <p:sp>
        <p:nvSpPr>
          <p:cNvPr id="44" name="Oval 43"/>
          <p:cNvSpPr/>
          <p:nvPr/>
        </p:nvSpPr>
        <p:spPr>
          <a:xfrm>
            <a:off x="10634472"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24160" y="3136391"/>
            <a:ext cx="640080" cy="146304"/>
          </a:xfrm>
          <a:prstGeom prst="rect">
            <a:avLst/>
          </a:prstGeom>
          <a:noFill/>
        </p:spPr>
        <p:txBody>
          <a:bodyPr wrap="none">
            <a:spAutoFit/>
          </a:bodyPr>
          <a:lstStyle/>
          <a:p>
            <a:pPr algn="ctr"/>
            <a:r>
              <a:rPr sz="600">
                <a:solidFill>
                  <a:srgbClr val="B9A488"/>
                </a:solidFill>
              </a:rPr>
              <a:t>drainer larva</a:t>
            </a:r>
          </a:p>
        </p:txBody>
      </p:sp>
      <p:sp>
        <p:nvSpPr>
          <p:cNvPr id="46" name="TextBox 45"/>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47" name="AB_EyeGrass" descr="AB_EyeGrass (AB_EyeGrass)&#10;"/>
          <p:cNvPicPr>
            <a:picLocks noChangeAspect="1"/>
          </p:cNvPicPr>
          <p:nvPr/>
        </p:nvPicPr>
        <p:blipFill>
          <a:blip r:embed="rId14"/>
          <a:stretch>
            <a:fillRect/>
          </a:stretch>
        </p:blipFill>
        <p:spPr>
          <a:xfrm>
            <a:off x="274320" y="3822191"/>
            <a:ext cx="548639" cy="548639"/>
          </a:xfrm>
          <a:prstGeom prst="rect">
            <a:avLst/>
          </a:prstGeom>
        </p:spPr>
      </p:pic>
      <p:sp>
        <p:nvSpPr>
          <p:cNvPr id="48" name="TextBox 47"/>
          <p:cNvSpPr txBox="1"/>
          <p:nvPr/>
        </p:nvSpPr>
        <p:spPr>
          <a:xfrm>
            <a:off x="274320" y="4379975"/>
            <a:ext cx="640080" cy="146304"/>
          </a:xfrm>
          <a:prstGeom prst="rect">
            <a:avLst/>
          </a:prstGeom>
          <a:noFill/>
        </p:spPr>
        <p:txBody>
          <a:bodyPr wrap="none">
            <a:spAutoFit/>
          </a:bodyPr>
          <a:lstStyle/>
          <a:p>
            <a:pPr algn="ctr"/>
            <a:r>
              <a:rPr sz="600">
                <a:solidFill>
                  <a:srgbClr val="B9A488"/>
                </a:solidFill>
              </a:rPr>
              <a:t>AB_EyeGrass</a:t>
            </a:r>
          </a:p>
        </p:txBody>
      </p:sp>
      <p:pic>
        <p:nvPicPr>
          <p:cNvPr id="49" name="AB_AlienGrass" descr="AB_AlienGrass (AB_AlienGrass)&#10;"/>
          <p:cNvPicPr>
            <a:picLocks noChangeAspect="1"/>
          </p:cNvPicPr>
          <p:nvPr/>
        </p:nvPicPr>
        <p:blipFill>
          <a:blip r:embed="rId15"/>
          <a:stretch>
            <a:fillRect/>
          </a:stretch>
        </p:blipFill>
        <p:spPr>
          <a:xfrm>
            <a:off x="950975" y="3822191"/>
            <a:ext cx="548639" cy="548639"/>
          </a:xfrm>
          <a:prstGeom prst="rect">
            <a:avLst/>
          </a:prstGeom>
        </p:spPr>
      </p:pic>
      <p:sp>
        <p:nvSpPr>
          <p:cNvPr id="50" name="TextBox 49"/>
          <p:cNvSpPr txBox="1"/>
          <p:nvPr/>
        </p:nvSpPr>
        <p:spPr>
          <a:xfrm>
            <a:off x="950975" y="4379975"/>
            <a:ext cx="640080" cy="146304"/>
          </a:xfrm>
          <a:prstGeom prst="rect">
            <a:avLst/>
          </a:prstGeom>
          <a:noFill/>
        </p:spPr>
        <p:txBody>
          <a:bodyPr wrap="none">
            <a:spAutoFit/>
          </a:bodyPr>
          <a:lstStyle/>
          <a:p>
            <a:pPr algn="ctr"/>
            <a:r>
              <a:rPr sz="600">
                <a:solidFill>
                  <a:srgbClr val="B9A488"/>
                </a:solidFill>
              </a:rPr>
              <a:t>AB_AlienGrass</a:t>
            </a:r>
          </a:p>
        </p:txBody>
      </p:sp>
      <p:pic>
        <p:nvPicPr>
          <p:cNvPr id="51" name="AB_RedLeaves" descr="AB_RedLeaves (AB_RedLeaves)&#10;"/>
          <p:cNvPicPr>
            <a:picLocks noChangeAspect="1"/>
          </p:cNvPicPr>
          <p:nvPr/>
        </p:nvPicPr>
        <p:blipFill>
          <a:blip r:embed="rId16"/>
          <a:stretch>
            <a:fillRect/>
          </a:stretch>
        </p:blipFill>
        <p:spPr>
          <a:xfrm>
            <a:off x="1627631" y="3822191"/>
            <a:ext cx="548639" cy="548639"/>
          </a:xfrm>
          <a:prstGeom prst="rect">
            <a:avLst/>
          </a:prstGeom>
        </p:spPr>
      </p:pic>
      <p:sp>
        <p:nvSpPr>
          <p:cNvPr id="52" name="TextBox 51"/>
          <p:cNvSpPr txBox="1"/>
          <p:nvPr/>
        </p:nvSpPr>
        <p:spPr>
          <a:xfrm>
            <a:off x="1627631" y="4379975"/>
            <a:ext cx="640080" cy="146304"/>
          </a:xfrm>
          <a:prstGeom prst="rect">
            <a:avLst/>
          </a:prstGeom>
          <a:noFill/>
        </p:spPr>
        <p:txBody>
          <a:bodyPr wrap="none">
            <a:spAutoFit/>
          </a:bodyPr>
          <a:lstStyle/>
          <a:p>
            <a:pPr algn="ctr"/>
            <a:r>
              <a:rPr sz="600">
                <a:solidFill>
                  <a:srgbClr val="B9A488"/>
                </a:solidFill>
              </a:rPr>
              <a:t>AB_RedLeaves</a:t>
            </a:r>
          </a:p>
        </p:txBody>
      </p:sp>
      <p:pic>
        <p:nvPicPr>
          <p:cNvPr id="53" name="AB_RedPlantsTall" descr="AB_RedPlantsTall (AB_RedPlantsTall)&#10;"/>
          <p:cNvPicPr>
            <a:picLocks noChangeAspect="1"/>
          </p:cNvPicPr>
          <p:nvPr/>
        </p:nvPicPr>
        <p:blipFill>
          <a:blip r:embed="rId17"/>
          <a:stretch>
            <a:fillRect/>
          </a:stretch>
        </p:blipFill>
        <p:spPr>
          <a:xfrm>
            <a:off x="2304287" y="3822191"/>
            <a:ext cx="548639" cy="548639"/>
          </a:xfrm>
          <a:prstGeom prst="rect">
            <a:avLst/>
          </a:prstGeom>
        </p:spPr>
      </p:pic>
      <p:sp>
        <p:nvSpPr>
          <p:cNvPr id="54" name="TextBox 53"/>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AB_RedPlantsTall</a:t>
            </a:r>
          </a:p>
        </p:txBody>
      </p:sp>
      <p:pic>
        <p:nvPicPr>
          <p:cNvPr id="55" name="AB_BloodBouquet" descr="AB_BloodBouquet (AB_BloodBouquet)&#10;"/>
          <p:cNvPicPr>
            <a:picLocks noChangeAspect="1"/>
          </p:cNvPicPr>
          <p:nvPr/>
        </p:nvPicPr>
        <p:blipFill>
          <a:blip r:embed="rId18"/>
          <a:stretch>
            <a:fillRect/>
          </a:stretch>
        </p:blipFill>
        <p:spPr>
          <a:xfrm>
            <a:off x="2980943" y="3822191"/>
            <a:ext cx="548639" cy="548639"/>
          </a:xfrm>
          <a:prstGeom prst="rect">
            <a:avLst/>
          </a:prstGeom>
        </p:spPr>
      </p:pic>
      <p:sp>
        <p:nvSpPr>
          <p:cNvPr id="56" name="TextBox 55"/>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AB_BloodBouquet</a:t>
            </a:r>
          </a:p>
        </p:txBody>
      </p:sp>
      <p:pic>
        <p:nvPicPr>
          <p:cNvPr id="57" name="AB_GlobularPlant" descr="AB_GlobularPlant (AB_GlobularPlant)&#10;"/>
          <p:cNvPicPr>
            <a:picLocks noChangeAspect="1"/>
          </p:cNvPicPr>
          <p:nvPr/>
        </p:nvPicPr>
        <p:blipFill>
          <a:blip r:embed="rId19"/>
          <a:stretch>
            <a:fillRect/>
          </a:stretch>
        </p:blipFill>
        <p:spPr>
          <a:xfrm>
            <a:off x="3657599" y="3822191"/>
            <a:ext cx="548639" cy="548639"/>
          </a:xfrm>
          <a:prstGeom prst="rect">
            <a:avLst/>
          </a:prstGeom>
        </p:spPr>
      </p:pic>
      <p:sp>
        <p:nvSpPr>
          <p:cNvPr id="58" name="TextBox 57"/>
          <p:cNvSpPr txBox="1"/>
          <p:nvPr/>
        </p:nvSpPr>
        <p:spPr>
          <a:xfrm>
            <a:off x="3657599" y="4379975"/>
            <a:ext cx="640080" cy="146304"/>
          </a:xfrm>
          <a:prstGeom prst="rect">
            <a:avLst/>
          </a:prstGeom>
          <a:noFill/>
        </p:spPr>
        <p:txBody>
          <a:bodyPr wrap="none">
            <a:spAutoFit/>
          </a:bodyPr>
          <a:lstStyle/>
          <a:p>
            <a:pPr algn="ctr"/>
            <a:r>
              <a:rPr sz="600">
                <a:solidFill>
                  <a:srgbClr val="B9A488"/>
                </a:solidFill>
              </a:rPr>
              <a:t>AB_GlobularPlant</a:t>
            </a:r>
          </a:p>
        </p:txBody>
      </p:sp>
      <p:pic>
        <p:nvPicPr>
          <p:cNvPr id="59" name="AB_HalfAlienTree" descr="AB_HalfAlienTree (AB_HalfAlienTree)&#10;"/>
          <p:cNvPicPr>
            <a:picLocks noChangeAspect="1"/>
          </p:cNvPicPr>
          <p:nvPr/>
        </p:nvPicPr>
        <p:blipFill>
          <a:blip r:embed="rId20"/>
          <a:stretch>
            <a:fillRect/>
          </a:stretch>
        </p:blipFill>
        <p:spPr>
          <a:xfrm>
            <a:off x="4334255" y="3822191"/>
            <a:ext cx="548639" cy="548639"/>
          </a:xfrm>
          <a:prstGeom prst="rect">
            <a:avLst/>
          </a:prstGeom>
        </p:spPr>
      </p:pic>
      <p:sp>
        <p:nvSpPr>
          <p:cNvPr id="60" name="TextBox 59"/>
          <p:cNvSpPr txBox="1"/>
          <p:nvPr/>
        </p:nvSpPr>
        <p:spPr>
          <a:xfrm>
            <a:off x="4334255" y="4379975"/>
            <a:ext cx="640080" cy="146304"/>
          </a:xfrm>
          <a:prstGeom prst="rect">
            <a:avLst/>
          </a:prstGeom>
          <a:noFill/>
        </p:spPr>
        <p:txBody>
          <a:bodyPr wrap="none">
            <a:spAutoFit/>
          </a:bodyPr>
          <a:lstStyle/>
          <a:p>
            <a:pPr algn="ctr"/>
            <a:r>
              <a:rPr sz="600">
                <a:solidFill>
                  <a:srgbClr val="B9A488"/>
                </a:solidFill>
              </a:rPr>
              <a:t>AB_HalfAlienTree</a:t>
            </a:r>
          </a:p>
        </p:txBody>
      </p:sp>
      <p:pic>
        <p:nvPicPr>
          <p:cNvPr id="61" name="AB_TentacularPlant" descr="AB_TentacularPlant (AB_TentacularPlant)&#10;"/>
          <p:cNvPicPr>
            <a:picLocks noChangeAspect="1"/>
          </p:cNvPicPr>
          <p:nvPr/>
        </p:nvPicPr>
        <p:blipFill>
          <a:blip r:embed="rId21"/>
          <a:stretch>
            <a:fillRect/>
          </a:stretch>
        </p:blipFill>
        <p:spPr>
          <a:xfrm>
            <a:off x="5010912" y="3822191"/>
            <a:ext cx="548639" cy="548639"/>
          </a:xfrm>
          <a:prstGeom prst="rect">
            <a:avLst/>
          </a:prstGeom>
        </p:spPr>
      </p:pic>
      <p:sp>
        <p:nvSpPr>
          <p:cNvPr id="62" name="TextBox 61"/>
          <p:cNvSpPr txBox="1"/>
          <p:nvPr/>
        </p:nvSpPr>
        <p:spPr>
          <a:xfrm>
            <a:off x="5010912" y="4379975"/>
            <a:ext cx="640080" cy="146304"/>
          </a:xfrm>
          <a:prstGeom prst="rect">
            <a:avLst/>
          </a:prstGeom>
          <a:noFill/>
        </p:spPr>
        <p:txBody>
          <a:bodyPr wrap="none">
            <a:spAutoFit/>
          </a:bodyPr>
          <a:lstStyle/>
          <a:p>
            <a:pPr algn="ctr"/>
            <a:r>
              <a:rPr sz="600">
                <a:solidFill>
                  <a:srgbClr val="B9A488"/>
                </a:solidFill>
              </a:rPr>
              <a:t>AB_TentacularPla</a:t>
            </a:r>
          </a:p>
        </p:txBody>
      </p:sp>
      <p:pic>
        <p:nvPicPr>
          <p:cNvPr id="63" name="AB_AlienTree_Polluted" descr="AB_AlienTree_Polluted (AB_AlienTree_Polluted)&#10;"/>
          <p:cNvPicPr>
            <a:picLocks noChangeAspect="1"/>
          </p:cNvPicPr>
          <p:nvPr/>
        </p:nvPicPr>
        <p:blipFill>
          <a:blip r:embed="rId22"/>
          <a:stretch>
            <a:fillRect/>
          </a:stretch>
        </p:blipFill>
        <p:spPr>
          <a:xfrm>
            <a:off x="5687568" y="3822191"/>
            <a:ext cx="548639" cy="548639"/>
          </a:xfrm>
          <a:prstGeom prst="rect">
            <a:avLst/>
          </a:prstGeom>
        </p:spPr>
      </p:pic>
      <p:sp>
        <p:nvSpPr>
          <p:cNvPr id="64" name="TextBox 63"/>
          <p:cNvSpPr txBox="1"/>
          <p:nvPr/>
        </p:nvSpPr>
        <p:spPr>
          <a:xfrm>
            <a:off x="5687568" y="4379975"/>
            <a:ext cx="640080" cy="146304"/>
          </a:xfrm>
          <a:prstGeom prst="rect">
            <a:avLst/>
          </a:prstGeom>
          <a:noFill/>
        </p:spPr>
        <p:txBody>
          <a:bodyPr wrap="none">
            <a:spAutoFit/>
          </a:bodyPr>
          <a:lstStyle/>
          <a:p>
            <a:pPr algn="ctr"/>
            <a:r>
              <a:rPr sz="600">
                <a:solidFill>
                  <a:srgbClr val="B9A488"/>
                </a:solidFill>
              </a:rPr>
              <a:t>AB_AlienTree_Pol</a:t>
            </a:r>
          </a:p>
        </p:txBody>
      </p:sp>
      <p:pic>
        <p:nvPicPr>
          <p:cNvPr id="65" name="AB_AlienTree" descr="AB_AlienTree (AB_AlienTree)&#10;"/>
          <p:cNvPicPr>
            <a:picLocks noChangeAspect="1"/>
          </p:cNvPicPr>
          <p:nvPr/>
        </p:nvPicPr>
        <p:blipFill>
          <a:blip r:embed="rId23"/>
          <a:stretch>
            <a:fillRect/>
          </a:stretch>
        </p:blipFill>
        <p:spPr>
          <a:xfrm>
            <a:off x="6364224" y="3822191"/>
            <a:ext cx="548639" cy="548639"/>
          </a:xfrm>
          <a:prstGeom prst="rect">
            <a:avLst/>
          </a:prstGeom>
        </p:spPr>
      </p:pic>
      <p:sp>
        <p:nvSpPr>
          <p:cNvPr id="66" name="TextBox 65"/>
          <p:cNvSpPr txBox="1"/>
          <p:nvPr/>
        </p:nvSpPr>
        <p:spPr>
          <a:xfrm>
            <a:off x="6364224" y="4379975"/>
            <a:ext cx="640080" cy="146304"/>
          </a:xfrm>
          <a:prstGeom prst="rect">
            <a:avLst/>
          </a:prstGeom>
          <a:noFill/>
        </p:spPr>
        <p:txBody>
          <a:bodyPr wrap="none">
            <a:spAutoFit/>
          </a:bodyPr>
          <a:lstStyle/>
          <a:p>
            <a:pPr algn="ctr"/>
            <a:r>
              <a:rPr sz="600">
                <a:solidFill>
                  <a:srgbClr val="B9A488"/>
                </a:solidFill>
              </a:rPr>
              <a:t>AB_AlienTree</a:t>
            </a:r>
          </a:p>
        </p:txBody>
      </p:sp>
      <p:sp>
        <p:nvSpPr>
          <p:cNvPr id="67" name="TextBox 66"/>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`AB_OcularForest` (Alpha Biomes' "Ocular Forest" — donor content incorporated wholesale, then bent). **The biome's name is THE CONTAGION** (owner's pick; the earlier working name "the Overdrive" is superseded). Thematic handle: **the weapon at open throttle** — and its image: **a red valley under a storm that never stops, where the clear sky is the thing to fear.**_ 🔑 **Read against `assailant_weapon_remnants.md` and its siblings.** The Assailant bioweapon's fourth end: here it **malfunctioned yet again — so aggressive it is in its own way.** Mutation upon mutation, it changes forms faster than it can finish the last one. Ferociously effective at infecting, hopeless at holding. Hydrology canon already on record binds it: **R-H1** (rain falls only at the greatest altitudes), **R-H7** (the ocular forests are the one large organism with unlimited water, excreting red-flowing water loaded with reproductive spores and alien toxins that leave the stream before the lowlands — the rivers arrive clean), **R-H8** ("genetically wrong on purpose," "rare and horrible," Ascendant Helix territory and a live bioweapon test ground).</a:t>
            </a:r>
          </a:p>
        </p:txBody>
      </p:sp>
      <p:sp>
        <p:nvSpPr>
          <p:cNvPr id="68" name="TextBox 67"/>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(5, deduped — AA_BloodShrimp already resident): AA_Eyeling, AA_FungalHusk, AA_OcularNightling, AG_OcularSlinger, GR_Fleshling. Flier extracted: AA_InfectedAerofleet.
INCONSISTENCIES:
1. weeping_stones:AA_Eyeling is an unresolved propagation conflict — its untouched row still holds Eyeling there while "ocular" routes it here; resolve at the sitting.
2. Each arrival needs the §4 admission line written: UV-shy or UV-armored — the ocular family plausibly dives at the Burn; say it.
OPPORTUNITIES:
1. The ocular cluster (Eyeling, OcularJelly, OcularNightling, OcularSlinger, FungalHusk) is now a coherent "the weapon grows eyes" cast — name the family in §4's table.
2. GR_Fleshling beside the Unfinished: make it a *survived* bud — the one form the goo didn't reabsorb.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the_forge</a:t>
            </a:r>
            <a:r>
              <a:rPr sz="1100">
                <a:solidFill>
                  <a:srgbClr val="B9A488"/>
                </a:solidFill>
              </a:rPr>
              <a:t>   8 animals · 13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beldon" descr="beldon (Beldon)&#10;drawSize 6.0 · assigned here · art:keep&#10;“only over Volcanic”"/>
          <p:cNvPicPr>
            <a:picLocks noChangeAspect="1"/>
          </p:cNvPicPr>
          <p:nvPr/>
        </p:nvPicPr>
        <p:blipFill>
          <a:blip r:embed="rId2"/>
          <a:stretch>
            <a:fillRect/>
          </a:stretch>
        </p:blipFill>
        <p:spPr>
          <a:xfrm>
            <a:off x="274320" y="932688"/>
            <a:ext cx="2194560" cy="2194560"/>
          </a:xfrm>
          <a:prstGeom prst="rect">
            <a:avLst/>
          </a:prstGeom>
        </p:spPr>
      </p:pic>
      <p:sp>
        <p:nvSpPr>
          <p:cNvPr id="5" name="Oval 4"/>
          <p:cNvSpPr/>
          <p:nvPr/>
        </p:nvSpPr>
        <p:spPr>
          <a:xfrm>
            <a:off x="238658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136391"/>
            <a:ext cx="2194560" cy="146304"/>
          </a:xfrm>
          <a:prstGeom prst="rect">
            <a:avLst/>
          </a:prstGeom>
          <a:noFill/>
        </p:spPr>
        <p:txBody>
          <a:bodyPr wrap="none">
            <a:spAutoFit/>
          </a:bodyPr>
          <a:lstStyle/>
          <a:p>
            <a:pPr algn="ctr"/>
            <a:r>
              <a:rPr sz="600">
                <a:solidFill>
                  <a:srgbClr val="B9A488"/>
                </a:solidFill>
              </a:rPr>
              <a:t>beldon</a:t>
            </a:r>
          </a:p>
        </p:txBody>
      </p:sp>
      <p:pic>
        <p:nvPicPr>
          <p:cNvPr id="7" name="beldon" descr="beldon (Beldon)&#10;drawSize 6.0 · moved in from the_greentide · art:keep&#10;“only over Volcanic”"/>
          <p:cNvPicPr>
            <a:picLocks noChangeAspect="1"/>
          </p:cNvPicPr>
          <p:nvPr/>
        </p:nvPicPr>
        <p:blipFill>
          <a:blip r:embed="rId2"/>
          <a:stretch>
            <a:fillRect/>
          </a:stretch>
        </p:blipFill>
        <p:spPr>
          <a:xfrm>
            <a:off x="2596896" y="932688"/>
            <a:ext cx="2194560" cy="2194560"/>
          </a:xfrm>
          <a:prstGeom prst="rect">
            <a:avLst/>
          </a:prstGeom>
        </p:spPr>
      </p:pic>
      <p:sp>
        <p:nvSpPr>
          <p:cNvPr id="8" name="Oval 7"/>
          <p:cNvSpPr/>
          <p:nvPr/>
        </p:nvSpPr>
        <p:spPr>
          <a:xfrm>
            <a:off x="4709160" y="914400"/>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96896" y="3136391"/>
            <a:ext cx="2194560" cy="146304"/>
          </a:xfrm>
          <a:prstGeom prst="rect">
            <a:avLst/>
          </a:prstGeom>
          <a:noFill/>
        </p:spPr>
        <p:txBody>
          <a:bodyPr wrap="none">
            <a:spAutoFit/>
          </a:bodyPr>
          <a:lstStyle/>
          <a:p>
            <a:pPr algn="ctr"/>
            <a:r>
              <a:rPr sz="600">
                <a:solidFill>
                  <a:srgbClr val="B9A488"/>
                </a:solidFill>
              </a:rPr>
              <a:t>beldon</a:t>
            </a:r>
          </a:p>
        </p:txBody>
      </p:sp>
      <p:pic>
        <p:nvPicPr>
          <p:cNvPr id="10" name="cinderlisk" descr="cinderlisk (AA_Cinderlisk)&#10;drawSize 2.5 · assigned here · art:keep"/>
          <p:cNvPicPr>
            <a:picLocks noChangeAspect="1"/>
          </p:cNvPicPr>
          <p:nvPr/>
        </p:nvPicPr>
        <p:blipFill>
          <a:blip r:embed="rId3"/>
          <a:stretch>
            <a:fillRect/>
          </a:stretch>
        </p:blipFill>
        <p:spPr>
          <a:xfrm>
            <a:off x="4919472" y="1709928"/>
            <a:ext cx="1417320" cy="1417320"/>
          </a:xfrm>
          <a:prstGeom prst="rect">
            <a:avLst/>
          </a:prstGeom>
        </p:spPr>
      </p:pic>
      <p:sp>
        <p:nvSpPr>
          <p:cNvPr id="11" name="Oval 10"/>
          <p:cNvSpPr/>
          <p:nvPr/>
        </p:nvSpPr>
        <p:spPr>
          <a:xfrm>
            <a:off x="6254496" y="169163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9472" y="3136391"/>
            <a:ext cx="1417320" cy="146304"/>
          </a:xfrm>
          <a:prstGeom prst="rect">
            <a:avLst/>
          </a:prstGeom>
          <a:noFill/>
        </p:spPr>
        <p:txBody>
          <a:bodyPr wrap="none">
            <a:spAutoFit/>
          </a:bodyPr>
          <a:lstStyle/>
          <a:p>
            <a:pPr algn="ctr"/>
            <a:r>
              <a:rPr sz="600">
                <a:solidFill>
                  <a:srgbClr val="B9A488"/>
                </a:solidFill>
              </a:rPr>
              <a:t>cinderlisk</a:t>
            </a:r>
          </a:p>
        </p:txBody>
      </p:sp>
      <p:pic>
        <p:nvPicPr>
          <p:cNvPr id="13" name="lava flea" descr="lava flea (LavaFlea)&#10;drawSize 2.4000000953674316 · assigned here · art:keep"/>
          <p:cNvPicPr>
            <a:picLocks noChangeAspect="1"/>
          </p:cNvPicPr>
          <p:nvPr/>
        </p:nvPicPr>
        <p:blipFill>
          <a:blip r:embed="rId4"/>
          <a:stretch>
            <a:fillRect/>
          </a:stretch>
        </p:blipFill>
        <p:spPr>
          <a:xfrm>
            <a:off x="6464808" y="1766620"/>
            <a:ext cx="1360627" cy="1360627"/>
          </a:xfrm>
          <a:prstGeom prst="rect">
            <a:avLst/>
          </a:prstGeom>
        </p:spPr>
      </p:pic>
      <p:sp>
        <p:nvSpPr>
          <p:cNvPr id="14" name="Oval 13"/>
          <p:cNvSpPr/>
          <p:nvPr/>
        </p:nvSpPr>
        <p:spPr>
          <a:xfrm>
            <a:off x="7743139" y="174833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3136391"/>
            <a:ext cx="1360627" cy="146304"/>
          </a:xfrm>
          <a:prstGeom prst="rect">
            <a:avLst/>
          </a:prstGeom>
          <a:noFill/>
        </p:spPr>
        <p:txBody>
          <a:bodyPr wrap="none">
            <a:spAutoFit/>
          </a:bodyPr>
          <a:lstStyle/>
          <a:p>
            <a:pPr algn="ctr"/>
            <a:r>
              <a:rPr sz="600">
                <a:solidFill>
                  <a:srgbClr val="B9A488"/>
                </a:solidFill>
              </a:rPr>
              <a:t>lava flea</a:t>
            </a:r>
          </a:p>
        </p:txBody>
      </p:sp>
      <p:pic>
        <p:nvPicPr>
          <p:cNvPr id="16" name="maguana" descr="maguana (BMT_Maguana)&#10;drawSize 2.0999999046325684 · assigned here · art:keep"/>
          <p:cNvPicPr>
            <a:picLocks noChangeAspect="1"/>
          </p:cNvPicPr>
          <p:nvPr/>
        </p:nvPicPr>
        <p:blipFill>
          <a:blip r:embed="rId5"/>
          <a:stretch>
            <a:fillRect/>
          </a:stretch>
        </p:blipFill>
        <p:spPr>
          <a:xfrm>
            <a:off x="7953451" y="1936699"/>
            <a:ext cx="1190548" cy="1190548"/>
          </a:xfrm>
          <a:prstGeom prst="rect">
            <a:avLst/>
          </a:prstGeom>
        </p:spPr>
      </p:pic>
      <p:sp>
        <p:nvSpPr>
          <p:cNvPr id="17" name="Oval 16"/>
          <p:cNvSpPr/>
          <p:nvPr/>
        </p:nvSpPr>
        <p:spPr>
          <a:xfrm>
            <a:off x="9061704" y="191841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3451" y="3136391"/>
            <a:ext cx="1190548" cy="146304"/>
          </a:xfrm>
          <a:prstGeom prst="rect">
            <a:avLst/>
          </a:prstGeom>
          <a:noFill/>
        </p:spPr>
        <p:txBody>
          <a:bodyPr wrap="none">
            <a:spAutoFit/>
          </a:bodyPr>
          <a:lstStyle/>
          <a:p>
            <a:pPr algn="ctr"/>
            <a:r>
              <a:rPr sz="600">
                <a:solidFill>
                  <a:srgbClr val="B9A488"/>
                </a:solidFill>
              </a:rPr>
              <a:t>maguana</a:t>
            </a:r>
          </a:p>
        </p:txBody>
      </p:sp>
      <p:pic>
        <p:nvPicPr>
          <p:cNvPr id="19" name="metallovore" descr="metallovore (AA_Metallovore)&#10;drawSize 2.0 · assigned here · art:keep"/>
          <p:cNvPicPr>
            <a:picLocks noChangeAspect="1"/>
          </p:cNvPicPr>
          <p:nvPr/>
        </p:nvPicPr>
        <p:blipFill>
          <a:blip r:embed="rId6"/>
          <a:stretch>
            <a:fillRect/>
          </a:stretch>
        </p:blipFill>
        <p:spPr>
          <a:xfrm>
            <a:off x="9272015" y="1993391"/>
            <a:ext cx="1133856" cy="1133856"/>
          </a:xfrm>
          <a:prstGeom prst="rect">
            <a:avLst/>
          </a:prstGeom>
        </p:spPr>
      </p:pic>
      <p:sp>
        <p:nvSpPr>
          <p:cNvPr id="20" name="Oval 19"/>
          <p:cNvSpPr/>
          <p:nvPr/>
        </p:nvSpPr>
        <p:spPr>
          <a:xfrm>
            <a:off x="10323576" y="197510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72015" y="3136391"/>
            <a:ext cx="1133856" cy="146304"/>
          </a:xfrm>
          <a:prstGeom prst="rect">
            <a:avLst/>
          </a:prstGeom>
          <a:noFill/>
        </p:spPr>
        <p:txBody>
          <a:bodyPr wrap="none">
            <a:spAutoFit/>
          </a:bodyPr>
          <a:lstStyle/>
          <a:p>
            <a:pPr algn="ctr"/>
            <a:r>
              <a:rPr sz="600">
                <a:solidFill>
                  <a:srgbClr val="B9A488"/>
                </a:solidFill>
              </a:rPr>
              <a:t>metallovore</a:t>
            </a:r>
          </a:p>
        </p:txBody>
      </p:sp>
      <p:pic>
        <p:nvPicPr>
          <p:cNvPr id="22" name="lava snail" descr="lava snail (LavaSnail)&#10;drawSize 0.8999999761581421 · assigned here · art:keep"/>
          <p:cNvPicPr>
            <a:picLocks noChangeAspect="1"/>
          </p:cNvPicPr>
          <p:nvPr/>
        </p:nvPicPr>
        <p:blipFill>
          <a:blip r:embed="rId7"/>
          <a:stretch>
            <a:fillRect/>
          </a:stretch>
        </p:blipFill>
        <p:spPr>
          <a:xfrm>
            <a:off x="10533888" y="2617012"/>
            <a:ext cx="510235" cy="510235"/>
          </a:xfrm>
          <a:prstGeom prst="rect">
            <a:avLst/>
          </a:prstGeom>
        </p:spPr>
      </p:pic>
      <p:sp>
        <p:nvSpPr>
          <p:cNvPr id="23" name="Oval 22"/>
          <p:cNvSpPr/>
          <p:nvPr/>
        </p:nvSpPr>
        <p:spPr>
          <a:xfrm>
            <a:off x="10961827" y="259872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33888" y="3136391"/>
            <a:ext cx="640080" cy="146304"/>
          </a:xfrm>
          <a:prstGeom prst="rect">
            <a:avLst/>
          </a:prstGeom>
          <a:noFill/>
        </p:spPr>
        <p:txBody>
          <a:bodyPr wrap="none">
            <a:spAutoFit/>
          </a:bodyPr>
          <a:lstStyle/>
          <a:p>
            <a:pPr algn="ctr"/>
            <a:r>
              <a:rPr sz="600">
                <a:solidFill>
                  <a:srgbClr val="B9A488"/>
                </a:solidFill>
              </a:rPr>
              <a:t>lava snail</a:t>
            </a:r>
          </a:p>
        </p:txBody>
      </p:sp>
      <p:pic>
        <p:nvPicPr>
          <p:cNvPr id="25" name="aerofleet" descr="aerofleet (AA_Aerofleet)&#10;drawSize 0.20000000298023224 · assigned here · art:keep"/>
          <p:cNvPicPr>
            <a:picLocks noChangeAspect="1"/>
          </p:cNvPicPr>
          <p:nvPr/>
        </p:nvPicPr>
        <p:blipFill>
          <a:blip r:embed="rId8"/>
          <a:stretch>
            <a:fillRect/>
          </a:stretch>
        </p:blipFill>
        <p:spPr>
          <a:xfrm>
            <a:off x="11172139" y="2834640"/>
            <a:ext cx="292608" cy="292608"/>
          </a:xfrm>
          <a:prstGeom prst="rect">
            <a:avLst/>
          </a:prstGeom>
        </p:spPr>
      </p:pic>
      <p:sp>
        <p:nvSpPr>
          <p:cNvPr id="26" name="Oval 25"/>
          <p:cNvSpPr/>
          <p:nvPr/>
        </p:nvSpPr>
        <p:spPr>
          <a:xfrm>
            <a:off x="11382451"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172139" y="3136391"/>
            <a:ext cx="640080" cy="146304"/>
          </a:xfrm>
          <a:prstGeom prst="rect">
            <a:avLst/>
          </a:prstGeom>
          <a:noFill/>
        </p:spPr>
        <p:txBody>
          <a:bodyPr wrap="none">
            <a:spAutoFit/>
          </a:bodyPr>
          <a:lstStyle/>
          <a:p>
            <a:pPr algn="ctr"/>
            <a:r>
              <a:rPr sz="600">
                <a:solidFill>
                  <a:srgbClr val="B9A488"/>
                </a:solidFill>
              </a:rPr>
              <a:t>aerofleet</a:t>
            </a:r>
          </a:p>
        </p:txBody>
      </p:sp>
      <p:sp>
        <p:nvSpPr>
          <p:cNvPr id="28" name="TextBox 27"/>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29" name="IronScruff_Bindweed" descr="IronScruff_Bindweed (IronScruff_Bindweed)&#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IronScruff_Bindweed</a:t>
            </a:r>
          </a:p>
        </p:txBody>
      </p:sp>
      <p:sp>
        <p:nvSpPr>
          <p:cNvPr id="30" name="TextBox 29"/>
          <p:cNvSpPr txBox="1"/>
          <p:nvPr/>
        </p:nvSpPr>
        <p:spPr>
          <a:xfrm>
            <a:off x="274320" y="4379975"/>
            <a:ext cx="640080" cy="146304"/>
          </a:xfrm>
          <a:prstGeom prst="rect">
            <a:avLst/>
          </a:prstGeom>
          <a:noFill/>
        </p:spPr>
        <p:txBody>
          <a:bodyPr wrap="none">
            <a:spAutoFit/>
          </a:bodyPr>
          <a:lstStyle/>
          <a:p>
            <a:pPr algn="ctr"/>
            <a:r>
              <a:rPr sz="600">
                <a:solidFill>
                  <a:srgbClr val="B9A488"/>
                </a:solidFill>
              </a:rPr>
              <a:t>IronScruff_Bindw</a:t>
            </a:r>
          </a:p>
        </p:txBody>
      </p:sp>
      <p:pic>
        <p:nvPicPr>
          <p:cNvPr id="31" name="BMT_Sagecrust" descr="BMT_Sagecrust (BMT_Sagecrust)&#10;"/>
          <p:cNvPicPr>
            <a:picLocks noChangeAspect="1"/>
          </p:cNvPicPr>
          <p:nvPr/>
        </p:nvPicPr>
        <p:blipFill>
          <a:blip r:embed="rId9"/>
          <a:stretch>
            <a:fillRect/>
          </a:stretch>
        </p:blipFill>
        <p:spPr>
          <a:xfrm>
            <a:off x="950975" y="3822191"/>
            <a:ext cx="548639" cy="548639"/>
          </a:xfrm>
          <a:prstGeom prst="rect">
            <a:avLst/>
          </a:prstGeom>
        </p:spPr>
      </p:pic>
      <p:sp>
        <p:nvSpPr>
          <p:cNvPr id="32" name="TextBox 31"/>
          <p:cNvSpPr txBox="1"/>
          <p:nvPr/>
        </p:nvSpPr>
        <p:spPr>
          <a:xfrm>
            <a:off x="950975" y="4379975"/>
            <a:ext cx="640080" cy="146304"/>
          </a:xfrm>
          <a:prstGeom prst="rect">
            <a:avLst/>
          </a:prstGeom>
          <a:noFill/>
        </p:spPr>
        <p:txBody>
          <a:bodyPr wrap="none">
            <a:spAutoFit/>
          </a:bodyPr>
          <a:lstStyle/>
          <a:p>
            <a:pPr algn="ctr"/>
            <a:r>
              <a:rPr sz="600">
                <a:solidFill>
                  <a:srgbClr val="B9A488"/>
                </a:solidFill>
              </a:rPr>
              <a:t>BMT_Sagecrust</a:t>
            </a:r>
          </a:p>
        </p:txBody>
      </p:sp>
      <p:sp>
        <p:nvSpPr>
          <p:cNvPr id="33" name="IronScruff_PrimordialGrass" descr="IronScruff_PrimordialGrass (IronScruff_PrimordialGrass)&#10;&#10;[no cached sprite]"/>
          <p:cNvSpPr/>
          <p:nvPr/>
        </p:nvSpPr>
        <p:spPr>
          <a:xfrm>
            <a:off x="1627631"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IronScruff_PrimordialGrass</a:t>
            </a:r>
          </a:p>
        </p:txBody>
      </p:sp>
      <p:sp>
        <p:nvSpPr>
          <p:cNvPr id="34" name="TextBox 33"/>
          <p:cNvSpPr txBox="1"/>
          <p:nvPr/>
        </p:nvSpPr>
        <p:spPr>
          <a:xfrm>
            <a:off x="1627631" y="4379975"/>
            <a:ext cx="640080" cy="146304"/>
          </a:xfrm>
          <a:prstGeom prst="rect">
            <a:avLst/>
          </a:prstGeom>
          <a:noFill/>
        </p:spPr>
        <p:txBody>
          <a:bodyPr wrap="none">
            <a:spAutoFit/>
          </a:bodyPr>
          <a:lstStyle/>
          <a:p>
            <a:pPr algn="ctr"/>
            <a:r>
              <a:rPr sz="600">
                <a:solidFill>
                  <a:srgbClr val="B9A488"/>
                </a:solidFill>
              </a:rPr>
              <a:t>IronScruff_Primo</a:t>
            </a:r>
          </a:p>
        </p:txBody>
      </p:sp>
      <p:sp>
        <p:nvSpPr>
          <p:cNvPr id="35" name="Plant_Fireweed" descr="Plant_Fireweed (Plant_Fireweed)&#10;&#10;[no cached sprite]"/>
          <p:cNvSpPr/>
          <p:nvPr/>
        </p:nvSpPr>
        <p:spPr>
          <a:xfrm>
            <a:off x="2304287"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Plant_Fireweed</a:t>
            </a:r>
          </a:p>
        </p:txBody>
      </p:sp>
      <p:sp>
        <p:nvSpPr>
          <p:cNvPr id="36" name="TextBox 35"/>
          <p:cNvSpPr txBox="1"/>
          <p:nvPr/>
        </p:nvSpPr>
        <p:spPr>
          <a:xfrm>
            <a:off x="2304287" y="4379975"/>
            <a:ext cx="640080" cy="146304"/>
          </a:xfrm>
          <a:prstGeom prst="rect">
            <a:avLst/>
          </a:prstGeom>
          <a:noFill/>
        </p:spPr>
        <p:txBody>
          <a:bodyPr wrap="none">
            <a:spAutoFit/>
          </a:bodyPr>
          <a:lstStyle/>
          <a:p>
            <a:pPr algn="ctr"/>
            <a:r>
              <a:rPr sz="600">
                <a:solidFill>
                  <a:srgbClr val="B9A488"/>
                </a:solidFill>
              </a:rPr>
              <a:t>Plant_Fireweed</a:t>
            </a:r>
          </a:p>
        </p:txBody>
      </p:sp>
      <p:sp>
        <p:nvSpPr>
          <p:cNvPr id="37" name="BMT_HeatsinkFungus" descr="BMT_HeatsinkFungus (BMT_HeatsinkFungus)&#10;&#10;[no cached sprite]"/>
          <p:cNvSpPr/>
          <p:nvPr/>
        </p:nvSpPr>
        <p:spPr>
          <a:xfrm>
            <a:off x="2980943"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BMT_HeatsinkFungus</a:t>
            </a:r>
          </a:p>
        </p:txBody>
      </p:sp>
      <p:sp>
        <p:nvSpPr>
          <p:cNvPr id="38" name="TextBox 37"/>
          <p:cNvSpPr txBox="1"/>
          <p:nvPr/>
        </p:nvSpPr>
        <p:spPr>
          <a:xfrm>
            <a:off x="2980943" y="4379975"/>
            <a:ext cx="640080" cy="146304"/>
          </a:xfrm>
          <a:prstGeom prst="rect">
            <a:avLst/>
          </a:prstGeom>
          <a:noFill/>
        </p:spPr>
        <p:txBody>
          <a:bodyPr wrap="none">
            <a:spAutoFit/>
          </a:bodyPr>
          <a:lstStyle/>
          <a:p>
            <a:pPr algn="ctr"/>
            <a:r>
              <a:rPr sz="600">
                <a:solidFill>
                  <a:srgbClr val="B9A488"/>
                </a:solidFill>
              </a:rPr>
              <a:t>BMT_HeatsinkFung</a:t>
            </a:r>
          </a:p>
        </p:txBody>
      </p:sp>
      <p:sp>
        <p:nvSpPr>
          <p:cNvPr id="39" name="IronScruff_PrimordialTallGrass" descr="IronScruff_PrimordialTallGrass (IronScruff_PrimordialTallGrass)&#10;&#10;[no cached sprite]"/>
          <p:cNvSpPr/>
          <p:nvPr/>
        </p:nvSpPr>
        <p:spPr>
          <a:xfrm>
            <a:off x="3657599"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IronScruff_PrimordialTallGrass</a:t>
            </a:r>
          </a:p>
        </p:txBody>
      </p:sp>
      <p:sp>
        <p:nvSpPr>
          <p:cNvPr id="40" name="TextBox 39"/>
          <p:cNvSpPr txBox="1"/>
          <p:nvPr/>
        </p:nvSpPr>
        <p:spPr>
          <a:xfrm>
            <a:off x="3657599" y="4379975"/>
            <a:ext cx="640080" cy="146304"/>
          </a:xfrm>
          <a:prstGeom prst="rect">
            <a:avLst/>
          </a:prstGeom>
          <a:noFill/>
        </p:spPr>
        <p:txBody>
          <a:bodyPr wrap="none">
            <a:spAutoFit/>
          </a:bodyPr>
          <a:lstStyle/>
          <a:p>
            <a:pPr algn="ctr"/>
            <a:r>
              <a:rPr sz="600">
                <a:solidFill>
                  <a:srgbClr val="B9A488"/>
                </a:solidFill>
              </a:rPr>
              <a:t>IronScruff_Primo</a:t>
            </a:r>
          </a:p>
        </p:txBody>
      </p:sp>
      <p:sp>
        <p:nvSpPr>
          <p:cNvPr id="41" name="BMT_FireLavender" descr="BMT_FireLavender (BMT_FireLavender)&#10;&#10;[no cached sprite]"/>
          <p:cNvSpPr/>
          <p:nvPr/>
        </p:nvSpPr>
        <p:spPr>
          <a:xfrm>
            <a:off x="4334255"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BMT_FireLavender</a:t>
            </a:r>
          </a:p>
        </p:txBody>
      </p:sp>
      <p:sp>
        <p:nvSpPr>
          <p:cNvPr id="42" name="TextBox 41"/>
          <p:cNvSpPr txBox="1"/>
          <p:nvPr/>
        </p:nvSpPr>
        <p:spPr>
          <a:xfrm>
            <a:off x="4334255" y="4379975"/>
            <a:ext cx="640080" cy="146304"/>
          </a:xfrm>
          <a:prstGeom prst="rect">
            <a:avLst/>
          </a:prstGeom>
          <a:noFill/>
        </p:spPr>
        <p:txBody>
          <a:bodyPr wrap="none">
            <a:spAutoFit/>
          </a:bodyPr>
          <a:lstStyle/>
          <a:p>
            <a:pPr algn="ctr"/>
            <a:r>
              <a:rPr sz="600">
                <a:solidFill>
                  <a:srgbClr val="B9A488"/>
                </a:solidFill>
              </a:rPr>
              <a:t>BMT_FireLavender</a:t>
            </a:r>
          </a:p>
        </p:txBody>
      </p:sp>
      <p:pic>
        <p:nvPicPr>
          <p:cNvPr id="43" name="AB_TinkleGrass" descr="AB_TinkleGrass (AB_TinkleGrass)&#10;"/>
          <p:cNvPicPr>
            <a:picLocks noChangeAspect="1"/>
          </p:cNvPicPr>
          <p:nvPr/>
        </p:nvPicPr>
        <p:blipFill>
          <a:blip r:embed="rId10"/>
          <a:stretch>
            <a:fillRect/>
          </a:stretch>
        </p:blipFill>
        <p:spPr>
          <a:xfrm>
            <a:off x="5010912" y="3822191"/>
            <a:ext cx="548639" cy="548639"/>
          </a:xfrm>
          <a:prstGeom prst="rect">
            <a:avLst/>
          </a:prstGeom>
        </p:spPr>
      </p:pic>
      <p:sp>
        <p:nvSpPr>
          <p:cNvPr id="44" name="TextBox 43"/>
          <p:cNvSpPr txBox="1"/>
          <p:nvPr/>
        </p:nvSpPr>
        <p:spPr>
          <a:xfrm>
            <a:off x="5010912" y="4379975"/>
            <a:ext cx="640080" cy="146304"/>
          </a:xfrm>
          <a:prstGeom prst="rect">
            <a:avLst/>
          </a:prstGeom>
          <a:noFill/>
        </p:spPr>
        <p:txBody>
          <a:bodyPr wrap="none">
            <a:spAutoFit/>
          </a:bodyPr>
          <a:lstStyle/>
          <a:p>
            <a:pPr algn="ctr"/>
            <a:r>
              <a:rPr sz="600">
                <a:solidFill>
                  <a:srgbClr val="B9A488"/>
                </a:solidFill>
              </a:rPr>
              <a:t>AB_TinkleGrass</a:t>
            </a:r>
          </a:p>
        </p:txBody>
      </p:sp>
      <p:sp>
        <p:nvSpPr>
          <p:cNvPr id="45" name="AG_Septimum" descr="AG_Septimum (AG_Septimum)&#10;&#10;[no cached sprite]"/>
          <p:cNvSpPr/>
          <p:nvPr/>
        </p:nvSpPr>
        <p:spPr>
          <a:xfrm>
            <a:off x="5687568"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AG_Septimum</a:t>
            </a:r>
          </a:p>
        </p:txBody>
      </p:sp>
      <p:sp>
        <p:nvSpPr>
          <p:cNvPr id="46" name="TextBox 45"/>
          <p:cNvSpPr txBox="1"/>
          <p:nvPr/>
        </p:nvSpPr>
        <p:spPr>
          <a:xfrm>
            <a:off x="5687568" y="4379975"/>
            <a:ext cx="640080" cy="146304"/>
          </a:xfrm>
          <a:prstGeom prst="rect">
            <a:avLst/>
          </a:prstGeom>
          <a:noFill/>
        </p:spPr>
        <p:txBody>
          <a:bodyPr wrap="none">
            <a:spAutoFit/>
          </a:bodyPr>
          <a:lstStyle/>
          <a:p>
            <a:pPr algn="ctr"/>
            <a:r>
              <a:rPr sz="600">
                <a:solidFill>
                  <a:srgbClr val="B9A488"/>
                </a:solidFill>
              </a:rPr>
              <a:t>AG_Septimum</a:t>
            </a:r>
          </a:p>
        </p:txBody>
      </p:sp>
      <p:pic>
        <p:nvPicPr>
          <p:cNvPr id="47" name="Plant_MagmaCactus" descr="Plant_MagmaCactus (Plant_MagmaCactus)&#10;"/>
          <p:cNvPicPr>
            <a:picLocks noChangeAspect="1"/>
          </p:cNvPicPr>
          <p:nvPr/>
        </p:nvPicPr>
        <p:blipFill>
          <a:blip r:embed="rId11"/>
          <a:stretch>
            <a:fillRect/>
          </a:stretch>
        </p:blipFill>
        <p:spPr>
          <a:xfrm>
            <a:off x="6364224" y="3822191"/>
            <a:ext cx="548639" cy="548639"/>
          </a:xfrm>
          <a:prstGeom prst="rect">
            <a:avLst/>
          </a:prstGeom>
        </p:spPr>
      </p:pic>
      <p:sp>
        <p:nvSpPr>
          <p:cNvPr id="48" name="TextBox 47"/>
          <p:cNvSpPr txBox="1"/>
          <p:nvPr/>
        </p:nvSpPr>
        <p:spPr>
          <a:xfrm>
            <a:off x="6364224" y="4379975"/>
            <a:ext cx="640080" cy="146304"/>
          </a:xfrm>
          <a:prstGeom prst="rect">
            <a:avLst/>
          </a:prstGeom>
          <a:noFill/>
        </p:spPr>
        <p:txBody>
          <a:bodyPr wrap="none">
            <a:spAutoFit/>
          </a:bodyPr>
          <a:lstStyle/>
          <a:p>
            <a:pPr algn="ctr"/>
            <a:r>
              <a:rPr sz="600">
                <a:solidFill>
                  <a:srgbClr val="B9A488"/>
                </a:solidFill>
              </a:rPr>
              <a:t>Plant_MagmaCactu</a:t>
            </a:r>
          </a:p>
        </p:txBody>
      </p:sp>
      <p:sp>
        <p:nvSpPr>
          <p:cNvPr id="49" name="AG_Gamma" descr="AG_Gamma (AG_Gamma)&#10;&#10;[no cached sprite]"/>
          <p:cNvSpPr/>
          <p:nvPr/>
        </p:nvSpPr>
        <p:spPr>
          <a:xfrm>
            <a:off x="704088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AG_Gamma</a:t>
            </a:r>
          </a:p>
        </p:txBody>
      </p:sp>
      <p:sp>
        <p:nvSpPr>
          <p:cNvPr id="50" name="TextBox 49"/>
          <p:cNvSpPr txBox="1"/>
          <p:nvPr/>
        </p:nvSpPr>
        <p:spPr>
          <a:xfrm>
            <a:off x="7040880" y="4379975"/>
            <a:ext cx="640080" cy="146304"/>
          </a:xfrm>
          <a:prstGeom prst="rect">
            <a:avLst/>
          </a:prstGeom>
          <a:noFill/>
        </p:spPr>
        <p:txBody>
          <a:bodyPr wrap="none">
            <a:spAutoFit/>
          </a:bodyPr>
          <a:lstStyle/>
          <a:p>
            <a:pPr algn="ctr"/>
            <a:r>
              <a:rPr sz="600">
                <a:solidFill>
                  <a:srgbClr val="B9A488"/>
                </a:solidFill>
              </a:rPr>
              <a:t>AG_Gamma</a:t>
            </a:r>
          </a:p>
        </p:txBody>
      </p:sp>
      <p:pic>
        <p:nvPicPr>
          <p:cNvPr id="51" name="AB_GiantGamma" descr="AB_GiantGamma (AB_GiantGamma)&#10;"/>
          <p:cNvPicPr>
            <a:picLocks noChangeAspect="1"/>
          </p:cNvPicPr>
          <p:nvPr/>
        </p:nvPicPr>
        <p:blipFill>
          <a:blip r:embed="rId12"/>
          <a:stretch>
            <a:fillRect/>
          </a:stretch>
        </p:blipFill>
        <p:spPr>
          <a:xfrm>
            <a:off x="7717536" y="3822191"/>
            <a:ext cx="548639" cy="548639"/>
          </a:xfrm>
          <a:prstGeom prst="rect">
            <a:avLst/>
          </a:prstGeom>
        </p:spPr>
      </p:pic>
      <p:sp>
        <p:nvSpPr>
          <p:cNvPr id="52" name="TextBox 51"/>
          <p:cNvSpPr txBox="1"/>
          <p:nvPr/>
        </p:nvSpPr>
        <p:spPr>
          <a:xfrm>
            <a:off x="7717536" y="4379975"/>
            <a:ext cx="640080" cy="146304"/>
          </a:xfrm>
          <a:prstGeom prst="rect">
            <a:avLst/>
          </a:prstGeom>
          <a:noFill/>
        </p:spPr>
        <p:txBody>
          <a:bodyPr wrap="none">
            <a:spAutoFit/>
          </a:bodyPr>
          <a:lstStyle/>
          <a:p>
            <a:pPr algn="ctr"/>
            <a:r>
              <a:rPr sz="600">
                <a:solidFill>
                  <a:srgbClr val="B9A488"/>
                </a:solidFill>
              </a:rPr>
              <a:t>AB_GiantGamma</a:t>
            </a:r>
          </a:p>
        </p:txBody>
      </p:sp>
      <p:pic>
        <p:nvPicPr>
          <p:cNvPr id="53" name="AB_FirevineTree" descr="AB_FirevineTree (AB_FirevineTree)&#10;"/>
          <p:cNvPicPr>
            <a:picLocks noChangeAspect="1"/>
          </p:cNvPicPr>
          <p:nvPr/>
        </p:nvPicPr>
        <p:blipFill>
          <a:blip r:embed="rId13"/>
          <a:stretch>
            <a:fillRect/>
          </a:stretch>
        </p:blipFill>
        <p:spPr>
          <a:xfrm>
            <a:off x="8394192" y="3822191"/>
            <a:ext cx="548639" cy="548639"/>
          </a:xfrm>
          <a:prstGeom prst="rect">
            <a:avLst/>
          </a:prstGeom>
        </p:spPr>
      </p:pic>
      <p:sp>
        <p:nvSpPr>
          <p:cNvPr id="54" name="TextBox 53"/>
          <p:cNvSpPr txBox="1"/>
          <p:nvPr/>
        </p:nvSpPr>
        <p:spPr>
          <a:xfrm>
            <a:off x="8394192" y="4379975"/>
            <a:ext cx="640080" cy="146304"/>
          </a:xfrm>
          <a:prstGeom prst="rect">
            <a:avLst/>
          </a:prstGeom>
          <a:noFill/>
        </p:spPr>
        <p:txBody>
          <a:bodyPr wrap="none">
            <a:spAutoFit/>
          </a:bodyPr>
          <a:lstStyle/>
          <a:p>
            <a:pPr algn="ctr"/>
            <a:r>
              <a:rPr sz="600">
                <a:solidFill>
                  <a:srgbClr val="B9A488"/>
                </a:solidFill>
              </a:rPr>
              <a:t>AB_FirevineTree</a:t>
            </a:r>
          </a:p>
        </p:txBody>
      </p:sp>
      <p:sp>
        <p:nvSpPr>
          <p:cNvPr id="55" name="TextBox 54"/>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Defines **three defs as one place** (owner: "combining them is very welcome"): `Volcano` (5 tiles, the cones) · `LavaField` (8, the flows) · `AB_PyroclasticConflagration` (31, the ash aprons) — one volcanic massif, zoned by elevation. **The name is THE FORGE** (owner's pick). Thematic handle: **the only unstolen fire** — and its image: **dark foundry towers rising defiantly against the sun, over herds grazing the smoke.**_ 🔴 **Lore partitioned** (the Scarlands/Cathedral law): the towers' §GM truths are plot; the machines in the lava stay unrevealed by ban.</a:t>
            </a:r>
          </a:p>
        </p:txBody>
      </p:sp>
      <p:sp>
        <p:nvSpPr>
          <p:cNvPr id="56" name="TextBox 55"/>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deduped — Beldon already resident): AA_CrescendoAnole, Tibidee. Flier arriving→roster: AA_ColossalAerofleet; extracted: AA_Aerofleet.
INCONSISTENCIES:
1. Tibidee is canonically a flying ray — flier-roster candidate that slipped the extraction; decide roster vs resident before it lands.
2. Ban 5: beldons are the only tibanna source — greentide's Beldon move consolidates the herd here correctly; keep one def, one biome.
OPPORTUNITIES:
1. CrescendoAnole as the machine-watcher (basks on cooling flows near the lava-machines) ties fauna to the biome's central mystery without revealing it (ban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forsaken_crags</a:t>
            </a:r>
            <a:r>
              <a:rPr sz="1100">
                <a:solidFill>
                  <a:srgbClr val="B9A488"/>
                </a:solidFill>
              </a:rPr>
              <a:t>   14 animals · 6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Crepuscular Beetle" descr="Crepuscular Beetle (AA_CrepuscularBeetle)&#10;drawSize 3.0 · assigned here · art:keep"/>
          <p:cNvPicPr>
            <a:picLocks noChangeAspect="1"/>
          </p:cNvPicPr>
          <p:nvPr/>
        </p:nvPicPr>
        <p:blipFill>
          <a:blip r:embed="rId2"/>
          <a:stretch>
            <a:fillRect/>
          </a:stretch>
        </p:blipFill>
        <p:spPr>
          <a:xfrm>
            <a:off x="274320" y="932687"/>
            <a:ext cx="1575955" cy="1575955"/>
          </a:xfrm>
          <a:prstGeom prst="rect">
            <a:avLst/>
          </a:prstGeom>
        </p:spPr>
      </p:pic>
      <p:sp>
        <p:nvSpPr>
          <p:cNvPr id="5" name="Oval 4"/>
          <p:cNvSpPr/>
          <p:nvPr/>
        </p:nvSpPr>
        <p:spPr>
          <a:xfrm>
            <a:off x="1767979" y="91439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517787"/>
            <a:ext cx="1575955" cy="146304"/>
          </a:xfrm>
          <a:prstGeom prst="rect">
            <a:avLst/>
          </a:prstGeom>
          <a:noFill/>
        </p:spPr>
        <p:txBody>
          <a:bodyPr wrap="none">
            <a:spAutoFit/>
          </a:bodyPr>
          <a:lstStyle/>
          <a:p>
            <a:pPr algn="ctr"/>
            <a:r>
              <a:rPr sz="600">
                <a:solidFill>
                  <a:srgbClr val="B9A488"/>
                </a:solidFill>
              </a:rPr>
              <a:t>Crepuscular Beet</a:t>
            </a:r>
          </a:p>
        </p:txBody>
      </p:sp>
      <p:pic>
        <p:nvPicPr>
          <p:cNvPr id="7" name="nightmule" descr="nightmule (AA_NightMule)&#10;drawSize 2.799999952316284 · assigned here · art:keep"/>
          <p:cNvPicPr>
            <a:picLocks noChangeAspect="1"/>
          </p:cNvPicPr>
          <p:nvPr/>
        </p:nvPicPr>
        <p:blipFill>
          <a:blip r:embed="rId3"/>
          <a:stretch>
            <a:fillRect/>
          </a:stretch>
        </p:blipFill>
        <p:spPr>
          <a:xfrm>
            <a:off x="1978291" y="1037751"/>
            <a:ext cx="1470892" cy="1470892"/>
          </a:xfrm>
          <a:prstGeom prst="rect">
            <a:avLst/>
          </a:prstGeom>
        </p:spPr>
      </p:pic>
      <p:sp>
        <p:nvSpPr>
          <p:cNvPr id="8" name="Oval 7"/>
          <p:cNvSpPr/>
          <p:nvPr/>
        </p:nvSpPr>
        <p:spPr>
          <a:xfrm>
            <a:off x="3366887" y="101946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78291" y="2517787"/>
            <a:ext cx="1470892" cy="146304"/>
          </a:xfrm>
          <a:prstGeom prst="rect">
            <a:avLst/>
          </a:prstGeom>
          <a:noFill/>
        </p:spPr>
        <p:txBody>
          <a:bodyPr wrap="none">
            <a:spAutoFit/>
          </a:bodyPr>
          <a:lstStyle/>
          <a:p>
            <a:pPr algn="ctr"/>
            <a:r>
              <a:rPr sz="600">
                <a:solidFill>
                  <a:srgbClr val="B9A488"/>
                </a:solidFill>
              </a:rPr>
              <a:t>nightmule</a:t>
            </a:r>
          </a:p>
        </p:txBody>
      </p:sp>
      <p:pic>
        <p:nvPicPr>
          <p:cNvPr id="10" name="nightram" descr="nightram (AA_NightRam)&#10;drawSize 2.5 · assigned here · art:keep"/>
          <p:cNvPicPr>
            <a:picLocks noChangeAspect="1"/>
          </p:cNvPicPr>
          <p:nvPr/>
        </p:nvPicPr>
        <p:blipFill>
          <a:blip r:embed="rId4"/>
          <a:stretch>
            <a:fillRect/>
          </a:stretch>
        </p:blipFill>
        <p:spPr>
          <a:xfrm>
            <a:off x="3577199" y="1195347"/>
            <a:ext cx="1313296" cy="1313296"/>
          </a:xfrm>
          <a:prstGeom prst="rect">
            <a:avLst/>
          </a:prstGeom>
        </p:spPr>
      </p:pic>
      <p:sp>
        <p:nvSpPr>
          <p:cNvPr id="11" name="Oval 10"/>
          <p:cNvSpPr/>
          <p:nvPr/>
        </p:nvSpPr>
        <p:spPr>
          <a:xfrm>
            <a:off x="4808200" y="117705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7199" y="2517787"/>
            <a:ext cx="1313296" cy="146304"/>
          </a:xfrm>
          <a:prstGeom prst="rect">
            <a:avLst/>
          </a:prstGeom>
          <a:noFill/>
        </p:spPr>
        <p:txBody>
          <a:bodyPr wrap="none">
            <a:spAutoFit/>
          </a:bodyPr>
          <a:lstStyle/>
          <a:p>
            <a:pPr algn="ctr"/>
            <a:r>
              <a:rPr sz="600">
                <a:solidFill>
                  <a:srgbClr val="B9A488"/>
                </a:solidFill>
              </a:rPr>
              <a:t>nightram</a:t>
            </a:r>
          </a:p>
        </p:txBody>
      </p:sp>
      <p:pic>
        <p:nvPicPr>
          <p:cNvPr id="13" name="shadow charger" descr="shadow charger (AA_ShadowCharger)&#10;drawSize 2.5 · assigned here · art:redo"/>
          <p:cNvPicPr>
            <a:picLocks noChangeAspect="1"/>
          </p:cNvPicPr>
          <p:nvPr/>
        </p:nvPicPr>
        <p:blipFill>
          <a:blip r:embed="rId5"/>
          <a:stretch>
            <a:fillRect/>
          </a:stretch>
        </p:blipFill>
        <p:spPr>
          <a:xfrm>
            <a:off x="5018512" y="1195347"/>
            <a:ext cx="1313296" cy="1313296"/>
          </a:xfrm>
          <a:prstGeom prst="rect">
            <a:avLst/>
          </a:prstGeom>
        </p:spPr>
      </p:pic>
      <p:sp>
        <p:nvSpPr>
          <p:cNvPr id="14" name="Oval 13"/>
          <p:cNvSpPr/>
          <p:nvPr/>
        </p:nvSpPr>
        <p:spPr>
          <a:xfrm>
            <a:off x="6249512" y="117705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18512" y="2517787"/>
            <a:ext cx="1313296" cy="146304"/>
          </a:xfrm>
          <a:prstGeom prst="rect">
            <a:avLst/>
          </a:prstGeom>
          <a:noFill/>
        </p:spPr>
        <p:txBody>
          <a:bodyPr wrap="none">
            <a:spAutoFit/>
          </a:bodyPr>
          <a:lstStyle/>
          <a:p>
            <a:pPr algn="ctr"/>
            <a:r>
              <a:rPr sz="600">
                <a:solidFill>
                  <a:srgbClr val="B9A488"/>
                </a:solidFill>
              </a:rPr>
              <a:t>shadow charger</a:t>
            </a:r>
          </a:p>
        </p:txBody>
      </p:sp>
      <p:pic>
        <p:nvPicPr>
          <p:cNvPr id="16" name="thunderox" descr="thunderox (AA_Thunderox)&#10;drawSize 2.5 · assigned here · art:redo"/>
          <p:cNvPicPr>
            <a:picLocks noChangeAspect="1"/>
          </p:cNvPicPr>
          <p:nvPr/>
        </p:nvPicPr>
        <p:blipFill>
          <a:blip r:embed="rId6"/>
          <a:stretch>
            <a:fillRect/>
          </a:stretch>
        </p:blipFill>
        <p:spPr>
          <a:xfrm>
            <a:off x="6459824" y="1195347"/>
            <a:ext cx="1313296" cy="1313296"/>
          </a:xfrm>
          <a:prstGeom prst="rect">
            <a:avLst/>
          </a:prstGeom>
        </p:spPr>
      </p:pic>
      <p:sp>
        <p:nvSpPr>
          <p:cNvPr id="17" name="Oval 16"/>
          <p:cNvSpPr/>
          <p:nvPr/>
        </p:nvSpPr>
        <p:spPr>
          <a:xfrm>
            <a:off x="7690825" y="117705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9824" y="2517787"/>
            <a:ext cx="1313296" cy="146304"/>
          </a:xfrm>
          <a:prstGeom prst="rect">
            <a:avLst/>
          </a:prstGeom>
          <a:noFill/>
        </p:spPr>
        <p:txBody>
          <a:bodyPr wrap="none">
            <a:spAutoFit/>
          </a:bodyPr>
          <a:lstStyle/>
          <a:p>
            <a:pPr algn="ctr"/>
            <a:r>
              <a:rPr sz="600">
                <a:solidFill>
                  <a:srgbClr val="B9A488"/>
                </a:solidFill>
              </a:rPr>
              <a:t>thunderox</a:t>
            </a:r>
          </a:p>
        </p:txBody>
      </p:sp>
      <p:pic>
        <p:nvPicPr>
          <p:cNvPr id="19" name="sand prowler" descr="sand prowler (AA_SandProwler)&#10;drawSize 2.0 · assigned here · art:keep"/>
          <p:cNvPicPr>
            <a:picLocks noChangeAspect="1"/>
          </p:cNvPicPr>
          <p:nvPr/>
        </p:nvPicPr>
        <p:blipFill>
          <a:blip r:embed="rId7"/>
          <a:stretch>
            <a:fillRect/>
          </a:stretch>
        </p:blipFill>
        <p:spPr>
          <a:xfrm>
            <a:off x="7901137" y="1458006"/>
            <a:ext cx="1050637" cy="1050637"/>
          </a:xfrm>
          <a:prstGeom prst="rect">
            <a:avLst/>
          </a:prstGeom>
        </p:spPr>
      </p:pic>
      <p:sp>
        <p:nvSpPr>
          <p:cNvPr id="20" name="Oval 19"/>
          <p:cNvSpPr/>
          <p:nvPr/>
        </p:nvSpPr>
        <p:spPr>
          <a:xfrm>
            <a:off x="8869478" y="143971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1137" y="2517787"/>
            <a:ext cx="1050637" cy="146304"/>
          </a:xfrm>
          <a:prstGeom prst="rect">
            <a:avLst/>
          </a:prstGeom>
          <a:noFill/>
        </p:spPr>
        <p:txBody>
          <a:bodyPr wrap="none">
            <a:spAutoFit/>
          </a:bodyPr>
          <a:lstStyle/>
          <a:p>
            <a:pPr algn="ctr"/>
            <a:r>
              <a:rPr sz="600">
                <a:solidFill>
                  <a:srgbClr val="B9A488"/>
                </a:solidFill>
              </a:rPr>
              <a:t>sand prowler</a:t>
            </a:r>
          </a:p>
        </p:txBody>
      </p:sp>
      <p:pic>
        <p:nvPicPr>
          <p:cNvPr id="22" name="darkbeast" descr="darkbeast (AA_Darkbeast)&#10;drawSize 1.5 · assigned here · art:keep"/>
          <p:cNvPicPr>
            <a:picLocks noChangeAspect="1"/>
          </p:cNvPicPr>
          <p:nvPr/>
        </p:nvPicPr>
        <p:blipFill>
          <a:blip r:embed="rId8"/>
          <a:stretch>
            <a:fillRect/>
          </a:stretch>
        </p:blipFill>
        <p:spPr>
          <a:xfrm>
            <a:off x="9079790" y="1720665"/>
            <a:ext cx="787977" cy="787977"/>
          </a:xfrm>
          <a:prstGeom prst="rect">
            <a:avLst/>
          </a:prstGeom>
        </p:spPr>
      </p:pic>
      <p:sp>
        <p:nvSpPr>
          <p:cNvPr id="23" name="Oval 22"/>
          <p:cNvSpPr/>
          <p:nvPr/>
        </p:nvSpPr>
        <p:spPr>
          <a:xfrm>
            <a:off x="9785472" y="170237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79790" y="2517787"/>
            <a:ext cx="787977" cy="146304"/>
          </a:xfrm>
          <a:prstGeom prst="rect">
            <a:avLst/>
          </a:prstGeom>
          <a:noFill/>
        </p:spPr>
        <p:txBody>
          <a:bodyPr wrap="none">
            <a:spAutoFit/>
          </a:bodyPr>
          <a:lstStyle/>
          <a:p>
            <a:pPr algn="ctr"/>
            <a:r>
              <a:rPr sz="600">
                <a:solidFill>
                  <a:srgbClr val="B9A488"/>
                </a:solidFill>
              </a:rPr>
              <a:t>darkbeast</a:t>
            </a:r>
          </a:p>
        </p:txBody>
      </p:sp>
      <p:pic>
        <p:nvPicPr>
          <p:cNvPr id="25" name="dusk prowler" descr="dusk prowler (AA_DuskProwler)&#10;drawSize 1.5 · assigned here · art:keep"/>
          <p:cNvPicPr>
            <a:picLocks noChangeAspect="1"/>
          </p:cNvPicPr>
          <p:nvPr/>
        </p:nvPicPr>
        <p:blipFill>
          <a:blip r:embed="rId9"/>
          <a:stretch>
            <a:fillRect/>
          </a:stretch>
        </p:blipFill>
        <p:spPr>
          <a:xfrm>
            <a:off x="9995784" y="1720665"/>
            <a:ext cx="787977" cy="787977"/>
          </a:xfrm>
          <a:prstGeom prst="rect">
            <a:avLst/>
          </a:prstGeom>
        </p:spPr>
      </p:pic>
      <p:sp>
        <p:nvSpPr>
          <p:cNvPr id="26" name="Oval 25"/>
          <p:cNvSpPr/>
          <p:nvPr/>
        </p:nvSpPr>
        <p:spPr>
          <a:xfrm>
            <a:off x="10701466" y="170237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95784" y="2517787"/>
            <a:ext cx="787977" cy="146304"/>
          </a:xfrm>
          <a:prstGeom prst="rect">
            <a:avLst/>
          </a:prstGeom>
          <a:noFill/>
        </p:spPr>
        <p:txBody>
          <a:bodyPr wrap="none">
            <a:spAutoFit/>
          </a:bodyPr>
          <a:lstStyle/>
          <a:p>
            <a:pPr algn="ctr"/>
            <a:r>
              <a:rPr sz="600">
                <a:solidFill>
                  <a:srgbClr val="B9A488"/>
                </a:solidFill>
              </a:rPr>
              <a:t>dusk prowler</a:t>
            </a:r>
          </a:p>
        </p:txBody>
      </p:sp>
      <p:pic>
        <p:nvPicPr>
          <p:cNvPr id="28" name="frostling" descr="frostling (AA_Frostling)&#10;drawSize 1.5 · assigned here · art:keep"/>
          <p:cNvPicPr>
            <a:picLocks noChangeAspect="1"/>
          </p:cNvPicPr>
          <p:nvPr/>
        </p:nvPicPr>
        <p:blipFill>
          <a:blip r:embed="rId10"/>
          <a:stretch>
            <a:fillRect/>
          </a:stretch>
        </p:blipFill>
        <p:spPr>
          <a:xfrm>
            <a:off x="10911778" y="1720665"/>
            <a:ext cx="787977" cy="787977"/>
          </a:xfrm>
          <a:prstGeom prst="rect">
            <a:avLst/>
          </a:prstGeom>
        </p:spPr>
      </p:pic>
      <p:sp>
        <p:nvSpPr>
          <p:cNvPr id="29" name="Oval 28"/>
          <p:cNvSpPr/>
          <p:nvPr/>
        </p:nvSpPr>
        <p:spPr>
          <a:xfrm>
            <a:off x="11617460" y="170237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11778" y="2517787"/>
            <a:ext cx="787977" cy="146304"/>
          </a:xfrm>
          <a:prstGeom prst="rect">
            <a:avLst/>
          </a:prstGeom>
          <a:noFill/>
        </p:spPr>
        <p:txBody>
          <a:bodyPr wrap="none">
            <a:spAutoFit/>
          </a:bodyPr>
          <a:lstStyle/>
          <a:p>
            <a:pPr algn="ctr"/>
            <a:r>
              <a:rPr sz="600">
                <a:solidFill>
                  <a:srgbClr val="B9A488"/>
                </a:solidFill>
              </a:rPr>
              <a:t>frostling</a:t>
            </a:r>
          </a:p>
        </p:txBody>
      </p:sp>
      <p:pic>
        <p:nvPicPr>
          <p:cNvPr id="31" name="dark vandal" descr="dark vandal (AA_DarkVandal)&#10;drawSize 1.2000000476837158 · assigned here · art:keep"/>
          <p:cNvPicPr>
            <a:picLocks noChangeAspect="1"/>
          </p:cNvPicPr>
          <p:nvPr/>
        </p:nvPicPr>
        <p:blipFill>
          <a:blip r:embed="rId11"/>
          <a:stretch>
            <a:fillRect/>
          </a:stretch>
        </p:blipFill>
        <p:spPr>
          <a:xfrm>
            <a:off x="274320" y="2746387"/>
            <a:ext cx="630382" cy="630382"/>
          </a:xfrm>
          <a:prstGeom prst="rect">
            <a:avLst/>
          </a:prstGeom>
        </p:spPr>
      </p:pic>
      <p:sp>
        <p:nvSpPr>
          <p:cNvPr id="32" name="Oval 31"/>
          <p:cNvSpPr/>
          <p:nvPr/>
        </p:nvSpPr>
        <p:spPr>
          <a:xfrm>
            <a:off x="822406" y="272809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3385914"/>
            <a:ext cx="640080" cy="146304"/>
          </a:xfrm>
          <a:prstGeom prst="rect">
            <a:avLst/>
          </a:prstGeom>
          <a:noFill/>
        </p:spPr>
        <p:txBody>
          <a:bodyPr wrap="none">
            <a:spAutoFit/>
          </a:bodyPr>
          <a:lstStyle/>
          <a:p>
            <a:pPr algn="ctr"/>
            <a:r>
              <a:rPr sz="600">
                <a:solidFill>
                  <a:srgbClr val="B9A488"/>
                </a:solidFill>
              </a:rPr>
              <a:t>dark vandal</a:t>
            </a:r>
          </a:p>
        </p:txBody>
      </p:sp>
      <p:pic>
        <p:nvPicPr>
          <p:cNvPr id="34" name="night ave" descr="night ave (AA_NightAve)&#10;drawSize 1.100000023841858 · assigned here · art:keep"/>
          <p:cNvPicPr>
            <a:picLocks noChangeAspect="1"/>
          </p:cNvPicPr>
          <p:nvPr/>
        </p:nvPicPr>
        <p:blipFill>
          <a:blip r:embed="rId12"/>
          <a:stretch>
            <a:fillRect/>
          </a:stretch>
        </p:blipFill>
        <p:spPr>
          <a:xfrm>
            <a:off x="1032718" y="2798919"/>
            <a:ext cx="577850" cy="577850"/>
          </a:xfrm>
          <a:prstGeom prst="rect">
            <a:avLst/>
          </a:prstGeom>
        </p:spPr>
      </p:pic>
      <p:sp>
        <p:nvSpPr>
          <p:cNvPr id="35" name="Oval 34"/>
          <p:cNvSpPr/>
          <p:nvPr/>
        </p:nvSpPr>
        <p:spPr>
          <a:xfrm>
            <a:off x="1528272" y="278063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718" y="3385914"/>
            <a:ext cx="640080" cy="146304"/>
          </a:xfrm>
          <a:prstGeom prst="rect">
            <a:avLst/>
          </a:prstGeom>
          <a:noFill/>
        </p:spPr>
        <p:txBody>
          <a:bodyPr wrap="none">
            <a:spAutoFit/>
          </a:bodyPr>
          <a:lstStyle/>
          <a:p>
            <a:pPr algn="ctr"/>
            <a:r>
              <a:rPr sz="600">
                <a:solidFill>
                  <a:srgbClr val="B9A488"/>
                </a:solidFill>
              </a:rPr>
              <a:t>night ave</a:t>
            </a:r>
          </a:p>
        </p:txBody>
      </p:sp>
      <p:pic>
        <p:nvPicPr>
          <p:cNvPr id="37" name="nightling" descr="nightling (AA_Nightling)&#10;drawSize 1.0 · assigned here · art:keep"/>
          <p:cNvPicPr>
            <a:picLocks noChangeAspect="1"/>
          </p:cNvPicPr>
          <p:nvPr/>
        </p:nvPicPr>
        <p:blipFill>
          <a:blip r:embed="rId13"/>
          <a:stretch>
            <a:fillRect/>
          </a:stretch>
        </p:blipFill>
        <p:spPr>
          <a:xfrm>
            <a:off x="1738584" y="2851451"/>
            <a:ext cx="525318" cy="525318"/>
          </a:xfrm>
          <a:prstGeom prst="rect">
            <a:avLst/>
          </a:prstGeom>
        </p:spPr>
      </p:pic>
      <p:sp>
        <p:nvSpPr>
          <p:cNvPr id="38" name="Oval 37"/>
          <p:cNvSpPr/>
          <p:nvPr/>
        </p:nvSpPr>
        <p:spPr>
          <a:xfrm>
            <a:off x="2181607" y="283316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738584" y="3385914"/>
            <a:ext cx="640080" cy="146304"/>
          </a:xfrm>
          <a:prstGeom prst="rect">
            <a:avLst/>
          </a:prstGeom>
          <a:noFill/>
        </p:spPr>
        <p:txBody>
          <a:bodyPr wrap="none">
            <a:spAutoFit/>
          </a:bodyPr>
          <a:lstStyle/>
          <a:p>
            <a:pPr algn="ctr"/>
            <a:r>
              <a:rPr sz="600">
                <a:solidFill>
                  <a:srgbClr val="B9A488"/>
                </a:solidFill>
              </a:rPr>
              <a:t>nightling</a:t>
            </a:r>
          </a:p>
        </p:txBody>
      </p:sp>
      <p:pic>
        <p:nvPicPr>
          <p:cNvPr id="40" name="murkling" descr="murkling (AA_Murkling)&#10;drawSize 0.3499999940395355 · assigned here · art:keep"/>
          <p:cNvPicPr>
            <a:picLocks noChangeAspect="1"/>
          </p:cNvPicPr>
          <p:nvPr/>
        </p:nvPicPr>
        <p:blipFill>
          <a:blip r:embed="rId14"/>
          <a:stretch>
            <a:fillRect/>
          </a:stretch>
        </p:blipFill>
        <p:spPr>
          <a:xfrm>
            <a:off x="2391919" y="3105637"/>
            <a:ext cx="271132" cy="271132"/>
          </a:xfrm>
          <a:prstGeom prst="rect">
            <a:avLst/>
          </a:prstGeom>
        </p:spPr>
      </p:pic>
      <p:sp>
        <p:nvSpPr>
          <p:cNvPr id="41" name="Oval 40"/>
          <p:cNvSpPr/>
          <p:nvPr/>
        </p:nvSpPr>
        <p:spPr>
          <a:xfrm>
            <a:off x="2580755" y="30873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91919" y="3385914"/>
            <a:ext cx="640080" cy="146304"/>
          </a:xfrm>
          <a:prstGeom prst="rect">
            <a:avLst/>
          </a:prstGeom>
          <a:noFill/>
        </p:spPr>
        <p:txBody>
          <a:bodyPr wrap="none">
            <a:spAutoFit/>
          </a:bodyPr>
          <a:lstStyle/>
          <a:p>
            <a:pPr algn="ctr"/>
            <a:r>
              <a:rPr sz="600">
                <a:solidFill>
                  <a:srgbClr val="B9A488"/>
                </a:solidFill>
              </a:rPr>
              <a:t>murkling</a:t>
            </a:r>
          </a:p>
        </p:txBody>
      </p:sp>
      <p:pic>
        <p:nvPicPr>
          <p:cNvPr id="43" name="dusk rat" descr="dusk rat (AA_DuskRat)&#10;drawSize 0.15000000596046448 · assigned here · art:keep"/>
          <p:cNvPicPr>
            <a:picLocks noChangeAspect="1"/>
          </p:cNvPicPr>
          <p:nvPr/>
        </p:nvPicPr>
        <p:blipFill>
          <a:blip r:embed="rId15"/>
          <a:stretch>
            <a:fillRect/>
          </a:stretch>
        </p:blipFill>
        <p:spPr>
          <a:xfrm>
            <a:off x="2791067" y="3105637"/>
            <a:ext cx="271132" cy="271132"/>
          </a:xfrm>
          <a:prstGeom prst="rect">
            <a:avLst/>
          </a:prstGeom>
        </p:spPr>
      </p:pic>
      <p:sp>
        <p:nvSpPr>
          <p:cNvPr id="44" name="Oval 43"/>
          <p:cNvSpPr/>
          <p:nvPr/>
        </p:nvSpPr>
        <p:spPr>
          <a:xfrm>
            <a:off x="2979903" y="308734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91067" y="3385914"/>
            <a:ext cx="640080" cy="146304"/>
          </a:xfrm>
          <a:prstGeom prst="rect">
            <a:avLst/>
          </a:prstGeom>
          <a:noFill/>
        </p:spPr>
        <p:txBody>
          <a:bodyPr wrap="none">
            <a:spAutoFit/>
          </a:bodyPr>
          <a:lstStyle/>
          <a:p>
            <a:pPr algn="ctr"/>
            <a:r>
              <a:rPr sz="600">
                <a:solidFill>
                  <a:srgbClr val="B9A488"/>
                </a:solidFill>
              </a:rPr>
              <a:t>dusk rat</a:t>
            </a:r>
          </a:p>
        </p:txBody>
      </p:sp>
      <p:sp>
        <p:nvSpPr>
          <p:cNvPr id="46" name="TextBox 45"/>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47" name="AB_GlowingGrass" descr="AB_GlowingGrass (AB_GlowingGrass)&#10;"/>
          <p:cNvPicPr>
            <a:picLocks noChangeAspect="1"/>
          </p:cNvPicPr>
          <p:nvPr/>
        </p:nvPicPr>
        <p:blipFill>
          <a:blip r:embed="rId16"/>
          <a:stretch>
            <a:fillRect/>
          </a:stretch>
        </p:blipFill>
        <p:spPr>
          <a:xfrm>
            <a:off x="274320" y="3822191"/>
            <a:ext cx="548639" cy="548639"/>
          </a:xfrm>
          <a:prstGeom prst="rect">
            <a:avLst/>
          </a:prstGeom>
        </p:spPr>
      </p:pic>
      <p:sp>
        <p:nvSpPr>
          <p:cNvPr id="48" name="TextBox 47"/>
          <p:cNvSpPr txBox="1"/>
          <p:nvPr/>
        </p:nvSpPr>
        <p:spPr>
          <a:xfrm>
            <a:off x="274320" y="4379975"/>
            <a:ext cx="640080" cy="146304"/>
          </a:xfrm>
          <a:prstGeom prst="rect">
            <a:avLst/>
          </a:prstGeom>
          <a:noFill/>
        </p:spPr>
        <p:txBody>
          <a:bodyPr wrap="none">
            <a:spAutoFit/>
          </a:bodyPr>
          <a:lstStyle/>
          <a:p>
            <a:pPr algn="ctr"/>
            <a:r>
              <a:rPr sz="600">
                <a:solidFill>
                  <a:srgbClr val="B9A488"/>
                </a:solidFill>
              </a:rPr>
              <a:t>AB_GlowingGrass</a:t>
            </a:r>
          </a:p>
        </p:txBody>
      </p:sp>
      <p:pic>
        <p:nvPicPr>
          <p:cNvPr id="49" name="AB_GiantGamma" descr="AB_GiantGamma (AB_GiantGamma)&#10;"/>
          <p:cNvPicPr>
            <a:picLocks noChangeAspect="1"/>
          </p:cNvPicPr>
          <p:nvPr/>
        </p:nvPicPr>
        <p:blipFill>
          <a:blip r:embed="rId17"/>
          <a:stretch>
            <a:fillRect/>
          </a:stretch>
        </p:blipFill>
        <p:spPr>
          <a:xfrm>
            <a:off x="950975" y="3822191"/>
            <a:ext cx="548639" cy="548639"/>
          </a:xfrm>
          <a:prstGeom prst="rect">
            <a:avLst/>
          </a:prstGeom>
        </p:spPr>
      </p:pic>
      <p:sp>
        <p:nvSpPr>
          <p:cNvPr id="50" name="TextBox 49"/>
          <p:cNvSpPr txBox="1"/>
          <p:nvPr/>
        </p:nvSpPr>
        <p:spPr>
          <a:xfrm>
            <a:off x="950975" y="4379975"/>
            <a:ext cx="640080" cy="146304"/>
          </a:xfrm>
          <a:prstGeom prst="rect">
            <a:avLst/>
          </a:prstGeom>
          <a:noFill/>
        </p:spPr>
        <p:txBody>
          <a:bodyPr wrap="none">
            <a:spAutoFit/>
          </a:bodyPr>
          <a:lstStyle/>
          <a:p>
            <a:pPr algn="ctr"/>
            <a:r>
              <a:rPr sz="600">
                <a:solidFill>
                  <a:srgbClr val="B9A488"/>
                </a:solidFill>
              </a:rPr>
              <a:t>AB_GiantGamma</a:t>
            </a:r>
          </a:p>
        </p:txBody>
      </p:sp>
      <p:pic>
        <p:nvPicPr>
          <p:cNvPr id="51" name="AB_WildRadagast" descr="AB_WildRadagast (AB_WildRadagast)&#10;"/>
          <p:cNvPicPr>
            <a:picLocks noChangeAspect="1"/>
          </p:cNvPicPr>
          <p:nvPr/>
        </p:nvPicPr>
        <p:blipFill>
          <a:blip r:embed="rId18"/>
          <a:stretch>
            <a:fillRect/>
          </a:stretch>
        </p:blipFill>
        <p:spPr>
          <a:xfrm>
            <a:off x="1627631" y="3822191"/>
            <a:ext cx="548639" cy="548639"/>
          </a:xfrm>
          <a:prstGeom prst="rect">
            <a:avLst/>
          </a:prstGeom>
        </p:spPr>
      </p:pic>
      <p:sp>
        <p:nvSpPr>
          <p:cNvPr id="52" name="TextBox 51"/>
          <p:cNvSpPr txBox="1"/>
          <p:nvPr/>
        </p:nvSpPr>
        <p:spPr>
          <a:xfrm>
            <a:off x="1627631" y="4379975"/>
            <a:ext cx="640080" cy="146304"/>
          </a:xfrm>
          <a:prstGeom prst="rect">
            <a:avLst/>
          </a:prstGeom>
          <a:noFill/>
        </p:spPr>
        <p:txBody>
          <a:bodyPr wrap="none">
            <a:spAutoFit/>
          </a:bodyPr>
          <a:lstStyle/>
          <a:p>
            <a:pPr algn="ctr"/>
            <a:r>
              <a:rPr sz="600">
                <a:solidFill>
                  <a:srgbClr val="B9A488"/>
                </a:solidFill>
              </a:rPr>
              <a:t>AB_WildRadagast</a:t>
            </a:r>
          </a:p>
        </p:txBody>
      </p:sp>
      <p:pic>
        <p:nvPicPr>
          <p:cNvPr id="53" name="AB_GiantSeptimum" descr="AB_GiantSeptimum (AB_GiantSeptimum)&#10;"/>
          <p:cNvPicPr>
            <a:picLocks noChangeAspect="1"/>
          </p:cNvPicPr>
          <p:nvPr/>
        </p:nvPicPr>
        <p:blipFill>
          <a:blip r:embed="rId19"/>
          <a:stretch>
            <a:fillRect/>
          </a:stretch>
        </p:blipFill>
        <p:spPr>
          <a:xfrm>
            <a:off x="2304287" y="3822191"/>
            <a:ext cx="548639" cy="548639"/>
          </a:xfrm>
          <a:prstGeom prst="rect">
            <a:avLst/>
          </a:prstGeom>
        </p:spPr>
      </p:pic>
      <p:sp>
        <p:nvSpPr>
          <p:cNvPr id="54" name="TextBox 53"/>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AB_GiantSeptimum</a:t>
            </a:r>
          </a:p>
        </p:txBody>
      </p:sp>
      <p:pic>
        <p:nvPicPr>
          <p:cNvPr id="55" name="AB_ToxicGamma" descr="AB_ToxicGamma (AB_ToxicGamma)&#10;"/>
          <p:cNvPicPr>
            <a:picLocks noChangeAspect="1"/>
          </p:cNvPicPr>
          <p:nvPr/>
        </p:nvPicPr>
        <p:blipFill>
          <a:blip r:embed="rId20"/>
          <a:stretch>
            <a:fillRect/>
          </a:stretch>
        </p:blipFill>
        <p:spPr>
          <a:xfrm>
            <a:off x="2980943" y="3822191"/>
            <a:ext cx="548639" cy="548639"/>
          </a:xfrm>
          <a:prstGeom prst="rect">
            <a:avLst/>
          </a:prstGeom>
        </p:spPr>
      </p:pic>
      <p:sp>
        <p:nvSpPr>
          <p:cNvPr id="56" name="TextBox 55"/>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AB_ToxicGamma</a:t>
            </a:r>
          </a:p>
        </p:txBody>
      </p:sp>
      <p:pic>
        <p:nvPicPr>
          <p:cNvPr id="57" name="AB_GiantStikehr" descr="AB_GiantStikehr (AB_GiantStikehr)&#10;"/>
          <p:cNvPicPr>
            <a:picLocks noChangeAspect="1"/>
          </p:cNvPicPr>
          <p:nvPr/>
        </p:nvPicPr>
        <p:blipFill>
          <a:blip r:embed="rId21"/>
          <a:stretch>
            <a:fillRect/>
          </a:stretch>
        </p:blipFill>
        <p:spPr>
          <a:xfrm>
            <a:off x="3657599" y="3822191"/>
            <a:ext cx="548639" cy="548639"/>
          </a:xfrm>
          <a:prstGeom prst="rect">
            <a:avLst/>
          </a:prstGeom>
        </p:spPr>
      </p:pic>
      <p:sp>
        <p:nvSpPr>
          <p:cNvPr id="58" name="TextBox 57"/>
          <p:cNvSpPr txBox="1"/>
          <p:nvPr/>
        </p:nvSpPr>
        <p:spPr>
          <a:xfrm>
            <a:off x="3657599" y="4379975"/>
            <a:ext cx="640080" cy="146304"/>
          </a:xfrm>
          <a:prstGeom prst="rect">
            <a:avLst/>
          </a:prstGeom>
          <a:noFill/>
        </p:spPr>
        <p:txBody>
          <a:bodyPr wrap="none">
            <a:spAutoFit/>
          </a:bodyPr>
          <a:lstStyle/>
          <a:p>
            <a:pPr algn="ctr"/>
            <a:r>
              <a:rPr sz="600">
                <a:solidFill>
                  <a:srgbClr val="B9A488"/>
                </a:solidFill>
              </a:rPr>
              <a:t>AB_GiantStikehr</a:t>
            </a:r>
          </a:p>
        </p:txBody>
      </p:sp>
      <p:sp>
        <p:nvSpPr>
          <p:cNvPr id="59" name="TextBox 58"/>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dryland ladder. Thematic handle: **the Dark that seeps like cold** — and its image: **obsidian teeth in a fog that light cannot cross, lit only by what grows.**_ 🔑 **This sheet defines the def `AB_RockyCrags`** — Alpha Biomes' "Forsaken Crags." The donor's content is **incorporated wholesale, then bent to this world** (owner's ruling): its perpetual-dark mechanic, its two-toned bioluminescent flora, and its thirteen-species nocturnal fauna suite are the starting roster, re-grounded in the atmospheric physics below.</a:t>
            </a:r>
          </a:p>
        </p:txBody>
      </p:sp>
      <p:sp>
        <p:nvSpPr>
          <p:cNvPr id="60" name="TextBox 59"/>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AA_Behemoth (16 sq — distinct from trader-beast "Behemoth"), GR_Nighthrumbo.
1. Both fit the dark register (ban 6: no sun-dependent life). Watch the name collision AA_Behemoth vs homeless:Behemoth (trader pack animal) — two rosters, one word.
2. OPPORTUNITY: 16-square Behemoth as the thing you hear in the gust-dark — the cryptid register (§8) made flesh without showing the Forsakens.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the_fever_wood</a:t>
            </a:r>
            <a:r>
              <a:rPr sz="1100">
                <a:solidFill>
                  <a:srgbClr val="B9A488"/>
                </a:solidFill>
              </a:rPr>
              <a:t>   11 animals · 7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fambaa" descr="fambaa (Fambaa)&#10;drawSize 6.0 · assigned here · art:improve&#10;“tree crusher”"/>
          <p:cNvPicPr>
            <a:picLocks noChangeAspect="1"/>
          </p:cNvPicPr>
          <p:nvPr/>
        </p:nvPicPr>
        <p:blipFill>
          <a:blip r:embed="rId2"/>
          <a:stretch>
            <a:fillRect/>
          </a:stretch>
        </p:blipFill>
        <p:spPr>
          <a:xfrm>
            <a:off x="274320" y="932688"/>
            <a:ext cx="2194560" cy="2194560"/>
          </a:xfrm>
          <a:prstGeom prst="rect">
            <a:avLst/>
          </a:prstGeom>
        </p:spPr>
      </p:pic>
      <p:sp>
        <p:nvSpPr>
          <p:cNvPr id="5" name="Oval 4"/>
          <p:cNvSpPr/>
          <p:nvPr/>
        </p:nvSpPr>
        <p:spPr>
          <a:xfrm>
            <a:off x="238658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136391"/>
            <a:ext cx="2194560" cy="146304"/>
          </a:xfrm>
          <a:prstGeom prst="rect">
            <a:avLst/>
          </a:prstGeom>
          <a:noFill/>
        </p:spPr>
        <p:txBody>
          <a:bodyPr wrap="none">
            <a:spAutoFit/>
          </a:bodyPr>
          <a:lstStyle/>
          <a:p>
            <a:pPr algn="ctr"/>
            <a:r>
              <a:rPr sz="600">
                <a:solidFill>
                  <a:srgbClr val="B9A488"/>
                </a:solidFill>
              </a:rPr>
              <a:t>fambaa</a:t>
            </a:r>
          </a:p>
        </p:txBody>
      </p:sp>
      <p:pic>
        <p:nvPicPr>
          <p:cNvPr id="7" name="acid slug" descr="acid slug (BMT_AcidSlug)&#10;drawSize 4.0 · assigned here · art:keep"/>
          <p:cNvPicPr>
            <a:picLocks noChangeAspect="1"/>
          </p:cNvPicPr>
          <p:nvPr/>
        </p:nvPicPr>
        <p:blipFill>
          <a:blip r:embed="rId3"/>
          <a:stretch>
            <a:fillRect/>
          </a:stretch>
        </p:blipFill>
        <p:spPr>
          <a:xfrm>
            <a:off x="2596896" y="932688"/>
            <a:ext cx="2194560" cy="2194560"/>
          </a:xfrm>
          <a:prstGeom prst="rect">
            <a:avLst/>
          </a:prstGeom>
        </p:spPr>
      </p:pic>
      <p:sp>
        <p:nvSpPr>
          <p:cNvPr id="8" name="Oval 7"/>
          <p:cNvSpPr/>
          <p:nvPr/>
        </p:nvSpPr>
        <p:spPr>
          <a:xfrm>
            <a:off x="4709160"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96896" y="3136391"/>
            <a:ext cx="2194560" cy="146304"/>
          </a:xfrm>
          <a:prstGeom prst="rect">
            <a:avLst/>
          </a:prstGeom>
          <a:noFill/>
        </p:spPr>
        <p:txBody>
          <a:bodyPr wrap="none">
            <a:spAutoFit/>
          </a:bodyPr>
          <a:lstStyle/>
          <a:p>
            <a:pPr algn="ctr"/>
            <a:r>
              <a:rPr sz="600">
                <a:solidFill>
                  <a:srgbClr val="B9A488"/>
                </a:solidFill>
              </a:rPr>
              <a:t>acid slug</a:t>
            </a:r>
          </a:p>
        </p:txBody>
      </p:sp>
      <p:pic>
        <p:nvPicPr>
          <p:cNvPr id="10" name="jewel beetle" descr="jewel beetle (BMT_JewelBeetle)&#10;drawSize 2.450000047683716 · assigned here · art:keep"/>
          <p:cNvPicPr>
            <a:picLocks noChangeAspect="1"/>
          </p:cNvPicPr>
          <p:nvPr/>
        </p:nvPicPr>
        <p:blipFill>
          <a:blip r:embed="rId4"/>
          <a:stretch>
            <a:fillRect/>
          </a:stretch>
        </p:blipFill>
        <p:spPr>
          <a:xfrm>
            <a:off x="4919472" y="1738274"/>
            <a:ext cx="1388973" cy="1388973"/>
          </a:xfrm>
          <a:prstGeom prst="rect">
            <a:avLst/>
          </a:prstGeom>
        </p:spPr>
      </p:pic>
      <p:sp>
        <p:nvSpPr>
          <p:cNvPr id="11" name="Oval 10"/>
          <p:cNvSpPr/>
          <p:nvPr/>
        </p:nvSpPr>
        <p:spPr>
          <a:xfrm>
            <a:off x="6226149" y="171998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9472" y="3136391"/>
            <a:ext cx="1388973" cy="146304"/>
          </a:xfrm>
          <a:prstGeom prst="rect">
            <a:avLst/>
          </a:prstGeom>
          <a:noFill/>
        </p:spPr>
        <p:txBody>
          <a:bodyPr wrap="none">
            <a:spAutoFit/>
          </a:bodyPr>
          <a:lstStyle/>
          <a:p>
            <a:pPr algn="ctr"/>
            <a:r>
              <a:rPr sz="600">
                <a:solidFill>
                  <a:srgbClr val="B9A488"/>
                </a:solidFill>
              </a:rPr>
              <a:t>jewel beetle</a:t>
            </a:r>
          </a:p>
        </p:txBody>
      </p:sp>
      <p:pic>
        <p:nvPicPr>
          <p:cNvPr id="13" name="gelagrub" descr="gelagrub (Gelagrub)&#10;drawSize 2.4000000953674316 · assigned here · art:keep"/>
          <p:cNvPicPr>
            <a:picLocks noChangeAspect="1"/>
          </p:cNvPicPr>
          <p:nvPr/>
        </p:nvPicPr>
        <p:blipFill>
          <a:blip r:embed="rId5"/>
          <a:stretch>
            <a:fillRect/>
          </a:stretch>
        </p:blipFill>
        <p:spPr>
          <a:xfrm>
            <a:off x="6436461" y="1766620"/>
            <a:ext cx="1360627" cy="1360627"/>
          </a:xfrm>
          <a:prstGeom prst="rect">
            <a:avLst/>
          </a:prstGeom>
        </p:spPr>
      </p:pic>
      <p:sp>
        <p:nvSpPr>
          <p:cNvPr id="14" name="Oval 13"/>
          <p:cNvSpPr/>
          <p:nvPr/>
        </p:nvSpPr>
        <p:spPr>
          <a:xfrm>
            <a:off x="7714792" y="174833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6461" y="3136391"/>
            <a:ext cx="1360627" cy="146304"/>
          </a:xfrm>
          <a:prstGeom prst="rect">
            <a:avLst/>
          </a:prstGeom>
          <a:noFill/>
        </p:spPr>
        <p:txBody>
          <a:bodyPr wrap="none">
            <a:spAutoFit/>
          </a:bodyPr>
          <a:lstStyle/>
          <a:p>
            <a:pPr algn="ctr"/>
            <a:r>
              <a:rPr sz="600">
                <a:solidFill>
                  <a:srgbClr val="B9A488"/>
                </a:solidFill>
              </a:rPr>
              <a:t>gelagrub</a:t>
            </a:r>
          </a:p>
        </p:txBody>
      </p:sp>
      <p:pic>
        <p:nvPicPr>
          <p:cNvPr id="16" name="urusai" descr="urusai (Urusai)&#10;drawSize 0.75 · assigned here · art:keep"/>
          <p:cNvPicPr>
            <a:picLocks noChangeAspect="1"/>
          </p:cNvPicPr>
          <p:nvPr/>
        </p:nvPicPr>
        <p:blipFill>
          <a:blip r:embed="rId6"/>
          <a:stretch>
            <a:fillRect/>
          </a:stretch>
        </p:blipFill>
        <p:spPr>
          <a:xfrm>
            <a:off x="7925104" y="2702052"/>
            <a:ext cx="425196" cy="425196"/>
          </a:xfrm>
          <a:prstGeom prst="rect">
            <a:avLst/>
          </a:prstGeom>
        </p:spPr>
      </p:pic>
      <p:sp>
        <p:nvSpPr>
          <p:cNvPr id="17" name="Oval 16"/>
          <p:cNvSpPr/>
          <p:nvPr/>
        </p:nvSpPr>
        <p:spPr>
          <a:xfrm>
            <a:off x="8268004" y="268376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5104" y="3136391"/>
            <a:ext cx="640080" cy="146304"/>
          </a:xfrm>
          <a:prstGeom prst="rect">
            <a:avLst/>
          </a:prstGeom>
          <a:noFill/>
        </p:spPr>
        <p:txBody>
          <a:bodyPr wrap="none">
            <a:spAutoFit/>
          </a:bodyPr>
          <a:lstStyle/>
          <a:p>
            <a:pPr algn="ctr"/>
            <a:r>
              <a:rPr sz="600">
                <a:solidFill>
                  <a:srgbClr val="B9A488"/>
                </a:solidFill>
              </a:rPr>
              <a:t>urusai</a:t>
            </a:r>
          </a:p>
        </p:txBody>
      </p:sp>
      <p:pic>
        <p:nvPicPr>
          <p:cNvPr id="19" name="longtail gorg" descr="longtail gorg (LongtailGorg)&#10;drawSize 0.6000000238418579 · assigned here · art:keep"/>
          <p:cNvPicPr>
            <a:picLocks noChangeAspect="1"/>
          </p:cNvPicPr>
          <p:nvPr/>
        </p:nvPicPr>
        <p:blipFill>
          <a:blip r:embed="rId7"/>
          <a:stretch>
            <a:fillRect/>
          </a:stretch>
        </p:blipFill>
        <p:spPr>
          <a:xfrm>
            <a:off x="8478316" y="2787091"/>
            <a:ext cx="340156" cy="340156"/>
          </a:xfrm>
          <a:prstGeom prst="rect">
            <a:avLst/>
          </a:prstGeom>
        </p:spPr>
      </p:pic>
      <p:sp>
        <p:nvSpPr>
          <p:cNvPr id="20" name="Oval 19"/>
          <p:cNvSpPr/>
          <p:nvPr/>
        </p:nvSpPr>
        <p:spPr>
          <a:xfrm>
            <a:off x="8736177" y="276880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8316" y="3136391"/>
            <a:ext cx="640080" cy="146304"/>
          </a:xfrm>
          <a:prstGeom prst="rect">
            <a:avLst/>
          </a:prstGeom>
          <a:noFill/>
        </p:spPr>
        <p:txBody>
          <a:bodyPr wrap="none">
            <a:spAutoFit/>
          </a:bodyPr>
          <a:lstStyle/>
          <a:p>
            <a:pPr algn="ctr"/>
            <a:r>
              <a:rPr sz="600">
                <a:solidFill>
                  <a:srgbClr val="B9A488"/>
                </a:solidFill>
              </a:rPr>
              <a:t>longtail gorg</a:t>
            </a:r>
          </a:p>
        </p:txBody>
      </p:sp>
      <p:pic>
        <p:nvPicPr>
          <p:cNvPr id="22" name="nuna" descr="nuna (Nuna)&#10;drawSize 0.6000000238418579 · assigned here · art:keep"/>
          <p:cNvPicPr>
            <a:picLocks noChangeAspect="1"/>
          </p:cNvPicPr>
          <p:nvPr/>
        </p:nvPicPr>
        <p:blipFill>
          <a:blip r:embed="rId8"/>
          <a:stretch>
            <a:fillRect/>
          </a:stretch>
        </p:blipFill>
        <p:spPr>
          <a:xfrm>
            <a:off x="8946489" y="2787091"/>
            <a:ext cx="340156" cy="340156"/>
          </a:xfrm>
          <a:prstGeom prst="rect">
            <a:avLst/>
          </a:prstGeom>
        </p:spPr>
      </p:pic>
      <p:sp>
        <p:nvSpPr>
          <p:cNvPr id="23" name="Oval 22"/>
          <p:cNvSpPr/>
          <p:nvPr/>
        </p:nvSpPr>
        <p:spPr>
          <a:xfrm>
            <a:off x="9204350" y="276880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46489" y="3136391"/>
            <a:ext cx="640080" cy="146304"/>
          </a:xfrm>
          <a:prstGeom prst="rect">
            <a:avLst/>
          </a:prstGeom>
          <a:noFill/>
        </p:spPr>
        <p:txBody>
          <a:bodyPr wrap="none">
            <a:spAutoFit/>
          </a:bodyPr>
          <a:lstStyle/>
          <a:p>
            <a:pPr algn="ctr"/>
            <a:r>
              <a:rPr sz="600">
                <a:solidFill>
                  <a:srgbClr val="B9A488"/>
                </a:solidFill>
              </a:rPr>
              <a:t>nuna</a:t>
            </a:r>
          </a:p>
        </p:txBody>
      </p:sp>
      <p:pic>
        <p:nvPicPr>
          <p:cNvPr id="25" name="glowslug" descr="glowslug (BMT_GlowSlug)&#10;drawSize 0.4000000059604645 · assigned here · art:keep"/>
          <p:cNvPicPr>
            <a:picLocks noChangeAspect="1"/>
          </p:cNvPicPr>
          <p:nvPr/>
        </p:nvPicPr>
        <p:blipFill>
          <a:blip r:embed="rId9"/>
          <a:stretch>
            <a:fillRect/>
          </a:stretch>
        </p:blipFill>
        <p:spPr>
          <a:xfrm>
            <a:off x="9414662" y="2834640"/>
            <a:ext cx="292608" cy="292608"/>
          </a:xfrm>
          <a:prstGeom prst="rect">
            <a:avLst/>
          </a:prstGeom>
        </p:spPr>
      </p:pic>
      <p:sp>
        <p:nvSpPr>
          <p:cNvPr id="26" name="Oval 25"/>
          <p:cNvSpPr/>
          <p:nvPr/>
        </p:nvSpPr>
        <p:spPr>
          <a:xfrm>
            <a:off x="9624974"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4662" y="3136391"/>
            <a:ext cx="640080" cy="146304"/>
          </a:xfrm>
          <a:prstGeom prst="rect">
            <a:avLst/>
          </a:prstGeom>
          <a:noFill/>
        </p:spPr>
        <p:txBody>
          <a:bodyPr wrap="none">
            <a:spAutoFit/>
          </a:bodyPr>
          <a:lstStyle/>
          <a:p>
            <a:pPr algn="ctr"/>
            <a:r>
              <a:rPr sz="600">
                <a:solidFill>
                  <a:srgbClr val="B9A488"/>
                </a:solidFill>
              </a:rPr>
              <a:t>glowslug</a:t>
            </a:r>
          </a:p>
        </p:txBody>
      </p:sp>
      <p:pic>
        <p:nvPicPr>
          <p:cNvPr id="28" name="convor" descr="convor (Convor)&#10;drawSize 0.4000000059604645 · assigned here · art:keep"/>
          <p:cNvPicPr>
            <a:picLocks noChangeAspect="1"/>
          </p:cNvPicPr>
          <p:nvPr/>
        </p:nvPicPr>
        <p:blipFill>
          <a:blip r:embed="rId10"/>
          <a:stretch>
            <a:fillRect/>
          </a:stretch>
        </p:blipFill>
        <p:spPr>
          <a:xfrm>
            <a:off x="9835286" y="2834640"/>
            <a:ext cx="292608" cy="292608"/>
          </a:xfrm>
          <a:prstGeom prst="rect">
            <a:avLst/>
          </a:prstGeom>
        </p:spPr>
      </p:pic>
      <p:sp>
        <p:nvSpPr>
          <p:cNvPr id="29" name="Oval 28"/>
          <p:cNvSpPr/>
          <p:nvPr/>
        </p:nvSpPr>
        <p:spPr>
          <a:xfrm>
            <a:off x="10045598"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35286" y="3136391"/>
            <a:ext cx="640080" cy="146304"/>
          </a:xfrm>
          <a:prstGeom prst="rect">
            <a:avLst/>
          </a:prstGeom>
          <a:noFill/>
        </p:spPr>
        <p:txBody>
          <a:bodyPr wrap="none">
            <a:spAutoFit/>
          </a:bodyPr>
          <a:lstStyle/>
          <a:p>
            <a:pPr algn="ctr"/>
            <a:r>
              <a:rPr sz="600">
                <a:solidFill>
                  <a:srgbClr val="B9A488"/>
                </a:solidFill>
              </a:rPr>
              <a:t>convor</a:t>
            </a:r>
          </a:p>
        </p:txBody>
      </p:sp>
      <p:pic>
        <p:nvPicPr>
          <p:cNvPr id="31" name="whisperbird" descr="whisperbird (Whisperbird)&#10;drawSize 0.4000000059604645 · assigned here · art:improve"/>
          <p:cNvPicPr>
            <a:picLocks noChangeAspect="1"/>
          </p:cNvPicPr>
          <p:nvPr/>
        </p:nvPicPr>
        <p:blipFill>
          <a:blip r:embed="rId11"/>
          <a:stretch>
            <a:fillRect/>
          </a:stretch>
        </p:blipFill>
        <p:spPr>
          <a:xfrm>
            <a:off x="10255910" y="2834640"/>
            <a:ext cx="292608" cy="292608"/>
          </a:xfrm>
          <a:prstGeom prst="rect">
            <a:avLst/>
          </a:prstGeom>
        </p:spPr>
      </p:pic>
      <p:sp>
        <p:nvSpPr>
          <p:cNvPr id="32" name="Oval 31"/>
          <p:cNvSpPr/>
          <p:nvPr/>
        </p:nvSpPr>
        <p:spPr>
          <a:xfrm>
            <a:off x="10466222"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55910" y="3136391"/>
            <a:ext cx="640080" cy="146304"/>
          </a:xfrm>
          <a:prstGeom prst="rect">
            <a:avLst/>
          </a:prstGeom>
          <a:noFill/>
        </p:spPr>
        <p:txBody>
          <a:bodyPr wrap="none">
            <a:spAutoFit/>
          </a:bodyPr>
          <a:lstStyle/>
          <a:p>
            <a:pPr algn="ctr"/>
            <a:r>
              <a:rPr sz="600">
                <a:solidFill>
                  <a:srgbClr val="B9A488"/>
                </a:solidFill>
              </a:rPr>
              <a:t>whisperbird</a:t>
            </a:r>
          </a:p>
        </p:txBody>
      </p:sp>
      <p:pic>
        <p:nvPicPr>
          <p:cNvPr id="34" name="megathrips" descr="megathrips (VFEI2_Megathrips)&#10;drawSize 0.3499999940395355 · assigned here · art:keep"/>
          <p:cNvPicPr>
            <a:picLocks noChangeAspect="1"/>
          </p:cNvPicPr>
          <p:nvPr/>
        </p:nvPicPr>
        <p:blipFill>
          <a:blip r:embed="rId12"/>
          <a:stretch>
            <a:fillRect/>
          </a:stretch>
        </p:blipFill>
        <p:spPr>
          <a:xfrm>
            <a:off x="10676534" y="2834640"/>
            <a:ext cx="292608" cy="292608"/>
          </a:xfrm>
          <a:prstGeom prst="rect">
            <a:avLst/>
          </a:prstGeom>
        </p:spPr>
      </p:pic>
      <p:sp>
        <p:nvSpPr>
          <p:cNvPr id="35" name="Oval 34"/>
          <p:cNvSpPr/>
          <p:nvPr/>
        </p:nvSpPr>
        <p:spPr>
          <a:xfrm>
            <a:off x="10886846"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76534" y="3136391"/>
            <a:ext cx="640080" cy="146304"/>
          </a:xfrm>
          <a:prstGeom prst="rect">
            <a:avLst/>
          </a:prstGeom>
          <a:noFill/>
        </p:spPr>
        <p:txBody>
          <a:bodyPr wrap="none">
            <a:spAutoFit/>
          </a:bodyPr>
          <a:lstStyle/>
          <a:p>
            <a:pPr algn="ctr"/>
            <a:r>
              <a:rPr sz="600">
                <a:solidFill>
                  <a:srgbClr val="B9A488"/>
                </a:solidFill>
              </a:rPr>
              <a:t>megathrips</a:t>
            </a:r>
          </a:p>
        </p:txBody>
      </p:sp>
      <p:sp>
        <p:nvSpPr>
          <p:cNvPr id="37" name="TextBox 36"/>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38" name="BMT_GiantLeaf" descr="BMT_GiantLeaf (BMT_GiantLeaf)&#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BMT_GiantLeaf</a:t>
            </a:r>
          </a:p>
        </p:txBody>
      </p:sp>
      <p:sp>
        <p:nvSpPr>
          <p:cNvPr id="39" name="TextBox 38"/>
          <p:cNvSpPr txBox="1"/>
          <p:nvPr/>
        </p:nvSpPr>
        <p:spPr>
          <a:xfrm>
            <a:off x="274320" y="4379975"/>
            <a:ext cx="640080" cy="146304"/>
          </a:xfrm>
          <a:prstGeom prst="rect">
            <a:avLst/>
          </a:prstGeom>
          <a:noFill/>
        </p:spPr>
        <p:txBody>
          <a:bodyPr wrap="none">
            <a:spAutoFit/>
          </a:bodyPr>
          <a:lstStyle/>
          <a:p>
            <a:pPr algn="ctr"/>
            <a:r>
              <a:rPr sz="600">
                <a:solidFill>
                  <a:srgbClr val="B9A488"/>
                </a:solidFill>
              </a:rPr>
              <a:t>BMT_GiantLeaf</a:t>
            </a:r>
          </a:p>
        </p:txBody>
      </p:sp>
      <p:sp>
        <p:nvSpPr>
          <p:cNvPr id="40" name="Plant_Chakroot_Wild" descr="Plant_Chakroot_Wild (Plant_Chakroot_Wild)&#10;&#10;[no cached sprite]"/>
          <p:cNvSpPr/>
          <p:nvPr/>
        </p:nvSpPr>
        <p:spPr>
          <a:xfrm>
            <a:off x="950975"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Plant_Chakroot_Wild</a:t>
            </a:r>
          </a:p>
        </p:txBody>
      </p:sp>
      <p:sp>
        <p:nvSpPr>
          <p:cNvPr id="41" name="TextBox 40"/>
          <p:cNvSpPr txBox="1"/>
          <p:nvPr/>
        </p:nvSpPr>
        <p:spPr>
          <a:xfrm>
            <a:off x="950975" y="4379975"/>
            <a:ext cx="640080" cy="146304"/>
          </a:xfrm>
          <a:prstGeom prst="rect">
            <a:avLst/>
          </a:prstGeom>
          <a:noFill/>
        </p:spPr>
        <p:txBody>
          <a:bodyPr wrap="none">
            <a:spAutoFit/>
          </a:bodyPr>
          <a:lstStyle/>
          <a:p>
            <a:pPr algn="ctr"/>
            <a:r>
              <a:rPr sz="600">
                <a:solidFill>
                  <a:srgbClr val="B9A488"/>
                </a:solidFill>
              </a:rPr>
              <a:t>Plant_Chakroot_W</a:t>
            </a:r>
          </a:p>
        </p:txBody>
      </p:sp>
      <p:pic>
        <p:nvPicPr>
          <p:cNvPr id="42" name="AB_Gomphoeria" descr="AB_Gomphoeria (AB_Gomphoeria)&#10;"/>
          <p:cNvPicPr>
            <a:picLocks noChangeAspect="1"/>
          </p:cNvPicPr>
          <p:nvPr/>
        </p:nvPicPr>
        <p:blipFill>
          <a:blip r:embed="rId13"/>
          <a:stretch>
            <a:fillRect/>
          </a:stretch>
        </p:blipFill>
        <p:spPr>
          <a:xfrm>
            <a:off x="1627631" y="3822191"/>
            <a:ext cx="548639" cy="548639"/>
          </a:xfrm>
          <a:prstGeom prst="rect">
            <a:avLst/>
          </a:prstGeom>
        </p:spPr>
      </p:pic>
      <p:sp>
        <p:nvSpPr>
          <p:cNvPr id="43" name="TextBox 42"/>
          <p:cNvSpPr txBox="1"/>
          <p:nvPr/>
        </p:nvSpPr>
        <p:spPr>
          <a:xfrm>
            <a:off x="1627631" y="4379975"/>
            <a:ext cx="640080" cy="146304"/>
          </a:xfrm>
          <a:prstGeom prst="rect">
            <a:avLst/>
          </a:prstGeom>
          <a:noFill/>
        </p:spPr>
        <p:txBody>
          <a:bodyPr wrap="none">
            <a:spAutoFit/>
          </a:bodyPr>
          <a:lstStyle/>
          <a:p>
            <a:pPr algn="ctr"/>
            <a:r>
              <a:rPr sz="600">
                <a:solidFill>
                  <a:srgbClr val="B9A488"/>
                </a:solidFill>
              </a:rPr>
              <a:t>AB_Gomphoeria</a:t>
            </a:r>
          </a:p>
        </p:txBody>
      </p:sp>
      <p:pic>
        <p:nvPicPr>
          <p:cNvPr id="44" name="AB_Iashiphus" descr="AB_Iashiphus (AB_Iashiphus)&#10;"/>
          <p:cNvPicPr>
            <a:picLocks noChangeAspect="1"/>
          </p:cNvPicPr>
          <p:nvPr/>
        </p:nvPicPr>
        <p:blipFill>
          <a:blip r:embed="rId14"/>
          <a:stretch>
            <a:fillRect/>
          </a:stretch>
        </p:blipFill>
        <p:spPr>
          <a:xfrm>
            <a:off x="2304287" y="3822191"/>
            <a:ext cx="548639" cy="548639"/>
          </a:xfrm>
          <a:prstGeom prst="rect">
            <a:avLst/>
          </a:prstGeom>
        </p:spPr>
      </p:pic>
      <p:sp>
        <p:nvSpPr>
          <p:cNvPr id="45" name="TextBox 44"/>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AB_Iashiphus</a:t>
            </a:r>
          </a:p>
        </p:txBody>
      </p:sp>
      <p:pic>
        <p:nvPicPr>
          <p:cNvPr id="46" name="AB_KeeningCordax" descr="AB_KeeningCordax (AB_KeeningCordax)&#10;"/>
          <p:cNvPicPr>
            <a:picLocks noChangeAspect="1"/>
          </p:cNvPicPr>
          <p:nvPr/>
        </p:nvPicPr>
        <p:blipFill>
          <a:blip r:embed="rId15"/>
          <a:stretch>
            <a:fillRect/>
          </a:stretch>
        </p:blipFill>
        <p:spPr>
          <a:xfrm>
            <a:off x="2980943" y="3822191"/>
            <a:ext cx="548639" cy="548639"/>
          </a:xfrm>
          <a:prstGeom prst="rect">
            <a:avLst/>
          </a:prstGeom>
        </p:spPr>
      </p:pic>
      <p:sp>
        <p:nvSpPr>
          <p:cNvPr id="47" name="TextBox 46"/>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AB_KeeningCordax</a:t>
            </a:r>
          </a:p>
        </p:txBody>
      </p:sp>
      <p:sp>
        <p:nvSpPr>
          <p:cNvPr id="48" name="Plant_HydenockTree_Wild" descr="Plant_HydenockTree_Wild (Plant_HydenockTree_Wild)&#10;&#10;[no cached sprite]"/>
          <p:cNvSpPr/>
          <p:nvPr/>
        </p:nvSpPr>
        <p:spPr>
          <a:xfrm>
            <a:off x="3657599"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Plant_HydenockTree_Wild</a:t>
            </a:r>
          </a:p>
        </p:txBody>
      </p:sp>
      <p:sp>
        <p:nvSpPr>
          <p:cNvPr id="49" name="TextBox 48"/>
          <p:cNvSpPr txBox="1"/>
          <p:nvPr/>
        </p:nvSpPr>
        <p:spPr>
          <a:xfrm>
            <a:off x="3657599" y="4379975"/>
            <a:ext cx="640080" cy="146304"/>
          </a:xfrm>
          <a:prstGeom prst="rect">
            <a:avLst/>
          </a:prstGeom>
          <a:noFill/>
        </p:spPr>
        <p:txBody>
          <a:bodyPr wrap="none">
            <a:spAutoFit/>
          </a:bodyPr>
          <a:lstStyle/>
          <a:p>
            <a:pPr algn="ctr"/>
            <a:r>
              <a:rPr sz="600">
                <a:solidFill>
                  <a:srgbClr val="B9A488"/>
                </a:solidFill>
              </a:rPr>
              <a:t>Plant_HydenockTr</a:t>
            </a:r>
          </a:p>
        </p:txBody>
      </p:sp>
      <p:sp>
        <p:nvSpPr>
          <p:cNvPr id="50" name="Plant_JoganTree_Wild" descr="Plant_JoganTree_Wild (Plant_JoganTree_Wild)&#10;&#10;[no cached sprite]"/>
          <p:cNvSpPr/>
          <p:nvPr/>
        </p:nvSpPr>
        <p:spPr>
          <a:xfrm>
            <a:off x="4334255"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Plant_JoganTree_Wild</a:t>
            </a:r>
          </a:p>
        </p:txBody>
      </p:sp>
      <p:sp>
        <p:nvSpPr>
          <p:cNvPr id="51" name="TextBox 50"/>
          <p:cNvSpPr txBox="1"/>
          <p:nvPr/>
        </p:nvSpPr>
        <p:spPr>
          <a:xfrm>
            <a:off x="4334255" y="4379975"/>
            <a:ext cx="640080" cy="146304"/>
          </a:xfrm>
          <a:prstGeom prst="rect">
            <a:avLst/>
          </a:prstGeom>
          <a:noFill/>
        </p:spPr>
        <p:txBody>
          <a:bodyPr wrap="none">
            <a:spAutoFit/>
          </a:bodyPr>
          <a:lstStyle/>
          <a:p>
            <a:pPr algn="ctr"/>
            <a:r>
              <a:rPr sz="600">
                <a:solidFill>
                  <a:srgbClr val="B9A488"/>
                </a:solidFill>
              </a:rPr>
              <a:t>Plant_JoganTree_</a:t>
            </a:r>
          </a:p>
        </p:txBody>
      </p:sp>
      <p:sp>
        <p:nvSpPr>
          <p:cNvPr id="52" name="TextBox 51"/>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`COMIGO_GreaterSwamp_Tropical` (Comigo's Greater Swamps, workshop 3620545124 — donor label "tropical swamp"). **Sheet name: THE FEVER WOOD** (the map's own region name; def-label call rides the freeze review). Thematic handle: **the giant stillness** — and its image: **wood-roads twisting through a living crown, high above black mirror pools that nothing sane touches.**_ 🔑 **Read against `the_miasma.md`** — one wetland, two biomes: the Miasma is everything in motion (surge, salt, refugee crowding); the Fever Wood is what happens when something finally made the water HOLD STILL. And read against `the_greentide.md` and `the_webwork.md` for the family resemblance: the Greentide's plants drank a river, the Webwork's thicket drank a river — **here the great trees drank the chaos itself.**</a:t>
            </a:r>
          </a:p>
        </p:txBody>
      </p:sp>
      <p:sp>
        <p:nvSpPr>
          <p:cNvPr id="53" name="TextBox 52"/>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Tach, Rikknit (both-jungles ruling). Flier arriving→roster: BMT_FacetMoth. Flier extracted: Convor.
1. Ban 3 (no native chase predators) holds — Tach steals, doesn't chase; Rikknit nests in crowns. Clean.
2. FacetMoth tension: the both-jungles ruling places it here, the flier extraction removes it — the flier roster needs a per-biome presence field to honor both.
## Skipped (zero fauna rows, no arrivals): wreck_fields, and the non-biome sheets (assailant_weapon_remnants, rosters/, gene lists).
---
## Cross-biome notes
- Flier-extraction stragglers not in the fliers list but flying by canon: Tibidee (forge), Dactillion (weeping_stones), Shyrack (desert — cave bat), VFEI2_Macrofly (arid), Neebray + Mynock (poison_forest/scarlands/fall_line — icons, appear in 3+ casts). One sweep against defs owed.
- 103 homeless needs-owner rows and the 22+ ninth-roster rows are not in any cast above; the near-empty biomes (propane_lakes, blue_desert, slime) should get first pick at those sittings.
- Size-bin data is the register's, unverified against defs; the arid LARGE-ban and dune-sea no-medium findings depend on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the_cracked_lands</a:t>
            </a:r>
            <a:r>
              <a:rPr sz="1100">
                <a:solidFill>
                  <a:srgbClr val="B9A488"/>
                </a:solidFill>
              </a:rPr>
              <a:t>   11 animals · 6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sand squid" descr="sand squid (AA_SandSquid)&#10;drawSize 2.0 · assigned here · art:keep"/>
          <p:cNvPicPr>
            <a:picLocks noChangeAspect="1"/>
          </p:cNvPicPr>
          <p:nvPr/>
        </p:nvPicPr>
        <p:blipFill>
          <a:blip r:embed="rId2"/>
          <a:stretch>
            <a:fillRect/>
          </a:stretch>
        </p:blipFill>
        <p:spPr>
          <a:xfrm>
            <a:off x="274320" y="932687"/>
            <a:ext cx="1133856" cy="1133856"/>
          </a:xfrm>
          <a:prstGeom prst="rect">
            <a:avLst/>
          </a:prstGeom>
        </p:spPr>
      </p:pic>
      <p:sp>
        <p:nvSpPr>
          <p:cNvPr id="5" name="Oval 4"/>
          <p:cNvSpPr/>
          <p:nvPr/>
        </p:nvSpPr>
        <p:spPr>
          <a:xfrm>
            <a:off x="1325880" y="91439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75687"/>
            <a:ext cx="1133856" cy="146304"/>
          </a:xfrm>
          <a:prstGeom prst="rect">
            <a:avLst/>
          </a:prstGeom>
          <a:noFill/>
        </p:spPr>
        <p:txBody>
          <a:bodyPr wrap="none">
            <a:spAutoFit/>
          </a:bodyPr>
          <a:lstStyle/>
          <a:p>
            <a:pPr algn="ctr"/>
            <a:r>
              <a:rPr sz="600">
                <a:solidFill>
                  <a:srgbClr val="B9A488"/>
                </a:solidFill>
              </a:rPr>
              <a:t>sand squid</a:t>
            </a:r>
          </a:p>
        </p:txBody>
      </p:sp>
      <p:pic>
        <p:nvPicPr>
          <p:cNvPr id="7" name="can-cell" descr="can-cell (CanCell)&#10;drawSize 1.4500000476837158 · assigned here · art:keep"/>
          <p:cNvPicPr>
            <a:picLocks noChangeAspect="1"/>
          </p:cNvPicPr>
          <p:nvPr/>
        </p:nvPicPr>
        <p:blipFill>
          <a:blip r:embed="rId3"/>
          <a:stretch>
            <a:fillRect/>
          </a:stretch>
        </p:blipFill>
        <p:spPr>
          <a:xfrm>
            <a:off x="1536192" y="1244498"/>
            <a:ext cx="822045" cy="822045"/>
          </a:xfrm>
          <a:prstGeom prst="rect">
            <a:avLst/>
          </a:prstGeom>
        </p:spPr>
      </p:pic>
      <p:sp>
        <p:nvSpPr>
          <p:cNvPr id="8" name="Oval 7"/>
          <p:cNvSpPr/>
          <p:nvPr/>
        </p:nvSpPr>
        <p:spPr>
          <a:xfrm>
            <a:off x="2275941" y="12262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36192" y="2075687"/>
            <a:ext cx="822045" cy="146304"/>
          </a:xfrm>
          <a:prstGeom prst="rect">
            <a:avLst/>
          </a:prstGeom>
          <a:noFill/>
        </p:spPr>
        <p:txBody>
          <a:bodyPr wrap="none">
            <a:spAutoFit/>
          </a:bodyPr>
          <a:lstStyle/>
          <a:p>
            <a:pPr algn="ctr"/>
            <a:r>
              <a:rPr sz="600">
                <a:solidFill>
                  <a:srgbClr val="B9A488"/>
                </a:solidFill>
              </a:rPr>
              <a:t>can-cell</a:t>
            </a:r>
          </a:p>
        </p:txBody>
      </p:sp>
      <p:pic>
        <p:nvPicPr>
          <p:cNvPr id="10" name="eopie" descr="eopie (Eopie)&#10;drawSize 1.399999976158142 · assigned here · art:keep"/>
          <p:cNvPicPr>
            <a:picLocks noChangeAspect="1"/>
          </p:cNvPicPr>
          <p:nvPr/>
        </p:nvPicPr>
        <p:blipFill>
          <a:blip r:embed="rId4"/>
          <a:stretch>
            <a:fillRect/>
          </a:stretch>
        </p:blipFill>
        <p:spPr>
          <a:xfrm>
            <a:off x="2486253" y="1272844"/>
            <a:ext cx="793699" cy="793699"/>
          </a:xfrm>
          <a:prstGeom prst="rect">
            <a:avLst/>
          </a:prstGeom>
        </p:spPr>
      </p:pic>
      <p:sp>
        <p:nvSpPr>
          <p:cNvPr id="11" name="Oval 10"/>
          <p:cNvSpPr/>
          <p:nvPr/>
        </p:nvSpPr>
        <p:spPr>
          <a:xfrm>
            <a:off x="3197656" y="12545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86253" y="2075687"/>
            <a:ext cx="793699" cy="146304"/>
          </a:xfrm>
          <a:prstGeom prst="rect">
            <a:avLst/>
          </a:prstGeom>
          <a:noFill/>
        </p:spPr>
        <p:txBody>
          <a:bodyPr wrap="none">
            <a:spAutoFit/>
          </a:bodyPr>
          <a:lstStyle/>
          <a:p>
            <a:pPr algn="ctr"/>
            <a:r>
              <a:rPr sz="600">
                <a:solidFill>
                  <a:srgbClr val="B9A488"/>
                </a:solidFill>
              </a:rPr>
              <a:t>eopie</a:t>
            </a:r>
          </a:p>
        </p:txBody>
      </p:sp>
      <p:pic>
        <p:nvPicPr>
          <p:cNvPr id="13" name="gornt" descr="gornt (Gornt)&#10;drawSize 0.8500000238418579 · assigned here · art:keep"/>
          <p:cNvPicPr>
            <a:picLocks noChangeAspect="1"/>
          </p:cNvPicPr>
          <p:nvPr/>
        </p:nvPicPr>
        <p:blipFill>
          <a:blip r:embed="rId5"/>
          <a:stretch>
            <a:fillRect/>
          </a:stretch>
        </p:blipFill>
        <p:spPr>
          <a:xfrm>
            <a:off x="3407968" y="1584655"/>
            <a:ext cx="481888" cy="481888"/>
          </a:xfrm>
          <a:prstGeom prst="rect">
            <a:avLst/>
          </a:prstGeom>
        </p:spPr>
      </p:pic>
      <p:sp>
        <p:nvSpPr>
          <p:cNvPr id="14" name="Oval 13"/>
          <p:cNvSpPr/>
          <p:nvPr/>
        </p:nvSpPr>
        <p:spPr>
          <a:xfrm>
            <a:off x="3807561" y="156636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7968" y="2075687"/>
            <a:ext cx="640080" cy="146304"/>
          </a:xfrm>
          <a:prstGeom prst="rect">
            <a:avLst/>
          </a:prstGeom>
          <a:noFill/>
        </p:spPr>
        <p:txBody>
          <a:bodyPr wrap="none">
            <a:spAutoFit/>
          </a:bodyPr>
          <a:lstStyle/>
          <a:p>
            <a:pPr algn="ctr"/>
            <a:r>
              <a:rPr sz="600">
                <a:solidFill>
                  <a:srgbClr val="B9A488"/>
                </a:solidFill>
              </a:rPr>
              <a:t>gornt</a:t>
            </a:r>
          </a:p>
        </p:txBody>
      </p:sp>
      <p:pic>
        <p:nvPicPr>
          <p:cNvPr id="16" name="mantrap" descr="mantrap (BMT_Creature_Mantrap)&#10;drawSize 0.7699999809265137 · assigned here · art:keep"/>
          <p:cNvPicPr>
            <a:picLocks noChangeAspect="1"/>
          </p:cNvPicPr>
          <p:nvPr/>
        </p:nvPicPr>
        <p:blipFill>
          <a:blip r:embed="rId6"/>
          <a:stretch>
            <a:fillRect/>
          </a:stretch>
        </p:blipFill>
        <p:spPr>
          <a:xfrm>
            <a:off x="4017873" y="1630009"/>
            <a:ext cx="436534" cy="436534"/>
          </a:xfrm>
          <a:prstGeom prst="rect">
            <a:avLst/>
          </a:prstGeom>
        </p:spPr>
      </p:pic>
      <p:sp>
        <p:nvSpPr>
          <p:cNvPr id="17" name="Oval 16"/>
          <p:cNvSpPr/>
          <p:nvPr/>
        </p:nvSpPr>
        <p:spPr>
          <a:xfrm>
            <a:off x="4372112" y="1611721"/>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17873" y="2075687"/>
            <a:ext cx="640080" cy="146304"/>
          </a:xfrm>
          <a:prstGeom prst="rect">
            <a:avLst/>
          </a:prstGeom>
          <a:noFill/>
        </p:spPr>
        <p:txBody>
          <a:bodyPr wrap="none">
            <a:spAutoFit/>
          </a:bodyPr>
          <a:lstStyle/>
          <a:p>
            <a:pPr algn="ctr"/>
            <a:r>
              <a:rPr sz="600">
                <a:solidFill>
                  <a:srgbClr val="B9A488"/>
                </a:solidFill>
              </a:rPr>
              <a:t>mantrap</a:t>
            </a:r>
          </a:p>
        </p:txBody>
      </p:sp>
      <p:pic>
        <p:nvPicPr>
          <p:cNvPr id="19" name="woolamander" descr="woolamander (Woolamander)&#10;drawSize 0.75 · assigned here · art:keep"/>
          <p:cNvPicPr>
            <a:picLocks noChangeAspect="1"/>
          </p:cNvPicPr>
          <p:nvPr/>
        </p:nvPicPr>
        <p:blipFill>
          <a:blip r:embed="rId7"/>
          <a:stretch>
            <a:fillRect/>
          </a:stretch>
        </p:blipFill>
        <p:spPr>
          <a:xfrm>
            <a:off x="4582424" y="1641348"/>
            <a:ext cx="425196" cy="425196"/>
          </a:xfrm>
          <a:prstGeom prst="rect">
            <a:avLst/>
          </a:prstGeom>
        </p:spPr>
      </p:pic>
      <p:sp>
        <p:nvSpPr>
          <p:cNvPr id="20" name="Oval 19"/>
          <p:cNvSpPr/>
          <p:nvPr/>
        </p:nvSpPr>
        <p:spPr>
          <a:xfrm>
            <a:off x="4925324" y="162306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2424" y="2075687"/>
            <a:ext cx="640080" cy="146304"/>
          </a:xfrm>
          <a:prstGeom prst="rect">
            <a:avLst/>
          </a:prstGeom>
          <a:noFill/>
        </p:spPr>
        <p:txBody>
          <a:bodyPr wrap="none">
            <a:spAutoFit/>
          </a:bodyPr>
          <a:lstStyle/>
          <a:p>
            <a:pPr algn="ctr"/>
            <a:r>
              <a:rPr sz="600">
                <a:solidFill>
                  <a:srgbClr val="B9A488"/>
                </a:solidFill>
              </a:rPr>
              <a:t>woolamander</a:t>
            </a:r>
          </a:p>
        </p:txBody>
      </p:sp>
      <p:pic>
        <p:nvPicPr>
          <p:cNvPr id="22" name="chem snail" descr="chem snail (BMT_ChemSnail)&#10;drawSize 0.4000000059604645 · assigned here · art:keep"/>
          <p:cNvPicPr>
            <a:picLocks noChangeAspect="1"/>
          </p:cNvPicPr>
          <p:nvPr/>
        </p:nvPicPr>
        <p:blipFill>
          <a:blip r:embed="rId8"/>
          <a:stretch>
            <a:fillRect/>
          </a:stretch>
        </p:blipFill>
        <p:spPr>
          <a:xfrm>
            <a:off x="5135636" y="1773935"/>
            <a:ext cx="292608" cy="292608"/>
          </a:xfrm>
          <a:prstGeom prst="rect">
            <a:avLst/>
          </a:prstGeom>
        </p:spPr>
      </p:pic>
      <p:sp>
        <p:nvSpPr>
          <p:cNvPr id="23" name="Oval 22"/>
          <p:cNvSpPr/>
          <p:nvPr/>
        </p:nvSpPr>
        <p:spPr>
          <a:xfrm>
            <a:off x="5345948"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35636" y="2075687"/>
            <a:ext cx="640080" cy="146304"/>
          </a:xfrm>
          <a:prstGeom prst="rect">
            <a:avLst/>
          </a:prstGeom>
          <a:noFill/>
        </p:spPr>
        <p:txBody>
          <a:bodyPr wrap="none">
            <a:spAutoFit/>
          </a:bodyPr>
          <a:lstStyle/>
          <a:p>
            <a:pPr algn="ctr"/>
            <a:r>
              <a:rPr sz="600">
                <a:solidFill>
                  <a:srgbClr val="B9A488"/>
                </a:solidFill>
              </a:rPr>
              <a:t>chem snail</a:t>
            </a:r>
          </a:p>
        </p:txBody>
      </p:sp>
      <p:pic>
        <p:nvPicPr>
          <p:cNvPr id="25" name="convor" descr="convor (Convor)&#10;drawSize 0.4000000059604645 · assigned here · art:keep"/>
          <p:cNvPicPr>
            <a:picLocks noChangeAspect="1"/>
          </p:cNvPicPr>
          <p:nvPr/>
        </p:nvPicPr>
        <p:blipFill>
          <a:blip r:embed="rId9"/>
          <a:stretch>
            <a:fillRect/>
          </a:stretch>
        </p:blipFill>
        <p:spPr>
          <a:xfrm>
            <a:off x="5556260" y="1773935"/>
            <a:ext cx="292608" cy="292608"/>
          </a:xfrm>
          <a:prstGeom prst="rect">
            <a:avLst/>
          </a:prstGeom>
        </p:spPr>
      </p:pic>
      <p:sp>
        <p:nvSpPr>
          <p:cNvPr id="26" name="Oval 25"/>
          <p:cNvSpPr/>
          <p:nvPr/>
        </p:nvSpPr>
        <p:spPr>
          <a:xfrm>
            <a:off x="5766572"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56260" y="2075687"/>
            <a:ext cx="640080" cy="146304"/>
          </a:xfrm>
          <a:prstGeom prst="rect">
            <a:avLst/>
          </a:prstGeom>
          <a:noFill/>
        </p:spPr>
        <p:txBody>
          <a:bodyPr wrap="none">
            <a:spAutoFit/>
          </a:bodyPr>
          <a:lstStyle/>
          <a:p>
            <a:pPr algn="ctr"/>
            <a:r>
              <a:rPr sz="600">
                <a:solidFill>
                  <a:srgbClr val="B9A488"/>
                </a:solidFill>
              </a:rPr>
              <a:t>convor</a:t>
            </a:r>
          </a:p>
        </p:txBody>
      </p:sp>
      <p:pic>
        <p:nvPicPr>
          <p:cNvPr id="28" name="murkling" descr="murkling (AA_Murkling)&#10;drawSize 0.3499999940395355 · assigned here · art:keep"/>
          <p:cNvPicPr>
            <a:picLocks noChangeAspect="1"/>
          </p:cNvPicPr>
          <p:nvPr/>
        </p:nvPicPr>
        <p:blipFill>
          <a:blip r:embed="rId10"/>
          <a:stretch>
            <a:fillRect/>
          </a:stretch>
        </p:blipFill>
        <p:spPr>
          <a:xfrm>
            <a:off x="5976884" y="1773935"/>
            <a:ext cx="292608" cy="292608"/>
          </a:xfrm>
          <a:prstGeom prst="rect">
            <a:avLst/>
          </a:prstGeom>
        </p:spPr>
      </p:pic>
      <p:sp>
        <p:nvSpPr>
          <p:cNvPr id="29" name="Oval 28"/>
          <p:cNvSpPr/>
          <p:nvPr/>
        </p:nvSpPr>
        <p:spPr>
          <a:xfrm>
            <a:off x="6187196"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76884" y="2075687"/>
            <a:ext cx="640080" cy="146304"/>
          </a:xfrm>
          <a:prstGeom prst="rect">
            <a:avLst/>
          </a:prstGeom>
          <a:noFill/>
        </p:spPr>
        <p:txBody>
          <a:bodyPr wrap="none">
            <a:spAutoFit/>
          </a:bodyPr>
          <a:lstStyle/>
          <a:p>
            <a:pPr algn="ctr"/>
            <a:r>
              <a:rPr sz="600">
                <a:solidFill>
                  <a:srgbClr val="B9A488"/>
                </a:solidFill>
              </a:rPr>
              <a:t>murkling</a:t>
            </a:r>
          </a:p>
        </p:txBody>
      </p:sp>
      <p:pic>
        <p:nvPicPr>
          <p:cNvPr id="31" name="mutagenic norphea" descr="mutagenic norphea (BMT_MutagenicNorphea)&#10;drawSize 0.3199999928474426 · assigned here · art:keep"/>
          <p:cNvPicPr>
            <a:picLocks noChangeAspect="1"/>
          </p:cNvPicPr>
          <p:nvPr/>
        </p:nvPicPr>
        <p:blipFill>
          <a:blip r:embed="rId11"/>
          <a:stretch>
            <a:fillRect/>
          </a:stretch>
        </p:blipFill>
        <p:spPr>
          <a:xfrm>
            <a:off x="6397508" y="1773935"/>
            <a:ext cx="292608" cy="292608"/>
          </a:xfrm>
          <a:prstGeom prst="rect">
            <a:avLst/>
          </a:prstGeom>
        </p:spPr>
      </p:pic>
      <p:sp>
        <p:nvSpPr>
          <p:cNvPr id="32" name="Oval 31"/>
          <p:cNvSpPr/>
          <p:nvPr/>
        </p:nvSpPr>
        <p:spPr>
          <a:xfrm>
            <a:off x="6607820"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97508" y="2075687"/>
            <a:ext cx="640080" cy="146304"/>
          </a:xfrm>
          <a:prstGeom prst="rect">
            <a:avLst/>
          </a:prstGeom>
          <a:noFill/>
        </p:spPr>
        <p:txBody>
          <a:bodyPr wrap="none">
            <a:spAutoFit/>
          </a:bodyPr>
          <a:lstStyle/>
          <a:p>
            <a:pPr algn="ctr"/>
            <a:r>
              <a:rPr sz="600">
                <a:solidFill>
                  <a:srgbClr val="B9A488"/>
                </a:solidFill>
              </a:rPr>
              <a:t>mutagenic norphe</a:t>
            </a:r>
          </a:p>
        </p:txBody>
      </p:sp>
      <p:pic>
        <p:nvPicPr>
          <p:cNvPr id="34" name="sand leaper" descr="sand leaper (BMT_SandLeaper)&#10;drawSize 0.20000000298023224 · assigned here · art:keep"/>
          <p:cNvPicPr>
            <a:picLocks noChangeAspect="1"/>
          </p:cNvPicPr>
          <p:nvPr/>
        </p:nvPicPr>
        <p:blipFill>
          <a:blip r:embed="rId12"/>
          <a:stretch>
            <a:fillRect/>
          </a:stretch>
        </p:blipFill>
        <p:spPr>
          <a:xfrm>
            <a:off x="6818132" y="1773935"/>
            <a:ext cx="292608" cy="292608"/>
          </a:xfrm>
          <a:prstGeom prst="rect">
            <a:avLst/>
          </a:prstGeom>
        </p:spPr>
      </p:pic>
      <p:sp>
        <p:nvSpPr>
          <p:cNvPr id="35" name="Oval 34"/>
          <p:cNvSpPr/>
          <p:nvPr/>
        </p:nvSpPr>
        <p:spPr>
          <a:xfrm>
            <a:off x="7028444" y="175564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18132" y="2075687"/>
            <a:ext cx="640080" cy="146304"/>
          </a:xfrm>
          <a:prstGeom prst="rect">
            <a:avLst/>
          </a:prstGeom>
          <a:noFill/>
        </p:spPr>
        <p:txBody>
          <a:bodyPr wrap="none">
            <a:spAutoFit/>
          </a:bodyPr>
          <a:lstStyle/>
          <a:p>
            <a:pPr algn="ctr"/>
            <a:r>
              <a:rPr sz="600">
                <a:solidFill>
                  <a:srgbClr val="B9A488"/>
                </a:solidFill>
              </a:rPr>
              <a:t>sand leaper</a:t>
            </a:r>
          </a:p>
        </p:txBody>
      </p:sp>
      <p:sp>
        <p:nvSpPr>
          <p:cNvPr id="37" name="TextBox 36"/>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38" name="AB_HardyGrass" descr="AB_HardyGrass (AB_HardyGrass)&#10;"/>
          <p:cNvPicPr>
            <a:picLocks noChangeAspect="1"/>
          </p:cNvPicPr>
          <p:nvPr/>
        </p:nvPicPr>
        <p:blipFill>
          <a:blip r:embed="rId13"/>
          <a:stretch>
            <a:fillRect/>
          </a:stretch>
        </p:blipFill>
        <p:spPr>
          <a:xfrm>
            <a:off x="274320" y="3822191"/>
            <a:ext cx="548639" cy="548639"/>
          </a:xfrm>
          <a:prstGeom prst="rect">
            <a:avLst/>
          </a:prstGeom>
        </p:spPr>
      </p:pic>
      <p:sp>
        <p:nvSpPr>
          <p:cNvPr id="39" name="TextBox 38"/>
          <p:cNvSpPr txBox="1"/>
          <p:nvPr/>
        </p:nvSpPr>
        <p:spPr>
          <a:xfrm>
            <a:off x="274320" y="4379975"/>
            <a:ext cx="640080" cy="146304"/>
          </a:xfrm>
          <a:prstGeom prst="rect">
            <a:avLst/>
          </a:prstGeom>
          <a:noFill/>
        </p:spPr>
        <p:txBody>
          <a:bodyPr wrap="none">
            <a:spAutoFit/>
          </a:bodyPr>
          <a:lstStyle/>
          <a:p>
            <a:pPr algn="ctr"/>
            <a:r>
              <a:rPr sz="600">
                <a:solidFill>
                  <a:srgbClr val="B9A488"/>
                </a:solidFill>
              </a:rPr>
              <a:t>AB_HardyGrass</a:t>
            </a:r>
          </a:p>
        </p:txBody>
      </p:sp>
      <p:sp>
        <p:nvSpPr>
          <p:cNvPr id="40" name="GRimMoss" descr="GRimMoss (GRimMoss)&#10;&#10;[no cached sprite]"/>
          <p:cNvSpPr/>
          <p:nvPr/>
        </p:nvSpPr>
        <p:spPr>
          <a:xfrm>
            <a:off x="950975"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GRimMoss</a:t>
            </a:r>
          </a:p>
        </p:txBody>
      </p:sp>
      <p:sp>
        <p:nvSpPr>
          <p:cNvPr id="41" name="TextBox 40"/>
          <p:cNvSpPr txBox="1"/>
          <p:nvPr/>
        </p:nvSpPr>
        <p:spPr>
          <a:xfrm>
            <a:off x="950975" y="4379975"/>
            <a:ext cx="640080" cy="146304"/>
          </a:xfrm>
          <a:prstGeom prst="rect">
            <a:avLst/>
          </a:prstGeom>
          <a:noFill/>
        </p:spPr>
        <p:txBody>
          <a:bodyPr wrap="none">
            <a:spAutoFit/>
          </a:bodyPr>
          <a:lstStyle/>
          <a:p>
            <a:pPr algn="ctr"/>
            <a:r>
              <a:rPr sz="600">
                <a:solidFill>
                  <a:srgbClr val="B9A488"/>
                </a:solidFill>
              </a:rPr>
              <a:t>GRimMoss</a:t>
            </a:r>
          </a:p>
        </p:txBody>
      </p:sp>
      <p:pic>
        <p:nvPicPr>
          <p:cNvPr id="42" name="BMT_Plant_TwistingThorngrass" descr="BMT_Plant_TwistingThorngrass (BMT_Plant_TwistingThorngrass)&#10;"/>
          <p:cNvPicPr>
            <a:picLocks noChangeAspect="1"/>
          </p:cNvPicPr>
          <p:nvPr/>
        </p:nvPicPr>
        <p:blipFill>
          <a:blip r:embed="rId14"/>
          <a:stretch>
            <a:fillRect/>
          </a:stretch>
        </p:blipFill>
        <p:spPr>
          <a:xfrm>
            <a:off x="1627631" y="3822191"/>
            <a:ext cx="548639" cy="548639"/>
          </a:xfrm>
          <a:prstGeom prst="rect">
            <a:avLst/>
          </a:prstGeom>
        </p:spPr>
      </p:pic>
      <p:sp>
        <p:nvSpPr>
          <p:cNvPr id="43" name="TextBox 42"/>
          <p:cNvSpPr txBox="1"/>
          <p:nvPr/>
        </p:nvSpPr>
        <p:spPr>
          <a:xfrm>
            <a:off x="1627631" y="4379975"/>
            <a:ext cx="640080" cy="146304"/>
          </a:xfrm>
          <a:prstGeom prst="rect">
            <a:avLst/>
          </a:prstGeom>
          <a:noFill/>
        </p:spPr>
        <p:txBody>
          <a:bodyPr wrap="none">
            <a:spAutoFit/>
          </a:bodyPr>
          <a:lstStyle/>
          <a:p>
            <a:pPr algn="ctr"/>
            <a:r>
              <a:rPr sz="600">
                <a:solidFill>
                  <a:srgbClr val="B9A488"/>
                </a:solidFill>
              </a:rPr>
              <a:t>BMT_Plant_Twisti</a:t>
            </a:r>
          </a:p>
        </p:txBody>
      </p:sp>
      <p:sp>
        <p:nvSpPr>
          <p:cNvPr id="44" name="AB_GargantuanLithops" descr="AB_GargantuanLithops (AB_GargantuanLithops)&#10;&#10;[no cached sprite]"/>
          <p:cNvSpPr/>
          <p:nvPr/>
        </p:nvSpPr>
        <p:spPr>
          <a:xfrm>
            <a:off x="2304287"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AB_GargantuanLithops</a:t>
            </a:r>
          </a:p>
        </p:txBody>
      </p:sp>
      <p:sp>
        <p:nvSpPr>
          <p:cNvPr id="45" name="TextBox 44"/>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AB_GargantuanLit</a:t>
            </a:r>
          </a:p>
        </p:txBody>
      </p:sp>
      <p:pic>
        <p:nvPicPr>
          <p:cNvPr id="46" name="BMT_Plant_TwistingThornweed" descr="BMT_Plant_TwistingThornweed (BMT_Plant_TwistingThornweed)&#10;"/>
          <p:cNvPicPr>
            <a:picLocks noChangeAspect="1"/>
          </p:cNvPicPr>
          <p:nvPr/>
        </p:nvPicPr>
        <p:blipFill>
          <a:blip r:embed="rId15"/>
          <a:stretch>
            <a:fillRect/>
          </a:stretch>
        </p:blipFill>
        <p:spPr>
          <a:xfrm>
            <a:off x="2980943" y="3822191"/>
            <a:ext cx="548639" cy="548639"/>
          </a:xfrm>
          <a:prstGeom prst="rect">
            <a:avLst/>
          </a:prstGeom>
        </p:spPr>
      </p:pic>
      <p:sp>
        <p:nvSpPr>
          <p:cNvPr id="47" name="TextBox 46"/>
          <p:cNvSpPr txBox="1"/>
          <p:nvPr/>
        </p:nvSpPr>
        <p:spPr>
          <a:xfrm>
            <a:off x="2980943" y="4379975"/>
            <a:ext cx="640080" cy="146304"/>
          </a:xfrm>
          <a:prstGeom prst="rect">
            <a:avLst/>
          </a:prstGeom>
          <a:noFill/>
        </p:spPr>
        <p:txBody>
          <a:bodyPr wrap="none">
            <a:spAutoFit/>
          </a:bodyPr>
          <a:lstStyle/>
          <a:p>
            <a:pPr algn="ctr"/>
            <a:r>
              <a:rPr sz="600">
                <a:solidFill>
                  <a:srgbClr val="B9A488"/>
                </a:solidFill>
              </a:rPr>
              <a:t>BMT_Plant_Twisti</a:t>
            </a:r>
          </a:p>
        </p:txBody>
      </p:sp>
      <p:pic>
        <p:nvPicPr>
          <p:cNvPr id="48" name="BMT_Plant_TreeTwistingThornwood" descr="BMT_Plant_TreeTwistingThornwood (BMT_Plant_TreeTwistingThornwood)&#10;"/>
          <p:cNvPicPr>
            <a:picLocks noChangeAspect="1"/>
          </p:cNvPicPr>
          <p:nvPr/>
        </p:nvPicPr>
        <p:blipFill>
          <a:blip r:embed="rId16"/>
          <a:stretch>
            <a:fillRect/>
          </a:stretch>
        </p:blipFill>
        <p:spPr>
          <a:xfrm>
            <a:off x="3657599" y="3822191"/>
            <a:ext cx="548639" cy="548639"/>
          </a:xfrm>
          <a:prstGeom prst="rect">
            <a:avLst/>
          </a:prstGeom>
        </p:spPr>
      </p:pic>
      <p:sp>
        <p:nvSpPr>
          <p:cNvPr id="49" name="TextBox 48"/>
          <p:cNvSpPr txBox="1"/>
          <p:nvPr/>
        </p:nvSpPr>
        <p:spPr>
          <a:xfrm>
            <a:off x="3657599" y="4379975"/>
            <a:ext cx="640080" cy="146304"/>
          </a:xfrm>
          <a:prstGeom prst="rect">
            <a:avLst/>
          </a:prstGeom>
          <a:noFill/>
        </p:spPr>
        <p:txBody>
          <a:bodyPr wrap="none">
            <a:spAutoFit/>
          </a:bodyPr>
          <a:lstStyle/>
          <a:p>
            <a:pPr algn="ctr"/>
            <a:r>
              <a:rPr sz="600">
                <a:solidFill>
                  <a:srgbClr val="B9A488"/>
                </a:solidFill>
              </a:rPr>
              <a:t>BMT_Plant_TreeTw</a:t>
            </a:r>
          </a:p>
        </p:txBody>
      </p:sp>
      <p:sp>
        <p:nvSpPr>
          <p:cNvPr id="50" name="TextBox 49"/>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`ZBiome_Badlands` (More Vanilla Biomes, Zylleon — a deliberately thin vanilla-friendly donor: "rocky, dry and desolate… little life"; its only contribution is the shape). **The biome's name is THE CRACKED LANDS** (owner's pick — "otherwise it sounds like drugs"). Thematic handle: **the flood** — and its image: **a thin line of green hiding in the shade, right next to the razor's edge of barren nothingness in the open sun.**_ 🔑 **Read against `desert.md`** (the rung below: the shade economy of a sun at 14°) and `the_contagion.md` (the rung above, literally: the peaks that rain). The dryland ladder now reads ExtremeDesert 47° → **Cracked Lands 21°** → Desert 14° → Shrubland 9° → Wasteland −10°.</a:t>
            </a:r>
          </a:p>
        </p:txBody>
      </p:sp>
      <p:sp>
        <p:nvSpPr>
          <p:cNvPr id="51" name="TextBox 50"/>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BMT_SandPillar, DA_RockTroll. Flier extracted: Convor.
1. Clean wave. RockTroll/SandPillar fit the stone register; ban 4 (no flier nests) satisfied by Convor's extraction. Woolamander/Gornt icons protected.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dune_sea + deep_desert</a:t>
            </a:r>
            <a:r>
              <a:rPr sz="1100">
                <a:solidFill>
                  <a:srgbClr val="B9A488"/>
                </a:solidFill>
              </a:rPr>
              <a:t>   13 animals · 2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greater krayt dragon" descr="greater krayt dragon (GreaterKraytDragon)&#10;drawSize 15.0 · assigned here · art:improve"/>
          <p:cNvPicPr>
            <a:picLocks noChangeAspect="1"/>
          </p:cNvPicPr>
          <p:nvPr/>
        </p:nvPicPr>
        <p:blipFill>
          <a:blip r:embed="rId2"/>
          <a:stretch>
            <a:fillRect/>
          </a:stretch>
        </p:blipFill>
        <p:spPr>
          <a:xfrm>
            <a:off x="274320" y="932688"/>
            <a:ext cx="1450276" cy="1450276"/>
          </a:xfrm>
          <a:prstGeom prst="rect">
            <a:avLst/>
          </a:prstGeom>
        </p:spPr>
      </p:pic>
      <p:sp>
        <p:nvSpPr>
          <p:cNvPr id="5" name="Oval 4"/>
          <p:cNvSpPr/>
          <p:nvPr/>
        </p:nvSpPr>
        <p:spPr>
          <a:xfrm>
            <a:off x="1642300"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392108"/>
            <a:ext cx="1450276" cy="146304"/>
          </a:xfrm>
          <a:prstGeom prst="rect">
            <a:avLst/>
          </a:prstGeom>
          <a:noFill/>
        </p:spPr>
        <p:txBody>
          <a:bodyPr wrap="none">
            <a:spAutoFit/>
          </a:bodyPr>
          <a:lstStyle/>
          <a:p>
            <a:pPr algn="ctr"/>
            <a:r>
              <a:rPr sz="600">
                <a:solidFill>
                  <a:srgbClr val="B9A488"/>
                </a:solidFill>
              </a:rPr>
              <a:t>greater krayt dr</a:t>
            </a:r>
          </a:p>
        </p:txBody>
      </p:sp>
      <p:pic>
        <p:nvPicPr>
          <p:cNvPr id="7" name="war wyrm" descr="war wyrm (WarWyrm)&#10;drawSize 15.0 · assigned here · art:keep"/>
          <p:cNvPicPr>
            <a:picLocks noChangeAspect="1"/>
          </p:cNvPicPr>
          <p:nvPr/>
        </p:nvPicPr>
        <p:blipFill>
          <a:blip r:embed="rId3"/>
          <a:stretch>
            <a:fillRect/>
          </a:stretch>
        </p:blipFill>
        <p:spPr>
          <a:xfrm>
            <a:off x="1852612" y="932688"/>
            <a:ext cx="1450276" cy="1450276"/>
          </a:xfrm>
          <a:prstGeom prst="rect">
            <a:avLst/>
          </a:prstGeom>
        </p:spPr>
      </p:pic>
      <p:sp>
        <p:nvSpPr>
          <p:cNvPr id="8" name="Oval 7"/>
          <p:cNvSpPr/>
          <p:nvPr/>
        </p:nvSpPr>
        <p:spPr>
          <a:xfrm>
            <a:off x="3220592"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52612" y="2392108"/>
            <a:ext cx="1450276" cy="146304"/>
          </a:xfrm>
          <a:prstGeom prst="rect">
            <a:avLst/>
          </a:prstGeom>
          <a:noFill/>
        </p:spPr>
        <p:txBody>
          <a:bodyPr wrap="none">
            <a:spAutoFit/>
          </a:bodyPr>
          <a:lstStyle/>
          <a:p>
            <a:pPr algn="ctr"/>
            <a:r>
              <a:rPr sz="600">
                <a:solidFill>
                  <a:srgbClr val="B9A488"/>
                </a:solidFill>
              </a:rPr>
              <a:t>war wyrm</a:t>
            </a:r>
          </a:p>
        </p:txBody>
      </p:sp>
      <p:pic>
        <p:nvPicPr>
          <p:cNvPr id="10" name="krayt dragon" descr="krayt dragon (KraytDragon)&#10;drawSize 12.0 · assigned here · art:keep"/>
          <p:cNvPicPr>
            <a:picLocks noChangeAspect="1"/>
          </p:cNvPicPr>
          <p:nvPr/>
        </p:nvPicPr>
        <p:blipFill>
          <a:blip r:embed="rId4"/>
          <a:stretch>
            <a:fillRect/>
          </a:stretch>
        </p:blipFill>
        <p:spPr>
          <a:xfrm>
            <a:off x="3430904" y="932688"/>
            <a:ext cx="1450276" cy="1450276"/>
          </a:xfrm>
          <a:prstGeom prst="rect">
            <a:avLst/>
          </a:prstGeom>
        </p:spPr>
      </p:pic>
      <p:sp>
        <p:nvSpPr>
          <p:cNvPr id="11" name="Oval 10"/>
          <p:cNvSpPr/>
          <p:nvPr/>
        </p:nvSpPr>
        <p:spPr>
          <a:xfrm>
            <a:off x="479888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30904" y="2392108"/>
            <a:ext cx="1450276" cy="146304"/>
          </a:xfrm>
          <a:prstGeom prst="rect">
            <a:avLst/>
          </a:prstGeom>
          <a:noFill/>
        </p:spPr>
        <p:txBody>
          <a:bodyPr wrap="none">
            <a:spAutoFit/>
          </a:bodyPr>
          <a:lstStyle/>
          <a:p>
            <a:pPr algn="ctr"/>
            <a:r>
              <a:rPr sz="600">
                <a:solidFill>
                  <a:srgbClr val="B9A488"/>
                </a:solidFill>
              </a:rPr>
              <a:t>krayt dragon</a:t>
            </a:r>
          </a:p>
        </p:txBody>
      </p:sp>
      <p:pic>
        <p:nvPicPr>
          <p:cNvPr id="13" name="tetra slug" descr="tetra slug (AA_TetraSlug)&#10;drawSize 5.0 · assigned here · art:keep"/>
          <p:cNvPicPr>
            <a:picLocks noChangeAspect="1"/>
          </p:cNvPicPr>
          <p:nvPr/>
        </p:nvPicPr>
        <p:blipFill>
          <a:blip r:embed="rId5"/>
          <a:stretch>
            <a:fillRect/>
          </a:stretch>
        </p:blipFill>
        <p:spPr>
          <a:xfrm>
            <a:off x="5009196" y="932688"/>
            <a:ext cx="1450276" cy="1450276"/>
          </a:xfrm>
          <a:prstGeom prst="rect">
            <a:avLst/>
          </a:prstGeom>
        </p:spPr>
      </p:pic>
      <p:sp>
        <p:nvSpPr>
          <p:cNvPr id="14" name="Oval 13"/>
          <p:cNvSpPr/>
          <p:nvPr/>
        </p:nvSpPr>
        <p:spPr>
          <a:xfrm>
            <a:off x="6377177"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09196" y="2392108"/>
            <a:ext cx="1450276" cy="146304"/>
          </a:xfrm>
          <a:prstGeom prst="rect">
            <a:avLst/>
          </a:prstGeom>
          <a:noFill/>
        </p:spPr>
        <p:txBody>
          <a:bodyPr wrap="none">
            <a:spAutoFit/>
          </a:bodyPr>
          <a:lstStyle/>
          <a:p>
            <a:pPr algn="ctr"/>
            <a:r>
              <a:rPr sz="600">
                <a:solidFill>
                  <a:srgbClr val="B9A488"/>
                </a:solidFill>
              </a:rPr>
              <a:t>tetra slug</a:t>
            </a:r>
          </a:p>
        </p:txBody>
      </p:sp>
      <p:pic>
        <p:nvPicPr>
          <p:cNvPr id="16" name="bouldermit" descr="bouldermit (AA_BoulderMit)&#10;drawSize 4.0 · assigned here · art:keep"/>
          <p:cNvPicPr>
            <a:picLocks noChangeAspect="1"/>
          </p:cNvPicPr>
          <p:nvPr/>
        </p:nvPicPr>
        <p:blipFill>
          <a:blip r:embed="rId6"/>
          <a:stretch>
            <a:fillRect/>
          </a:stretch>
        </p:blipFill>
        <p:spPr>
          <a:xfrm>
            <a:off x="6587489" y="932688"/>
            <a:ext cx="1450276" cy="1450276"/>
          </a:xfrm>
          <a:prstGeom prst="rect">
            <a:avLst/>
          </a:prstGeom>
        </p:spPr>
      </p:pic>
      <p:sp>
        <p:nvSpPr>
          <p:cNvPr id="17" name="Oval 16"/>
          <p:cNvSpPr/>
          <p:nvPr/>
        </p:nvSpPr>
        <p:spPr>
          <a:xfrm>
            <a:off x="7955469"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7489" y="2392108"/>
            <a:ext cx="1450276" cy="146304"/>
          </a:xfrm>
          <a:prstGeom prst="rect">
            <a:avLst/>
          </a:prstGeom>
          <a:noFill/>
        </p:spPr>
        <p:txBody>
          <a:bodyPr wrap="none">
            <a:spAutoFit/>
          </a:bodyPr>
          <a:lstStyle/>
          <a:p>
            <a:pPr algn="ctr"/>
            <a:r>
              <a:rPr sz="600">
                <a:solidFill>
                  <a:srgbClr val="B9A488"/>
                </a:solidFill>
              </a:rPr>
              <a:t>bouldermit</a:t>
            </a:r>
          </a:p>
        </p:txBody>
      </p:sp>
      <p:pic>
        <p:nvPicPr>
          <p:cNvPr id="19" name="spined gow" descr="spined gow (AA_SpinedGow)&#10;drawSize 2.75 · moved in from the_scarlands · art:improve&#10;“extreme desert”"/>
          <p:cNvPicPr>
            <a:picLocks noChangeAspect="1"/>
          </p:cNvPicPr>
          <p:nvPr/>
        </p:nvPicPr>
        <p:blipFill>
          <a:blip r:embed="rId7"/>
          <a:stretch>
            <a:fillRect/>
          </a:stretch>
        </p:blipFill>
        <p:spPr>
          <a:xfrm>
            <a:off x="8165781" y="1352663"/>
            <a:ext cx="1030300" cy="1030300"/>
          </a:xfrm>
          <a:prstGeom prst="rect">
            <a:avLst/>
          </a:prstGeom>
        </p:spPr>
      </p:pic>
      <p:sp>
        <p:nvSpPr>
          <p:cNvPr id="20" name="Oval 19"/>
          <p:cNvSpPr/>
          <p:nvPr/>
        </p:nvSpPr>
        <p:spPr>
          <a:xfrm>
            <a:off x="9113785" y="1334375"/>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65781" y="2392108"/>
            <a:ext cx="1030300" cy="146304"/>
          </a:xfrm>
          <a:prstGeom prst="rect">
            <a:avLst/>
          </a:prstGeom>
          <a:noFill/>
        </p:spPr>
        <p:txBody>
          <a:bodyPr wrap="none">
            <a:spAutoFit/>
          </a:bodyPr>
          <a:lstStyle/>
          <a:p>
            <a:pPr algn="ctr"/>
            <a:r>
              <a:rPr sz="600">
                <a:solidFill>
                  <a:srgbClr val="B9A488"/>
                </a:solidFill>
              </a:rPr>
              <a:t>spined gow</a:t>
            </a:r>
          </a:p>
        </p:txBody>
      </p:sp>
      <p:pic>
        <p:nvPicPr>
          <p:cNvPr id="22" name="dunealisk" descr="dunealisk (AA_Dunealisk)&#10;drawSize 2.0 · assigned here · art:keep"/>
          <p:cNvPicPr>
            <a:picLocks noChangeAspect="1"/>
          </p:cNvPicPr>
          <p:nvPr/>
        </p:nvPicPr>
        <p:blipFill>
          <a:blip r:embed="rId8"/>
          <a:stretch>
            <a:fillRect/>
          </a:stretch>
        </p:blipFill>
        <p:spPr>
          <a:xfrm>
            <a:off x="9324097" y="1633654"/>
            <a:ext cx="749309" cy="749309"/>
          </a:xfrm>
          <a:prstGeom prst="rect">
            <a:avLst/>
          </a:prstGeom>
        </p:spPr>
      </p:pic>
      <p:sp>
        <p:nvSpPr>
          <p:cNvPr id="23" name="Oval 22"/>
          <p:cNvSpPr/>
          <p:nvPr/>
        </p:nvSpPr>
        <p:spPr>
          <a:xfrm>
            <a:off x="9991111" y="161536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4097" y="2392108"/>
            <a:ext cx="749309" cy="146304"/>
          </a:xfrm>
          <a:prstGeom prst="rect">
            <a:avLst/>
          </a:prstGeom>
          <a:noFill/>
        </p:spPr>
        <p:txBody>
          <a:bodyPr wrap="none">
            <a:spAutoFit/>
          </a:bodyPr>
          <a:lstStyle/>
          <a:p>
            <a:pPr algn="ctr"/>
            <a:r>
              <a:rPr sz="600">
                <a:solidFill>
                  <a:srgbClr val="B9A488"/>
                </a:solidFill>
              </a:rPr>
              <a:t>dunealisk</a:t>
            </a:r>
          </a:p>
        </p:txBody>
      </p:sp>
      <p:pic>
        <p:nvPicPr>
          <p:cNvPr id="25" name="ikee" descr="ikee (AA_Eyeling)&#10;drawSize 0.4000000059604645 · assigned here · art:keep"/>
          <p:cNvPicPr>
            <a:picLocks noChangeAspect="1"/>
          </p:cNvPicPr>
          <p:nvPr/>
        </p:nvPicPr>
        <p:blipFill>
          <a:blip r:embed="rId9"/>
          <a:stretch>
            <a:fillRect/>
          </a:stretch>
        </p:blipFill>
        <p:spPr>
          <a:xfrm>
            <a:off x="10201423" y="2189594"/>
            <a:ext cx="193370" cy="193370"/>
          </a:xfrm>
          <a:prstGeom prst="rect">
            <a:avLst/>
          </a:prstGeom>
        </p:spPr>
      </p:pic>
      <p:sp>
        <p:nvSpPr>
          <p:cNvPr id="26" name="Oval 25"/>
          <p:cNvSpPr/>
          <p:nvPr/>
        </p:nvSpPr>
        <p:spPr>
          <a:xfrm>
            <a:off x="10312497" y="217130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01423" y="2392108"/>
            <a:ext cx="640080" cy="146304"/>
          </a:xfrm>
          <a:prstGeom prst="rect">
            <a:avLst/>
          </a:prstGeom>
          <a:noFill/>
        </p:spPr>
        <p:txBody>
          <a:bodyPr wrap="none">
            <a:spAutoFit/>
          </a:bodyPr>
          <a:lstStyle/>
          <a:p>
            <a:pPr algn="ctr"/>
            <a:r>
              <a:rPr sz="600">
                <a:solidFill>
                  <a:srgbClr val="B9A488"/>
                </a:solidFill>
              </a:rPr>
              <a:t>ikee</a:t>
            </a:r>
          </a:p>
        </p:txBody>
      </p:sp>
      <p:pic>
        <p:nvPicPr>
          <p:cNvPr id="28" name="granite slug" descr="granite slug (GraniteSlug)&#10;drawSize 0.20000000298023224 · assigned here · art:keep"/>
          <p:cNvPicPr>
            <a:picLocks noChangeAspect="1"/>
          </p:cNvPicPr>
          <p:nvPr/>
        </p:nvPicPr>
        <p:blipFill>
          <a:blip r:embed="rId10"/>
          <a:stretch>
            <a:fillRect/>
          </a:stretch>
        </p:blipFill>
        <p:spPr>
          <a:xfrm>
            <a:off x="10522809" y="2189594"/>
            <a:ext cx="193370" cy="193370"/>
          </a:xfrm>
          <a:prstGeom prst="rect">
            <a:avLst/>
          </a:prstGeom>
        </p:spPr>
      </p:pic>
      <p:sp>
        <p:nvSpPr>
          <p:cNvPr id="29" name="Oval 28"/>
          <p:cNvSpPr/>
          <p:nvPr/>
        </p:nvSpPr>
        <p:spPr>
          <a:xfrm>
            <a:off x="10633883" y="217130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22809" y="2392108"/>
            <a:ext cx="640080" cy="146304"/>
          </a:xfrm>
          <a:prstGeom prst="rect">
            <a:avLst/>
          </a:prstGeom>
          <a:noFill/>
        </p:spPr>
        <p:txBody>
          <a:bodyPr wrap="none">
            <a:spAutoFit/>
          </a:bodyPr>
          <a:lstStyle/>
          <a:p>
            <a:pPr algn="ctr"/>
            <a:r>
              <a:rPr sz="600">
                <a:solidFill>
                  <a:srgbClr val="B9A488"/>
                </a:solidFill>
              </a:rPr>
              <a:t>granite slug</a:t>
            </a:r>
          </a:p>
        </p:txBody>
      </p:sp>
      <p:pic>
        <p:nvPicPr>
          <p:cNvPr id="31" name="kreetle" descr="kreetle (Kreetle)&#10;drawSize 0.20000000298023224 · assigned here · art:keep&#10;“arid type only”"/>
          <p:cNvPicPr>
            <a:picLocks noChangeAspect="1"/>
          </p:cNvPicPr>
          <p:nvPr/>
        </p:nvPicPr>
        <p:blipFill>
          <a:blip r:embed="rId11"/>
          <a:stretch>
            <a:fillRect/>
          </a:stretch>
        </p:blipFill>
        <p:spPr>
          <a:xfrm>
            <a:off x="10844195" y="2189594"/>
            <a:ext cx="193370" cy="193370"/>
          </a:xfrm>
          <a:prstGeom prst="rect">
            <a:avLst/>
          </a:prstGeom>
        </p:spPr>
      </p:pic>
      <p:sp>
        <p:nvSpPr>
          <p:cNvPr id="32" name="Oval 31"/>
          <p:cNvSpPr/>
          <p:nvPr/>
        </p:nvSpPr>
        <p:spPr>
          <a:xfrm>
            <a:off x="10955269" y="217130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44195" y="2392108"/>
            <a:ext cx="640080" cy="146304"/>
          </a:xfrm>
          <a:prstGeom prst="rect">
            <a:avLst/>
          </a:prstGeom>
          <a:noFill/>
        </p:spPr>
        <p:txBody>
          <a:bodyPr wrap="none">
            <a:spAutoFit/>
          </a:bodyPr>
          <a:lstStyle/>
          <a:p>
            <a:pPr algn="ctr"/>
            <a:r>
              <a:rPr sz="600">
                <a:solidFill>
                  <a:srgbClr val="B9A488"/>
                </a:solidFill>
              </a:rPr>
              <a:t>kreetle</a:t>
            </a:r>
          </a:p>
        </p:txBody>
      </p:sp>
      <p:pic>
        <p:nvPicPr>
          <p:cNvPr id="34" name="scurrier" descr="scurrier (Scurrier)&#10;drawSize 0.20000000298023224 · assigned here · art:keep"/>
          <p:cNvPicPr>
            <a:picLocks noChangeAspect="1"/>
          </p:cNvPicPr>
          <p:nvPr/>
        </p:nvPicPr>
        <p:blipFill>
          <a:blip r:embed="rId12"/>
          <a:stretch>
            <a:fillRect/>
          </a:stretch>
        </p:blipFill>
        <p:spPr>
          <a:xfrm>
            <a:off x="11165581" y="2189594"/>
            <a:ext cx="193370" cy="193370"/>
          </a:xfrm>
          <a:prstGeom prst="rect">
            <a:avLst/>
          </a:prstGeom>
        </p:spPr>
      </p:pic>
      <p:sp>
        <p:nvSpPr>
          <p:cNvPr id="35" name="Oval 34"/>
          <p:cNvSpPr/>
          <p:nvPr/>
        </p:nvSpPr>
        <p:spPr>
          <a:xfrm>
            <a:off x="11276656" y="217130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165581" y="2392108"/>
            <a:ext cx="640080" cy="146304"/>
          </a:xfrm>
          <a:prstGeom prst="rect">
            <a:avLst/>
          </a:prstGeom>
          <a:noFill/>
        </p:spPr>
        <p:txBody>
          <a:bodyPr wrap="none">
            <a:spAutoFit/>
          </a:bodyPr>
          <a:lstStyle/>
          <a:p>
            <a:pPr algn="ctr"/>
            <a:r>
              <a:rPr sz="600">
                <a:solidFill>
                  <a:srgbClr val="B9A488"/>
                </a:solidFill>
              </a:rPr>
              <a:t>scurrier</a:t>
            </a:r>
          </a:p>
        </p:txBody>
      </p:sp>
      <p:pic>
        <p:nvPicPr>
          <p:cNvPr id="37" name="gizka" descr="gizka (Gizka)&#10;drawSize 0.18000000715255737 · assigned here · art:keep&#10;“not here”"/>
          <p:cNvPicPr>
            <a:picLocks noChangeAspect="1"/>
          </p:cNvPicPr>
          <p:nvPr/>
        </p:nvPicPr>
        <p:blipFill>
          <a:blip r:embed="rId13"/>
          <a:stretch>
            <a:fillRect/>
          </a:stretch>
        </p:blipFill>
        <p:spPr>
          <a:xfrm>
            <a:off x="11486968" y="2189594"/>
            <a:ext cx="193370" cy="193370"/>
          </a:xfrm>
          <a:prstGeom prst="rect">
            <a:avLst/>
          </a:prstGeom>
        </p:spPr>
      </p:pic>
      <p:sp>
        <p:nvSpPr>
          <p:cNvPr id="38" name="Oval 37"/>
          <p:cNvSpPr/>
          <p:nvPr/>
        </p:nvSpPr>
        <p:spPr>
          <a:xfrm>
            <a:off x="11598042" y="217130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86968" y="2392108"/>
            <a:ext cx="640080" cy="146304"/>
          </a:xfrm>
          <a:prstGeom prst="rect">
            <a:avLst/>
          </a:prstGeom>
          <a:noFill/>
        </p:spPr>
        <p:txBody>
          <a:bodyPr wrap="none">
            <a:spAutoFit/>
          </a:bodyPr>
          <a:lstStyle/>
          <a:p>
            <a:pPr algn="ctr"/>
            <a:r>
              <a:rPr sz="600">
                <a:solidFill>
                  <a:srgbClr val="B9A488"/>
                </a:solidFill>
              </a:rPr>
              <a:t>gizka</a:t>
            </a:r>
          </a:p>
        </p:txBody>
      </p:sp>
      <p:pic>
        <p:nvPicPr>
          <p:cNvPr id="40" name="needleroll" descr="needleroll (AA_Needleroll)&#10;drawSize 0.15000000596046448 · assigned here · art:keep"/>
          <p:cNvPicPr>
            <a:picLocks noChangeAspect="1"/>
          </p:cNvPicPr>
          <p:nvPr/>
        </p:nvPicPr>
        <p:blipFill>
          <a:blip r:embed="rId14"/>
          <a:stretch>
            <a:fillRect/>
          </a:stretch>
        </p:blipFill>
        <p:spPr>
          <a:xfrm>
            <a:off x="274320" y="2620708"/>
            <a:ext cx="193370" cy="193370"/>
          </a:xfrm>
          <a:prstGeom prst="rect">
            <a:avLst/>
          </a:prstGeom>
        </p:spPr>
      </p:pic>
      <p:sp>
        <p:nvSpPr>
          <p:cNvPr id="41" name="Oval 40"/>
          <p:cNvSpPr/>
          <p:nvPr/>
        </p:nvSpPr>
        <p:spPr>
          <a:xfrm>
            <a:off x="385394" y="260242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2823222"/>
            <a:ext cx="640080" cy="146304"/>
          </a:xfrm>
          <a:prstGeom prst="rect">
            <a:avLst/>
          </a:prstGeom>
          <a:noFill/>
        </p:spPr>
        <p:txBody>
          <a:bodyPr wrap="none">
            <a:spAutoFit/>
          </a:bodyPr>
          <a:lstStyle/>
          <a:p>
            <a:pPr algn="ctr"/>
            <a:r>
              <a:rPr sz="600">
                <a:solidFill>
                  <a:srgbClr val="B9A488"/>
                </a:solidFill>
              </a:rPr>
              <a:t>needleroll</a:t>
            </a:r>
          </a:p>
        </p:txBody>
      </p:sp>
      <p:sp>
        <p:nvSpPr>
          <p:cNvPr id="43" name="TextBox 42"/>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44" name="Plant_Bloddle" descr="Plant_Bloddle (Plant_Bloddle)&#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Plant_Bloddle</a:t>
            </a:r>
          </a:p>
        </p:txBody>
      </p:sp>
      <p:sp>
        <p:nvSpPr>
          <p:cNvPr id="45" name="TextBox 44"/>
          <p:cNvSpPr txBox="1"/>
          <p:nvPr/>
        </p:nvSpPr>
        <p:spPr>
          <a:xfrm>
            <a:off x="274320" y="4379975"/>
            <a:ext cx="640080" cy="146304"/>
          </a:xfrm>
          <a:prstGeom prst="rect">
            <a:avLst/>
          </a:prstGeom>
          <a:noFill/>
        </p:spPr>
        <p:txBody>
          <a:bodyPr wrap="none">
            <a:spAutoFit/>
          </a:bodyPr>
          <a:lstStyle/>
          <a:p>
            <a:pPr algn="ctr"/>
            <a:r>
              <a:rPr sz="600">
                <a:solidFill>
                  <a:srgbClr val="B9A488"/>
                </a:solidFill>
              </a:rPr>
              <a:t>Plant_Bloddle</a:t>
            </a:r>
          </a:p>
        </p:txBody>
      </p:sp>
      <p:pic>
        <p:nvPicPr>
          <p:cNvPr id="46" name="AB_GiantStikehr" descr="AB_GiantStikehr (AB_GiantStikehr)&#10;"/>
          <p:cNvPicPr>
            <a:picLocks noChangeAspect="1"/>
          </p:cNvPicPr>
          <p:nvPr/>
        </p:nvPicPr>
        <p:blipFill>
          <a:blip r:embed="rId15"/>
          <a:stretch>
            <a:fillRect/>
          </a:stretch>
        </p:blipFill>
        <p:spPr>
          <a:xfrm>
            <a:off x="950975" y="3822191"/>
            <a:ext cx="548639" cy="548639"/>
          </a:xfrm>
          <a:prstGeom prst="rect">
            <a:avLst/>
          </a:prstGeom>
        </p:spPr>
      </p:pic>
      <p:sp>
        <p:nvSpPr>
          <p:cNvPr id="47" name="TextBox 46"/>
          <p:cNvSpPr txBox="1"/>
          <p:nvPr/>
        </p:nvSpPr>
        <p:spPr>
          <a:xfrm>
            <a:off x="950975" y="4379975"/>
            <a:ext cx="640080" cy="146304"/>
          </a:xfrm>
          <a:prstGeom prst="rect">
            <a:avLst/>
          </a:prstGeom>
          <a:noFill/>
        </p:spPr>
        <p:txBody>
          <a:bodyPr wrap="none">
            <a:spAutoFit/>
          </a:bodyPr>
          <a:lstStyle/>
          <a:p>
            <a:pPr algn="ctr"/>
            <a:r>
              <a:rPr sz="600">
                <a:solidFill>
                  <a:srgbClr val="B9A488"/>
                </a:solidFill>
              </a:rPr>
              <a:t>AB_GiantStikehr</a:t>
            </a:r>
          </a:p>
        </p:txBody>
      </p:sp>
      <p:sp>
        <p:nvSpPr>
          <p:cNvPr id="48" name="TextBox 47"/>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_First pass, 2026-09-05, to the grammar in `README_BIOME_GRAMMAR.md`._ **The design problem this sheet had to solve:** the owner ruled that *emptiness is a texture* and that most of the dayside should be vast unbroken dune. So this sheet is forbidden the usual escape — it may not make the deep dayside interesting by putting things in it. It has to make the **absence** load-bearing. The way through is that the deep dayside is not merely hot and dry; it is the only place on Ash'karr where **time does not pass**. Nothing here has ever experienced a night, a dawn, a season, or a moving shadow. That single fact does more damage to biology than the heat does.</a:t>
            </a:r>
          </a:p>
        </p:txBody>
      </p:sp>
      <p:sp>
        <p:nvSpPr>
          <p:cNvPr id="49" name="TextBox 48"/>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(5, deduped across the combined sheets): AA_SpinedGow, AA_SandLion, BMT_TruffleMole (0.4 cells), JOE_Cephalope, GR_ParagonThrumbo ("Great Thrumbo", 7 sq, very rare).
INCONSISTENCIES:
1. Dune-sea ban: no medium fauna — giant or grain-scale only. SandLion, SpinedGow, Cephalope must land in a size bin that honors it; verify before deploy.
2. Sand-burrower niche now five deep (Dunealisk, SandLion, TruffleMole, Cephalope + Krayt ambush) — differentiate by depth/prey or thin.
3. "Recognizable giant is the worst offence" — Great Thrumbo is a renamed vanilla Thrumbo; its art must alienize, not just rename.
OPPORTUNITIES:
1. Great Thrumbo as the deep-desert white whale (very rare, very dangerous) fills the sheet's legend slot beside the Krayts.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weeping_stones</a:t>
            </a:r>
            <a:r>
              <a:rPr sz="1100">
                <a:solidFill>
                  <a:srgbClr val="B9A488"/>
                </a:solidFill>
              </a:rPr>
              <a:t>   10 animals · 4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bantha" descr="bantha (Bantha)&#10;drawSize 4.0 · assigned here · art:keep"/>
          <p:cNvPicPr>
            <a:picLocks noChangeAspect="1"/>
          </p:cNvPicPr>
          <p:nvPr/>
        </p:nvPicPr>
        <p:blipFill>
          <a:blip r:embed="rId2"/>
          <a:stretch>
            <a:fillRect/>
          </a:stretch>
        </p:blipFill>
        <p:spPr>
          <a:xfrm>
            <a:off x="274320" y="932688"/>
            <a:ext cx="2077973" cy="2077973"/>
          </a:xfrm>
          <a:prstGeom prst="rect">
            <a:avLst/>
          </a:prstGeom>
        </p:spPr>
      </p:pic>
      <p:sp>
        <p:nvSpPr>
          <p:cNvPr id="5" name="Oval 4"/>
          <p:cNvSpPr/>
          <p:nvPr/>
        </p:nvSpPr>
        <p:spPr>
          <a:xfrm>
            <a:off x="2269997"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019805"/>
            <a:ext cx="2077973" cy="146304"/>
          </a:xfrm>
          <a:prstGeom prst="rect">
            <a:avLst/>
          </a:prstGeom>
          <a:noFill/>
        </p:spPr>
        <p:txBody>
          <a:bodyPr wrap="none">
            <a:spAutoFit/>
          </a:bodyPr>
          <a:lstStyle/>
          <a:p>
            <a:pPr algn="ctr"/>
            <a:r>
              <a:rPr sz="600">
                <a:solidFill>
                  <a:srgbClr val="B9A488"/>
                </a:solidFill>
              </a:rPr>
              <a:t>bantha</a:t>
            </a:r>
          </a:p>
        </p:txBody>
      </p:sp>
      <p:pic>
        <p:nvPicPr>
          <p:cNvPr id="7" name="dactillion" descr="dactillion (Dactillion)&#10;drawSize 3.0 · assigned here · art:improve"/>
          <p:cNvPicPr>
            <a:picLocks noChangeAspect="1"/>
          </p:cNvPicPr>
          <p:nvPr/>
        </p:nvPicPr>
        <p:blipFill>
          <a:blip r:embed="rId3"/>
          <a:stretch>
            <a:fillRect/>
          </a:stretch>
        </p:blipFill>
        <p:spPr>
          <a:xfrm>
            <a:off x="2480309" y="1400232"/>
            <a:ext cx="1610429" cy="1610429"/>
          </a:xfrm>
          <a:prstGeom prst="rect">
            <a:avLst/>
          </a:prstGeom>
        </p:spPr>
      </p:pic>
      <p:sp>
        <p:nvSpPr>
          <p:cNvPr id="8" name="Oval 7"/>
          <p:cNvSpPr/>
          <p:nvPr/>
        </p:nvSpPr>
        <p:spPr>
          <a:xfrm>
            <a:off x="4008443" y="138194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80309" y="3019805"/>
            <a:ext cx="1610429" cy="146304"/>
          </a:xfrm>
          <a:prstGeom prst="rect">
            <a:avLst/>
          </a:prstGeom>
          <a:noFill/>
        </p:spPr>
        <p:txBody>
          <a:bodyPr wrap="none">
            <a:spAutoFit/>
          </a:bodyPr>
          <a:lstStyle/>
          <a:p>
            <a:pPr algn="ctr"/>
            <a:r>
              <a:rPr sz="600">
                <a:solidFill>
                  <a:srgbClr val="B9A488"/>
                </a:solidFill>
              </a:rPr>
              <a:t>dactillion</a:t>
            </a:r>
          </a:p>
        </p:txBody>
      </p:sp>
      <p:pic>
        <p:nvPicPr>
          <p:cNvPr id="10" name="dewback" descr="dewback (Dewback)&#10;drawSize 3.0 · assigned here · art:improve"/>
          <p:cNvPicPr>
            <a:picLocks noChangeAspect="1"/>
          </p:cNvPicPr>
          <p:nvPr/>
        </p:nvPicPr>
        <p:blipFill>
          <a:blip r:embed="rId4"/>
          <a:stretch>
            <a:fillRect/>
          </a:stretch>
        </p:blipFill>
        <p:spPr>
          <a:xfrm>
            <a:off x="4218755" y="1400232"/>
            <a:ext cx="1610429" cy="1610429"/>
          </a:xfrm>
          <a:prstGeom prst="rect">
            <a:avLst/>
          </a:prstGeom>
        </p:spPr>
      </p:pic>
      <p:sp>
        <p:nvSpPr>
          <p:cNvPr id="11" name="Oval 10"/>
          <p:cNvSpPr/>
          <p:nvPr/>
        </p:nvSpPr>
        <p:spPr>
          <a:xfrm>
            <a:off x="5746889" y="138194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8755" y="3019805"/>
            <a:ext cx="1610429" cy="146304"/>
          </a:xfrm>
          <a:prstGeom prst="rect">
            <a:avLst/>
          </a:prstGeom>
          <a:noFill/>
        </p:spPr>
        <p:txBody>
          <a:bodyPr wrap="none">
            <a:spAutoFit/>
          </a:bodyPr>
          <a:lstStyle/>
          <a:p>
            <a:pPr algn="ctr"/>
            <a:r>
              <a:rPr sz="600">
                <a:solidFill>
                  <a:srgbClr val="B9A488"/>
                </a:solidFill>
              </a:rPr>
              <a:t>dewback</a:t>
            </a:r>
          </a:p>
        </p:txBody>
      </p:sp>
      <p:pic>
        <p:nvPicPr>
          <p:cNvPr id="13" name="boma" descr="boma (Boma)&#10;drawSize 2.0 · assigned here · art:improve"/>
          <p:cNvPicPr>
            <a:picLocks noChangeAspect="1"/>
          </p:cNvPicPr>
          <p:nvPr/>
        </p:nvPicPr>
        <p:blipFill>
          <a:blip r:embed="rId5"/>
          <a:stretch>
            <a:fillRect/>
          </a:stretch>
        </p:blipFill>
        <p:spPr>
          <a:xfrm>
            <a:off x="5957201" y="1937042"/>
            <a:ext cx="1073619" cy="1073619"/>
          </a:xfrm>
          <a:prstGeom prst="rect">
            <a:avLst/>
          </a:prstGeom>
        </p:spPr>
      </p:pic>
      <p:sp>
        <p:nvSpPr>
          <p:cNvPr id="14" name="Oval 13"/>
          <p:cNvSpPr/>
          <p:nvPr/>
        </p:nvSpPr>
        <p:spPr>
          <a:xfrm>
            <a:off x="6948525" y="191875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57201" y="3019805"/>
            <a:ext cx="1073619" cy="146304"/>
          </a:xfrm>
          <a:prstGeom prst="rect">
            <a:avLst/>
          </a:prstGeom>
          <a:noFill/>
        </p:spPr>
        <p:txBody>
          <a:bodyPr wrap="none">
            <a:spAutoFit/>
          </a:bodyPr>
          <a:lstStyle/>
          <a:p>
            <a:pPr algn="ctr"/>
            <a:r>
              <a:rPr sz="600">
                <a:solidFill>
                  <a:srgbClr val="B9A488"/>
                </a:solidFill>
              </a:rPr>
              <a:t>boma</a:t>
            </a:r>
          </a:p>
        </p:txBody>
      </p:sp>
      <p:pic>
        <p:nvPicPr>
          <p:cNvPr id="16" name="fanback" descr="fanback (Fanback)&#10;drawSize 2.0 · assigned here · art:improve"/>
          <p:cNvPicPr>
            <a:picLocks noChangeAspect="1"/>
          </p:cNvPicPr>
          <p:nvPr/>
        </p:nvPicPr>
        <p:blipFill>
          <a:blip r:embed="rId6"/>
          <a:stretch>
            <a:fillRect/>
          </a:stretch>
        </p:blipFill>
        <p:spPr>
          <a:xfrm>
            <a:off x="7158837" y="1937042"/>
            <a:ext cx="1073619" cy="1073619"/>
          </a:xfrm>
          <a:prstGeom prst="rect">
            <a:avLst/>
          </a:prstGeom>
        </p:spPr>
      </p:pic>
      <p:sp>
        <p:nvSpPr>
          <p:cNvPr id="17" name="Oval 16"/>
          <p:cNvSpPr/>
          <p:nvPr/>
        </p:nvSpPr>
        <p:spPr>
          <a:xfrm>
            <a:off x="8150161" y="191875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58837" y="3019805"/>
            <a:ext cx="1073619" cy="146304"/>
          </a:xfrm>
          <a:prstGeom prst="rect">
            <a:avLst/>
          </a:prstGeom>
          <a:noFill/>
        </p:spPr>
        <p:txBody>
          <a:bodyPr wrap="none">
            <a:spAutoFit/>
          </a:bodyPr>
          <a:lstStyle/>
          <a:p>
            <a:pPr algn="ctr"/>
            <a:r>
              <a:rPr sz="600">
                <a:solidFill>
                  <a:srgbClr val="B9A488"/>
                </a:solidFill>
              </a:rPr>
              <a:t>fanback</a:t>
            </a:r>
          </a:p>
        </p:txBody>
      </p:sp>
      <p:pic>
        <p:nvPicPr>
          <p:cNvPr id="19" name="Jamel" descr="Jamel (Jamel)&#10;drawSize 1.899999976158142 · assigned here · art:improve"/>
          <p:cNvPicPr>
            <a:picLocks noChangeAspect="1"/>
          </p:cNvPicPr>
          <p:nvPr/>
        </p:nvPicPr>
        <p:blipFill>
          <a:blip r:embed="rId7"/>
          <a:stretch>
            <a:fillRect/>
          </a:stretch>
        </p:blipFill>
        <p:spPr>
          <a:xfrm>
            <a:off x="8360473" y="1990723"/>
            <a:ext cx="1019938" cy="1019938"/>
          </a:xfrm>
          <a:prstGeom prst="rect">
            <a:avLst/>
          </a:prstGeom>
        </p:spPr>
      </p:pic>
      <p:sp>
        <p:nvSpPr>
          <p:cNvPr id="20" name="Oval 19"/>
          <p:cNvSpPr/>
          <p:nvPr/>
        </p:nvSpPr>
        <p:spPr>
          <a:xfrm>
            <a:off x="9298116" y="197243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0473" y="3019805"/>
            <a:ext cx="1019938" cy="146304"/>
          </a:xfrm>
          <a:prstGeom prst="rect">
            <a:avLst/>
          </a:prstGeom>
          <a:noFill/>
        </p:spPr>
        <p:txBody>
          <a:bodyPr wrap="none">
            <a:spAutoFit/>
          </a:bodyPr>
          <a:lstStyle/>
          <a:p>
            <a:pPr algn="ctr"/>
            <a:r>
              <a:rPr sz="600">
                <a:solidFill>
                  <a:srgbClr val="B9A488"/>
                </a:solidFill>
              </a:rPr>
              <a:t>Jamel</a:t>
            </a:r>
          </a:p>
        </p:txBody>
      </p:sp>
      <p:pic>
        <p:nvPicPr>
          <p:cNvPr id="22" name="eopie" descr="eopie (Eopie)&#10;drawSize 1.399999976158142 · assigned here · art:keep"/>
          <p:cNvPicPr>
            <a:picLocks noChangeAspect="1"/>
          </p:cNvPicPr>
          <p:nvPr/>
        </p:nvPicPr>
        <p:blipFill>
          <a:blip r:embed="rId8"/>
          <a:stretch>
            <a:fillRect/>
          </a:stretch>
        </p:blipFill>
        <p:spPr>
          <a:xfrm>
            <a:off x="9508428" y="2259128"/>
            <a:ext cx="751533" cy="751533"/>
          </a:xfrm>
          <a:prstGeom prst="rect">
            <a:avLst/>
          </a:prstGeom>
        </p:spPr>
      </p:pic>
      <p:sp>
        <p:nvSpPr>
          <p:cNvPr id="23" name="Oval 22"/>
          <p:cNvSpPr/>
          <p:nvPr/>
        </p:nvSpPr>
        <p:spPr>
          <a:xfrm>
            <a:off x="10177666" y="224084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8428" y="3019805"/>
            <a:ext cx="751533" cy="146304"/>
          </a:xfrm>
          <a:prstGeom prst="rect">
            <a:avLst/>
          </a:prstGeom>
          <a:noFill/>
        </p:spPr>
        <p:txBody>
          <a:bodyPr wrap="none">
            <a:spAutoFit/>
          </a:bodyPr>
          <a:lstStyle/>
          <a:p>
            <a:pPr algn="ctr"/>
            <a:r>
              <a:rPr sz="600">
                <a:solidFill>
                  <a:srgbClr val="B9A488"/>
                </a:solidFill>
              </a:rPr>
              <a:t>eopie</a:t>
            </a:r>
          </a:p>
        </p:txBody>
      </p:sp>
      <p:pic>
        <p:nvPicPr>
          <p:cNvPr id="25" name="colossus toad" descr="colossus toad (ColossusToad)&#10;drawSize 0.800000011920929 · assigned here · art:improve"/>
          <p:cNvPicPr>
            <a:picLocks noChangeAspect="1"/>
          </p:cNvPicPr>
          <p:nvPr/>
        </p:nvPicPr>
        <p:blipFill>
          <a:blip r:embed="rId9"/>
          <a:stretch>
            <a:fillRect/>
          </a:stretch>
        </p:blipFill>
        <p:spPr>
          <a:xfrm>
            <a:off x="10387978" y="2581214"/>
            <a:ext cx="429447" cy="429447"/>
          </a:xfrm>
          <a:prstGeom prst="rect">
            <a:avLst/>
          </a:prstGeom>
        </p:spPr>
      </p:pic>
      <p:sp>
        <p:nvSpPr>
          <p:cNvPr id="26" name="Oval 25"/>
          <p:cNvSpPr/>
          <p:nvPr/>
        </p:nvSpPr>
        <p:spPr>
          <a:xfrm>
            <a:off x="10735130" y="256292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87978" y="3019805"/>
            <a:ext cx="640080" cy="146304"/>
          </a:xfrm>
          <a:prstGeom prst="rect">
            <a:avLst/>
          </a:prstGeom>
          <a:noFill/>
        </p:spPr>
        <p:txBody>
          <a:bodyPr wrap="none">
            <a:spAutoFit/>
          </a:bodyPr>
          <a:lstStyle/>
          <a:p>
            <a:pPr algn="ctr"/>
            <a:r>
              <a:rPr sz="600">
                <a:solidFill>
                  <a:srgbClr val="B9A488"/>
                </a:solidFill>
              </a:rPr>
              <a:t>colossus toad</a:t>
            </a:r>
          </a:p>
        </p:txBody>
      </p:sp>
      <p:pic>
        <p:nvPicPr>
          <p:cNvPr id="28" name="ollopom" descr="ollopom (Ollopom)&#10;drawSize 0.6000000238418579 · assigned here · art:improve"/>
          <p:cNvPicPr>
            <a:picLocks noChangeAspect="1"/>
          </p:cNvPicPr>
          <p:nvPr/>
        </p:nvPicPr>
        <p:blipFill>
          <a:blip r:embed="rId10"/>
          <a:stretch>
            <a:fillRect/>
          </a:stretch>
        </p:blipFill>
        <p:spPr>
          <a:xfrm>
            <a:off x="10945442" y="2688576"/>
            <a:ext cx="322085" cy="322085"/>
          </a:xfrm>
          <a:prstGeom prst="rect">
            <a:avLst/>
          </a:prstGeom>
        </p:spPr>
      </p:pic>
      <p:sp>
        <p:nvSpPr>
          <p:cNvPr id="29" name="Oval 28"/>
          <p:cNvSpPr/>
          <p:nvPr/>
        </p:nvSpPr>
        <p:spPr>
          <a:xfrm>
            <a:off x="11185232" y="267028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45442" y="3019805"/>
            <a:ext cx="640080" cy="146304"/>
          </a:xfrm>
          <a:prstGeom prst="rect">
            <a:avLst/>
          </a:prstGeom>
          <a:noFill/>
        </p:spPr>
        <p:txBody>
          <a:bodyPr wrap="none">
            <a:spAutoFit/>
          </a:bodyPr>
          <a:lstStyle/>
          <a:p>
            <a:pPr algn="ctr"/>
            <a:r>
              <a:rPr sz="600">
                <a:solidFill>
                  <a:srgbClr val="B9A488"/>
                </a:solidFill>
              </a:rPr>
              <a:t>ollopom</a:t>
            </a:r>
          </a:p>
        </p:txBody>
      </p:sp>
      <p:pic>
        <p:nvPicPr>
          <p:cNvPr id="31" name="ikee" descr="ikee (AA_Eyeling)&#10;drawSize 0.4000000059604645 · assigned here · art:improve"/>
          <p:cNvPicPr>
            <a:picLocks noChangeAspect="1"/>
          </p:cNvPicPr>
          <p:nvPr/>
        </p:nvPicPr>
        <p:blipFill>
          <a:blip r:embed="rId11"/>
          <a:stretch>
            <a:fillRect/>
          </a:stretch>
        </p:blipFill>
        <p:spPr>
          <a:xfrm>
            <a:off x="11395544" y="2733598"/>
            <a:ext cx="277063" cy="277063"/>
          </a:xfrm>
          <a:prstGeom prst="rect">
            <a:avLst/>
          </a:prstGeom>
        </p:spPr>
      </p:pic>
      <p:sp>
        <p:nvSpPr>
          <p:cNvPr id="32" name="Oval 31"/>
          <p:cNvSpPr/>
          <p:nvPr/>
        </p:nvSpPr>
        <p:spPr>
          <a:xfrm>
            <a:off x="11590311" y="27153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395544" y="3019805"/>
            <a:ext cx="640080" cy="146304"/>
          </a:xfrm>
          <a:prstGeom prst="rect">
            <a:avLst/>
          </a:prstGeom>
          <a:noFill/>
        </p:spPr>
        <p:txBody>
          <a:bodyPr wrap="none">
            <a:spAutoFit/>
          </a:bodyPr>
          <a:lstStyle/>
          <a:p>
            <a:pPr algn="ctr"/>
            <a:r>
              <a:rPr sz="600">
                <a:solidFill>
                  <a:srgbClr val="B9A488"/>
                </a:solidFill>
              </a:rPr>
              <a:t>ikee</a:t>
            </a:r>
          </a:p>
        </p:txBody>
      </p:sp>
      <p:sp>
        <p:nvSpPr>
          <p:cNvPr id="34" name="TextBox 33"/>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35" name="BMT_Dewshrooms" descr="BMT_Dewshrooms (BMT_Dewshrooms)&#10;"/>
          <p:cNvPicPr>
            <a:picLocks noChangeAspect="1"/>
          </p:cNvPicPr>
          <p:nvPr/>
        </p:nvPicPr>
        <p:blipFill>
          <a:blip r:embed="rId12"/>
          <a:stretch>
            <a:fillRect/>
          </a:stretch>
        </p:blipFill>
        <p:spPr>
          <a:xfrm>
            <a:off x="274320" y="3822191"/>
            <a:ext cx="548639" cy="548639"/>
          </a:xfrm>
          <a:prstGeom prst="rect">
            <a:avLst/>
          </a:prstGeom>
        </p:spPr>
      </p:pic>
      <p:sp>
        <p:nvSpPr>
          <p:cNvPr id="36" name="TextBox 35"/>
          <p:cNvSpPr txBox="1"/>
          <p:nvPr/>
        </p:nvSpPr>
        <p:spPr>
          <a:xfrm>
            <a:off x="274320" y="4379975"/>
            <a:ext cx="640080" cy="146304"/>
          </a:xfrm>
          <a:prstGeom prst="rect">
            <a:avLst/>
          </a:prstGeom>
          <a:noFill/>
        </p:spPr>
        <p:txBody>
          <a:bodyPr wrap="none">
            <a:spAutoFit/>
          </a:bodyPr>
          <a:lstStyle/>
          <a:p>
            <a:pPr algn="ctr"/>
            <a:r>
              <a:rPr sz="600">
                <a:solidFill>
                  <a:srgbClr val="B9A488"/>
                </a:solidFill>
              </a:rPr>
              <a:t>BMT_Dewshrooms</a:t>
            </a:r>
          </a:p>
        </p:txBody>
      </p:sp>
      <p:pic>
        <p:nvPicPr>
          <p:cNvPr id="37" name="Plant_Reeds" descr="Plant_Reeds (Plant_Reeds)&#10;"/>
          <p:cNvPicPr>
            <a:picLocks noChangeAspect="1"/>
          </p:cNvPicPr>
          <p:nvPr/>
        </p:nvPicPr>
        <p:blipFill>
          <a:blip r:embed="rId13"/>
          <a:stretch>
            <a:fillRect/>
          </a:stretch>
        </p:blipFill>
        <p:spPr>
          <a:xfrm>
            <a:off x="950975" y="3822191"/>
            <a:ext cx="548639" cy="548639"/>
          </a:xfrm>
          <a:prstGeom prst="rect">
            <a:avLst/>
          </a:prstGeom>
        </p:spPr>
      </p:pic>
      <p:sp>
        <p:nvSpPr>
          <p:cNvPr id="38" name="TextBox 37"/>
          <p:cNvSpPr txBox="1"/>
          <p:nvPr/>
        </p:nvSpPr>
        <p:spPr>
          <a:xfrm>
            <a:off x="950975" y="4379975"/>
            <a:ext cx="640080" cy="146304"/>
          </a:xfrm>
          <a:prstGeom prst="rect">
            <a:avLst/>
          </a:prstGeom>
          <a:noFill/>
        </p:spPr>
        <p:txBody>
          <a:bodyPr wrap="none">
            <a:spAutoFit/>
          </a:bodyPr>
          <a:lstStyle/>
          <a:p>
            <a:pPr algn="ctr"/>
            <a:r>
              <a:rPr sz="600">
                <a:solidFill>
                  <a:srgbClr val="B9A488"/>
                </a:solidFill>
              </a:rPr>
              <a:t>Plant_Reeds</a:t>
            </a:r>
          </a:p>
        </p:txBody>
      </p:sp>
      <p:sp>
        <p:nvSpPr>
          <p:cNvPr id="39" name="Plant_Ambrosia" descr="Plant_Ambrosia (Plant_Ambrosia)&#10;&#10;[no cached sprite]"/>
          <p:cNvSpPr/>
          <p:nvPr/>
        </p:nvSpPr>
        <p:spPr>
          <a:xfrm>
            <a:off x="1627631"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Plant_Ambrosia</a:t>
            </a:r>
          </a:p>
        </p:txBody>
      </p:sp>
      <p:sp>
        <p:nvSpPr>
          <p:cNvPr id="40" name="TextBox 39"/>
          <p:cNvSpPr txBox="1"/>
          <p:nvPr/>
        </p:nvSpPr>
        <p:spPr>
          <a:xfrm>
            <a:off x="1627631" y="4379975"/>
            <a:ext cx="640080" cy="146304"/>
          </a:xfrm>
          <a:prstGeom prst="rect">
            <a:avLst/>
          </a:prstGeom>
          <a:noFill/>
        </p:spPr>
        <p:txBody>
          <a:bodyPr wrap="none">
            <a:spAutoFit/>
          </a:bodyPr>
          <a:lstStyle/>
          <a:p>
            <a:pPr algn="ctr"/>
            <a:r>
              <a:rPr sz="600">
                <a:solidFill>
                  <a:srgbClr val="B9A488"/>
                </a:solidFill>
              </a:rPr>
              <a:t>Plant_Ambrosia</a:t>
            </a:r>
          </a:p>
        </p:txBody>
      </p:sp>
      <p:pic>
        <p:nvPicPr>
          <p:cNvPr id="41" name="AB_GreenRockFern" descr="AB_GreenRockFern (AB_GreenRockFern)&#10;"/>
          <p:cNvPicPr>
            <a:picLocks noChangeAspect="1"/>
          </p:cNvPicPr>
          <p:nvPr/>
        </p:nvPicPr>
        <p:blipFill>
          <a:blip r:embed="rId14"/>
          <a:stretch>
            <a:fillRect/>
          </a:stretch>
        </p:blipFill>
        <p:spPr>
          <a:xfrm>
            <a:off x="2304287" y="3822191"/>
            <a:ext cx="548639" cy="548639"/>
          </a:xfrm>
          <a:prstGeom prst="rect">
            <a:avLst/>
          </a:prstGeom>
        </p:spPr>
      </p:pic>
      <p:sp>
        <p:nvSpPr>
          <p:cNvPr id="42" name="TextBox 41"/>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AB_GreenRockFern</a:t>
            </a:r>
          </a:p>
        </p:txBody>
      </p:sp>
      <p:sp>
        <p:nvSpPr>
          <p:cNvPr id="43" name="TextBox 42"/>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`ZBiome_DesertOasis` (More Vanilla Biomes, Zylleon — a thin donor whose one real gift is mechanical: terrain patch-makers that paint genuine standing water into sand). **The biome's name is THE WEEPING STONES** (owner's pick). Thematic handle: **tended water** — and its image: **stone that sweats on its cold faces, and everything alive or built crowding around to drink the wind.**_ 🔑 **Read against `the_cracked_lands.md`** — the sharpest contrast on the map. Cracked Lands green *hides* in canyon shade waiting for a rare flood; Weeping Stones green *climbs* — it stands on the high cold faces and drinks the wind daily. Fugitive water vs. tended water. Also read `sacred_sites_pass_1.md`: the oasis is the **Oomo** water-archetype ground, and this sheet is that archetype made physical. 🔴 **Architecture ruling (owner, 2026-09-06): biome + landmarks.** The BiomeDef defines the dew-country ground. Each actual pool is a hand-placed, hand-named vanilla **Oasis LANDMARK** (Odyssey `LandmarkDef Oasis`, required `TileMutatorDef Oasis`) with a chosen companion-mutator loadout — AnimalLife_Increased, AnimalHabitat, Stockpile, AncientUplink, or none. Each oasis distinct, sacred, visible on the world map, placed by us, never rolled.</a:t>
            </a:r>
          </a:p>
        </p:txBody>
      </p:sp>
      <p:sp>
        <p:nvSpPr>
          <p:cNvPr id="44" name="TextBox 43"/>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1. AA_Eyeling's row here is the unresolved propagation conflict — "ocular" routes it to the Contagion; this copy likely departs. Decide at the sitting.
2. Dactillion is canonically a flying mount — flier-roster candidate never extracted.
3. OPPORTUNITY: Rycrit ("herd animal near oases") and Gullipud ("oases and pets") placement rules land here first — the oasis register is their obvious anchor.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fall_line</a:t>
            </a:r>
            <a:r>
              <a:rPr sz="1100">
                <a:solidFill>
                  <a:srgbClr val="B9A488"/>
                </a:solidFill>
              </a:rPr>
              <a:t>   13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fuelmite" descr="fuelmite (VFEI2_Fuelmite)&#10;drawSize 1.350000023841858 · assigned here · art:keep"/>
          <p:cNvPicPr>
            <a:picLocks noChangeAspect="1"/>
          </p:cNvPicPr>
          <p:nvPr/>
        </p:nvPicPr>
        <p:blipFill>
          <a:blip r:embed="rId2"/>
          <a:stretch>
            <a:fillRect/>
          </a:stretch>
        </p:blipFill>
        <p:spPr>
          <a:xfrm>
            <a:off x="274320" y="932688"/>
            <a:ext cx="765352" cy="765352"/>
          </a:xfrm>
          <a:prstGeom prst="rect">
            <a:avLst/>
          </a:prstGeom>
        </p:spPr>
      </p:pic>
      <p:sp>
        <p:nvSpPr>
          <p:cNvPr id="5" name="Oval 4"/>
          <p:cNvSpPr/>
          <p:nvPr/>
        </p:nvSpPr>
        <p:spPr>
          <a:xfrm>
            <a:off x="957376"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707184"/>
            <a:ext cx="765352" cy="146304"/>
          </a:xfrm>
          <a:prstGeom prst="rect">
            <a:avLst/>
          </a:prstGeom>
          <a:noFill/>
        </p:spPr>
        <p:txBody>
          <a:bodyPr wrap="none">
            <a:spAutoFit/>
          </a:bodyPr>
          <a:lstStyle/>
          <a:p>
            <a:pPr algn="ctr"/>
            <a:r>
              <a:rPr sz="600">
                <a:solidFill>
                  <a:srgbClr val="B9A488"/>
                </a:solidFill>
              </a:rPr>
              <a:t>fuelmite</a:t>
            </a:r>
          </a:p>
        </p:txBody>
      </p:sp>
      <p:pic>
        <p:nvPicPr>
          <p:cNvPr id="7" name="Muckraker Crab Droid" descr="Muckraker Crab Droid (OuterRim_MuckrakerDroid)&#10;drawSize 1.2000000476837158 · assigned here · art:keep"/>
          <p:cNvPicPr>
            <a:picLocks noChangeAspect="1"/>
          </p:cNvPicPr>
          <p:nvPr/>
        </p:nvPicPr>
        <p:blipFill>
          <a:blip r:embed="rId3"/>
          <a:stretch>
            <a:fillRect/>
          </a:stretch>
        </p:blipFill>
        <p:spPr>
          <a:xfrm>
            <a:off x="1167688" y="1017727"/>
            <a:ext cx="680313" cy="680313"/>
          </a:xfrm>
          <a:prstGeom prst="rect">
            <a:avLst/>
          </a:prstGeom>
        </p:spPr>
      </p:pic>
      <p:sp>
        <p:nvSpPr>
          <p:cNvPr id="8" name="Oval 7"/>
          <p:cNvSpPr/>
          <p:nvPr/>
        </p:nvSpPr>
        <p:spPr>
          <a:xfrm>
            <a:off x="1765706" y="99943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7688" y="1707184"/>
            <a:ext cx="680313" cy="146304"/>
          </a:xfrm>
          <a:prstGeom prst="rect">
            <a:avLst/>
          </a:prstGeom>
          <a:noFill/>
        </p:spPr>
        <p:txBody>
          <a:bodyPr wrap="none">
            <a:spAutoFit/>
          </a:bodyPr>
          <a:lstStyle/>
          <a:p>
            <a:pPr algn="ctr"/>
            <a:r>
              <a:rPr sz="600">
                <a:solidFill>
                  <a:srgbClr val="B9A488"/>
                </a:solidFill>
              </a:rPr>
              <a:t>Muckraker Crab D</a:t>
            </a:r>
          </a:p>
        </p:txBody>
      </p:sp>
      <p:pic>
        <p:nvPicPr>
          <p:cNvPr id="10" name="Destroyer Droid" descr="Destroyer Droid (OuterRim_DestroyerDroid)&#10;drawSize 1.0 · assigned here · art:keep"/>
          <p:cNvPicPr>
            <a:picLocks noChangeAspect="1"/>
          </p:cNvPicPr>
          <p:nvPr/>
        </p:nvPicPr>
        <p:blipFill>
          <a:blip r:embed="rId4"/>
          <a:stretch>
            <a:fillRect/>
          </a:stretch>
        </p:blipFill>
        <p:spPr>
          <a:xfrm>
            <a:off x="1976018" y="1131112"/>
            <a:ext cx="566928" cy="566928"/>
          </a:xfrm>
          <a:prstGeom prst="rect">
            <a:avLst/>
          </a:prstGeom>
        </p:spPr>
      </p:pic>
      <p:sp>
        <p:nvSpPr>
          <p:cNvPr id="11" name="Oval 10"/>
          <p:cNvSpPr/>
          <p:nvPr/>
        </p:nvSpPr>
        <p:spPr>
          <a:xfrm>
            <a:off x="2460650" y="111282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76018" y="1707184"/>
            <a:ext cx="640080" cy="146304"/>
          </a:xfrm>
          <a:prstGeom prst="rect">
            <a:avLst/>
          </a:prstGeom>
          <a:noFill/>
        </p:spPr>
        <p:txBody>
          <a:bodyPr wrap="none">
            <a:spAutoFit/>
          </a:bodyPr>
          <a:lstStyle/>
          <a:p>
            <a:pPr algn="ctr"/>
            <a:r>
              <a:rPr sz="600">
                <a:solidFill>
                  <a:srgbClr val="B9A488"/>
                </a:solidFill>
              </a:rPr>
              <a:t>Destroyer Droid</a:t>
            </a:r>
          </a:p>
        </p:txBody>
      </p:sp>
      <p:pic>
        <p:nvPicPr>
          <p:cNvPr id="13" name="GNK Power Droid" descr="GNK Power Droid (OuterRim_GNKDroid)&#10;drawSize 1.0 · assigned here · art:keep"/>
          <p:cNvPicPr>
            <a:picLocks noChangeAspect="1"/>
          </p:cNvPicPr>
          <p:nvPr/>
        </p:nvPicPr>
        <p:blipFill>
          <a:blip r:embed="rId5"/>
          <a:stretch>
            <a:fillRect/>
          </a:stretch>
        </p:blipFill>
        <p:spPr>
          <a:xfrm>
            <a:off x="2670962" y="1131112"/>
            <a:ext cx="566928" cy="566928"/>
          </a:xfrm>
          <a:prstGeom prst="rect">
            <a:avLst/>
          </a:prstGeom>
        </p:spPr>
      </p:pic>
      <p:sp>
        <p:nvSpPr>
          <p:cNvPr id="14" name="Oval 13"/>
          <p:cNvSpPr/>
          <p:nvPr/>
        </p:nvSpPr>
        <p:spPr>
          <a:xfrm>
            <a:off x="3155594" y="111282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962" y="1707184"/>
            <a:ext cx="640080" cy="146304"/>
          </a:xfrm>
          <a:prstGeom prst="rect">
            <a:avLst/>
          </a:prstGeom>
          <a:noFill/>
        </p:spPr>
        <p:txBody>
          <a:bodyPr wrap="none">
            <a:spAutoFit/>
          </a:bodyPr>
          <a:lstStyle/>
          <a:p>
            <a:pPr algn="ctr"/>
            <a:r>
              <a:rPr sz="600">
                <a:solidFill>
                  <a:srgbClr val="B9A488"/>
                </a:solidFill>
              </a:rPr>
              <a:t>GNK Power Droid</a:t>
            </a:r>
          </a:p>
        </p:txBody>
      </p:sp>
      <p:pic>
        <p:nvPicPr>
          <p:cNvPr id="16" name="Astromech Droid" descr="Astromech Droid (OuterRim_AstromechDroid)&#10;drawSize 0.75 · assigned here · art:keep"/>
          <p:cNvPicPr>
            <a:picLocks noChangeAspect="1"/>
          </p:cNvPicPr>
          <p:nvPr/>
        </p:nvPicPr>
        <p:blipFill>
          <a:blip r:embed="rId6"/>
          <a:stretch>
            <a:fillRect/>
          </a:stretch>
        </p:blipFill>
        <p:spPr>
          <a:xfrm>
            <a:off x="3365906" y="1272844"/>
            <a:ext cx="425196" cy="425196"/>
          </a:xfrm>
          <a:prstGeom prst="rect">
            <a:avLst/>
          </a:prstGeom>
        </p:spPr>
      </p:pic>
      <p:sp>
        <p:nvSpPr>
          <p:cNvPr id="17" name="Oval 16"/>
          <p:cNvSpPr/>
          <p:nvPr/>
        </p:nvSpPr>
        <p:spPr>
          <a:xfrm>
            <a:off x="3708806" y="12545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65906" y="1707184"/>
            <a:ext cx="640080" cy="146304"/>
          </a:xfrm>
          <a:prstGeom prst="rect">
            <a:avLst/>
          </a:prstGeom>
          <a:noFill/>
        </p:spPr>
        <p:txBody>
          <a:bodyPr wrap="none">
            <a:spAutoFit/>
          </a:bodyPr>
          <a:lstStyle/>
          <a:p>
            <a:pPr algn="ctr"/>
            <a:r>
              <a:rPr sz="600">
                <a:solidFill>
                  <a:srgbClr val="B9A488"/>
                </a:solidFill>
              </a:rPr>
              <a:t>Astromech Droid</a:t>
            </a:r>
          </a:p>
        </p:txBody>
      </p:sp>
      <p:pic>
        <p:nvPicPr>
          <p:cNvPr id="19" name="DUM Repair Droid" descr="DUM Repair Droid (OuterRim_DUMDroid)&#10;drawSize 0.75 · assigned here · art:keep"/>
          <p:cNvPicPr>
            <a:picLocks noChangeAspect="1"/>
          </p:cNvPicPr>
          <p:nvPr/>
        </p:nvPicPr>
        <p:blipFill>
          <a:blip r:embed="rId7"/>
          <a:stretch>
            <a:fillRect/>
          </a:stretch>
        </p:blipFill>
        <p:spPr>
          <a:xfrm>
            <a:off x="3919118" y="1272844"/>
            <a:ext cx="425196" cy="425196"/>
          </a:xfrm>
          <a:prstGeom prst="rect">
            <a:avLst/>
          </a:prstGeom>
        </p:spPr>
      </p:pic>
      <p:sp>
        <p:nvSpPr>
          <p:cNvPr id="20" name="Oval 19"/>
          <p:cNvSpPr/>
          <p:nvPr/>
        </p:nvSpPr>
        <p:spPr>
          <a:xfrm>
            <a:off x="4262018" y="12545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19118" y="1707184"/>
            <a:ext cx="640080" cy="146304"/>
          </a:xfrm>
          <a:prstGeom prst="rect">
            <a:avLst/>
          </a:prstGeom>
          <a:noFill/>
        </p:spPr>
        <p:txBody>
          <a:bodyPr wrap="none">
            <a:spAutoFit/>
          </a:bodyPr>
          <a:lstStyle/>
          <a:p>
            <a:pPr algn="ctr"/>
            <a:r>
              <a:rPr sz="600">
                <a:solidFill>
                  <a:srgbClr val="B9A488"/>
                </a:solidFill>
              </a:rPr>
              <a:t>DUM Repair Droid</a:t>
            </a:r>
          </a:p>
        </p:txBody>
      </p:sp>
      <p:pic>
        <p:nvPicPr>
          <p:cNvPr id="22" name="fx-7 medical droid" descr="fx-7 medical droid (OuterRim_FX7Droid)&#10;drawSize 0.75 · assigned here · art:keep"/>
          <p:cNvPicPr>
            <a:picLocks noChangeAspect="1"/>
          </p:cNvPicPr>
          <p:nvPr/>
        </p:nvPicPr>
        <p:blipFill>
          <a:blip r:embed="rId8"/>
          <a:stretch>
            <a:fillRect/>
          </a:stretch>
        </p:blipFill>
        <p:spPr>
          <a:xfrm>
            <a:off x="4472330" y="1272844"/>
            <a:ext cx="425196" cy="425196"/>
          </a:xfrm>
          <a:prstGeom prst="rect">
            <a:avLst/>
          </a:prstGeom>
        </p:spPr>
      </p:pic>
      <p:sp>
        <p:nvSpPr>
          <p:cNvPr id="23" name="Oval 22"/>
          <p:cNvSpPr/>
          <p:nvPr/>
        </p:nvSpPr>
        <p:spPr>
          <a:xfrm>
            <a:off x="4815230" y="12545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72330" y="1707184"/>
            <a:ext cx="640080" cy="146304"/>
          </a:xfrm>
          <a:prstGeom prst="rect">
            <a:avLst/>
          </a:prstGeom>
          <a:noFill/>
        </p:spPr>
        <p:txBody>
          <a:bodyPr wrap="none">
            <a:spAutoFit/>
          </a:bodyPr>
          <a:lstStyle/>
          <a:p>
            <a:pPr algn="ctr"/>
            <a:r>
              <a:rPr sz="600">
                <a:solidFill>
                  <a:srgbClr val="B9A488"/>
                </a:solidFill>
              </a:rPr>
              <a:t>fx-7 medical dro</a:t>
            </a:r>
          </a:p>
        </p:txBody>
      </p:sp>
      <p:pic>
        <p:nvPicPr>
          <p:cNvPr id="25" name="womp rat" descr="womp rat (WompRat)&#10;drawSize 0.75 · assigned here · art:keep"/>
          <p:cNvPicPr>
            <a:picLocks noChangeAspect="1"/>
          </p:cNvPicPr>
          <p:nvPr/>
        </p:nvPicPr>
        <p:blipFill>
          <a:blip r:embed="rId9"/>
          <a:stretch>
            <a:fillRect/>
          </a:stretch>
        </p:blipFill>
        <p:spPr>
          <a:xfrm>
            <a:off x="5025542" y="1272844"/>
            <a:ext cx="425196" cy="425196"/>
          </a:xfrm>
          <a:prstGeom prst="rect">
            <a:avLst/>
          </a:prstGeom>
        </p:spPr>
      </p:pic>
      <p:sp>
        <p:nvSpPr>
          <p:cNvPr id="26" name="Oval 25"/>
          <p:cNvSpPr/>
          <p:nvPr/>
        </p:nvSpPr>
        <p:spPr>
          <a:xfrm>
            <a:off x="5368442" y="12545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5542" y="1707184"/>
            <a:ext cx="640080" cy="146304"/>
          </a:xfrm>
          <a:prstGeom prst="rect">
            <a:avLst/>
          </a:prstGeom>
          <a:noFill/>
        </p:spPr>
        <p:txBody>
          <a:bodyPr wrap="none">
            <a:spAutoFit/>
          </a:bodyPr>
          <a:lstStyle/>
          <a:p>
            <a:pPr algn="ctr"/>
            <a:r>
              <a:rPr sz="600">
                <a:solidFill>
                  <a:srgbClr val="B9A488"/>
                </a:solidFill>
              </a:rPr>
              <a:t>womp rat</a:t>
            </a:r>
          </a:p>
        </p:txBody>
      </p:sp>
      <p:pic>
        <p:nvPicPr>
          <p:cNvPr id="28" name="mynock" descr="mynock (Mynock)&#10;drawSize 0.5 · assigned here · art:keep"/>
          <p:cNvPicPr>
            <a:picLocks noChangeAspect="1"/>
          </p:cNvPicPr>
          <p:nvPr/>
        </p:nvPicPr>
        <p:blipFill>
          <a:blip r:embed="rId10"/>
          <a:stretch>
            <a:fillRect/>
          </a:stretch>
        </p:blipFill>
        <p:spPr>
          <a:xfrm>
            <a:off x="5578754" y="1405432"/>
            <a:ext cx="292608" cy="292608"/>
          </a:xfrm>
          <a:prstGeom prst="rect">
            <a:avLst/>
          </a:prstGeom>
        </p:spPr>
      </p:pic>
      <p:sp>
        <p:nvSpPr>
          <p:cNvPr id="29" name="Oval 28"/>
          <p:cNvSpPr/>
          <p:nvPr/>
        </p:nvSpPr>
        <p:spPr>
          <a:xfrm>
            <a:off x="5789066" y="138714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78754" y="1707184"/>
            <a:ext cx="640080" cy="146304"/>
          </a:xfrm>
          <a:prstGeom prst="rect">
            <a:avLst/>
          </a:prstGeom>
          <a:noFill/>
        </p:spPr>
        <p:txBody>
          <a:bodyPr wrap="none">
            <a:spAutoFit/>
          </a:bodyPr>
          <a:lstStyle/>
          <a:p>
            <a:pPr algn="ctr"/>
            <a:r>
              <a:rPr sz="600">
                <a:solidFill>
                  <a:srgbClr val="B9A488"/>
                </a:solidFill>
              </a:rPr>
              <a:t>mynock</a:t>
            </a:r>
          </a:p>
        </p:txBody>
      </p:sp>
      <p:pic>
        <p:nvPicPr>
          <p:cNvPr id="31" name="MSE Repair Droid" descr="MSE Repair Droid (OuterRim_MSEDroid)&#10;drawSize 0.5 · assigned here · art:keep"/>
          <p:cNvPicPr>
            <a:picLocks noChangeAspect="1"/>
          </p:cNvPicPr>
          <p:nvPr/>
        </p:nvPicPr>
        <p:blipFill>
          <a:blip r:embed="rId11"/>
          <a:stretch>
            <a:fillRect/>
          </a:stretch>
        </p:blipFill>
        <p:spPr>
          <a:xfrm>
            <a:off x="5999378" y="1405432"/>
            <a:ext cx="292608" cy="292608"/>
          </a:xfrm>
          <a:prstGeom prst="rect">
            <a:avLst/>
          </a:prstGeom>
        </p:spPr>
      </p:pic>
      <p:sp>
        <p:nvSpPr>
          <p:cNvPr id="32" name="Oval 31"/>
          <p:cNvSpPr/>
          <p:nvPr/>
        </p:nvSpPr>
        <p:spPr>
          <a:xfrm>
            <a:off x="6209690" y="138714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9378" y="1707184"/>
            <a:ext cx="640080" cy="146304"/>
          </a:xfrm>
          <a:prstGeom prst="rect">
            <a:avLst/>
          </a:prstGeom>
          <a:noFill/>
        </p:spPr>
        <p:txBody>
          <a:bodyPr wrap="none">
            <a:spAutoFit/>
          </a:bodyPr>
          <a:lstStyle/>
          <a:p>
            <a:pPr algn="ctr"/>
            <a:r>
              <a:rPr sz="600">
                <a:solidFill>
                  <a:srgbClr val="B9A488"/>
                </a:solidFill>
              </a:rPr>
              <a:t>MSE Repair Droid</a:t>
            </a:r>
          </a:p>
        </p:txBody>
      </p:sp>
      <p:pic>
        <p:nvPicPr>
          <p:cNvPr id="34" name="salvage assist droid" descr="salvage assist droid (OuterRim_SalvageAssistDroid)&#10;drawSize 0.5 · assigned here · art:keep"/>
          <p:cNvPicPr>
            <a:picLocks noChangeAspect="1"/>
          </p:cNvPicPr>
          <p:nvPr/>
        </p:nvPicPr>
        <p:blipFill>
          <a:blip r:embed="rId12"/>
          <a:stretch>
            <a:fillRect/>
          </a:stretch>
        </p:blipFill>
        <p:spPr>
          <a:xfrm>
            <a:off x="6420002" y="1405432"/>
            <a:ext cx="292608" cy="292608"/>
          </a:xfrm>
          <a:prstGeom prst="rect">
            <a:avLst/>
          </a:prstGeom>
        </p:spPr>
      </p:pic>
      <p:sp>
        <p:nvSpPr>
          <p:cNvPr id="35" name="Oval 34"/>
          <p:cNvSpPr/>
          <p:nvPr/>
        </p:nvSpPr>
        <p:spPr>
          <a:xfrm>
            <a:off x="6630314" y="138714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0002" y="1707184"/>
            <a:ext cx="640080" cy="146304"/>
          </a:xfrm>
          <a:prstGeom prst="rect">
            <a:avLst/>
          </a:prstGeom>
          <a:noFill/>
        </p:spPr>
        <p:txBody>
          <a:bodyPr wrap="none">
            <a:spAutoFit/>
          </a:bodyPr>
          <a:lstStyle/>
          <a:p>
            <a:pPr algn="ctr"/>
            <a:r>
              <a:rPr sz="600">
                <a:solidFill>
                  <a:srgbClr val="B9A488"/>
                </a:solidFill>
              </a:rPr>
              <a:t>salvage assist d</a:t>
            </a:r>
          </a:p>
        </p:txBody>
      </p:sp>
      <p:pic>
        <p:nvPicPr>
          <p:cNvPr id="37" name="Scavrats" descr="Scavrats (Scavrat)&#10;drawSize 0.5 · assigned here · art:keep"/>
          <p:cNvPicPr>
            <a:picLocks noChangeAspect="1"/>
          </p:cNvPicPr>
          <p:nvPr/>
        </p:nvPicPr>
        <p:blipFill>
          <a:blip r:embed="rId13"/>
          <a:stretch>
            <a:fillRect/>
          </a:stretch>
        </p:blipFill>
        <p:spPr>
          <a:xfrm>
            <a:off x="6840626" y="1405432"/>
            <a:ext cx="292608" cy="292608"/>
          </a:xfrm>
          <a:prstGeom prst="rect">
            <a:avLst/>
          </a:prstGeom>
        </p:spPr>
      </p:pic>
      <p:sp>
        <p:nvSpPr>
          <p:cNvPr id="38" name="Oval 37"/>
          <p:cNvSpPr/>
          <p:nvPr/>
        </p:nvSpPr>
        <p:spPr>
          <a:xfrm>
            <a:off x="7050938" y="138714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40626" y="1707184"/>
            <a:ext cx="640080" cy="146304"/>
          </a:xfrm>
          <a:prstGeom prst="rect">
            <a:avLst/>
          </a:prstGeom>
          <a:noFill/>
        </p:spPr>
        <p:txBody>
          <a:bodyPr wrap="none">
            <a:spAutoFit/>
          </a:bodyPr>
          <a:lstStyle/>
          <a:p>
            <a:pPr algn="ctr"/>
            <a:r>
              <a:rPr sz="600">
                <a:solidFill>
                  <a:srgbClr val="B9A488"/>
                </a:solidFill>
              </a:rPr>
              <a:t>Scavrats</a:t>
            </a:r>
          </a:p>
        </p:txBody>
      </p:sp>
      <p:pic>
        <p:nvPicPr>
          <p:cNvPr id="40" name="brown rat" descr="brown rat (Rat)&#10;drawSize 0.20000000298023224 · assigned here · art:keep"/>
          <p:cNvPicPr>
            <a:picLocks noChangeAspect="1"/>
          </p:cNvPicPr>
          <p:nvPr/>
        </p:nvPicPr>
        <p:blipFill>
          <a:blip r:embed="rId14"/>
          <a:stretch>
            <a:fillRect/>
          </a:stretch>
        </p:blipFill>
        <p:spPr>
          <a:xfrm>
            <a:off x="7261250" y="1405432"/>
            <a:ext cx="292608" cy="292608"/>
          </a:xfrm>
          <a:prstGeom prst="rect">
            <a:avLst/>
          </a:prstGeom>
        </p:spPr>
      </p:pic>
      <p:sp>
        <p:nvSpPr>
          <p:cNvPr id="41" name="Oval 40"/>
          <p:cNvSpPr/>
          <p:nvPr/>
        </p:nvSpPr>
        <p:spPr>
          <a:xfrm>
            <a:off x="7471562" y="138714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1250" y="1707184"/>
            <a:ext cx="640080" cy="146304"/>
          </a:xfrm>
          <a:prstGeom prst="rect">
            <a:avLst/>
          </a:prstGeom>
          <a:noFill/>
        </p:spPr>
        <p:txBody>
          <a:bodyPr wrap="none">
            <a:spAutoFit/>
          </a:bodyPr>
          <a:lstStyle/>
          <a:p>
            <a:pPr algn="ctr"/>
            <a:r>
              <a:rPr sz="600">
                <a:solidFill>
                  <a:srgbClr val="B9A488"/>
                </a:solidFill>
              </a:rPr>
              <a:t>brown rat</a:t>
            </a:r>
          </a:p>
        </p:txBody>
      </p:sp>
      <p:sp>
        <p:nvSpPr>
          <p:cNvPr id="43" name="TextBox 42"/>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44" name="TextBox 43"/>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groping for this place before we found it already canon._ 🔴 **NOT A NEW BIOME** (owner, 2026-09-05: *"I would prefer not to have yet another biome but just inject such things with inhabited as needed."*). The Fall Line is a **named region painted on existing arid biomes**, given its identity by an **injection layer** — wreckage, shade, and feral inhabitants — not by a `BiomeDef`. Everything below is an admission test for what gets injected, not a def to author.</a:t>
            </a:r>
          </a:p>
        </p:txBody>
      </p:sp>
      <p:sp>
        <p:nvSpPr>
          <p:cNvPr id="45" name="TextBox 44"/>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(3): BMT_BunkerBug, BMT_Megapleura, Squall (injectable — "injectable wreck creatures", not resident: 15 residents).
INCONSISTENCIES:
1. Vanilla "Rat" survives in the cast — direct violation of ban 7 (no instantly-nameable terrestrial referent); cut or reskin (Scavrat already covers the niche).
2. Ban 6: nothing defends a fixed range — BunkerBug's name/story implies a held bunker; write it nomadic-between-wrecks or it violates.
3. Rat + Scavrat + WompRat = three rats; one niche, keep two at most.
OPPORTUNITIES:
1. Eight OuterRim feral droids + Fuelmite + Megapleura is the planet's only machine-ecology; a fuel-parasite-vs-droid interaction would make it legible.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the_pyrelands</a:t>
            </a:r>
            <a:r>
              <a:rPr sz="1100">
                <a:solidFill>
                  <a:srgbClr val="B9A488"/>
                </a:solidFill>
              </a:rPr>
              <a:t>   9 animals · 3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mantistanis" descr="mantistanis (GR_Mantistanis)&#10;drawSize 3.0 · assigned here · art:improve"/>
          <p:cNvPicPr>
            <a:picLocks noChangeAspect="1"/>
          </p:cNvPicPr>
          <p:nvPr/>
        </p:nvPicPr>
        <p:blipFill>
          <a:blip r:embed="rId2"/>
          <a:stretch>
            <a:fillRect/>
          </a:stretch>
        </p:blipFill>
        <p:spPr>
          <a:xfrm>
            <a:off x="274320" y="932688"/>
            <a:ext cx="1700784" cy="1700784"/>
          </a:xfrm>
          <a:prstGeom prst="rect">
            <a:avLst/>
          </a:prstGeom>
        </p:spPr>
      </p:pic>
      <p:sp>
        <p:nvSpPr>
          <p:cNvPr id="5" name="Oval 4"/>
          <p:cNvSpPr/>
          <p:nvPr/>
        </p:nvSpPr>
        <p:spPr>
          <a:xfrm>
            <a:off x="1892807"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642615"/>
            <a:ext cx="1700784" cy="146304"/>
          </a:xfrm>
          <a:prstGeom prst="rect">
            <a:avLst/>
          </a:prstGeom>
          <a:noFill/>
        </p:spPr>
        <p:txBody>
          <a:bodyPr wrap="none">
            <a:spAutoFit/>
          </a:bodyPr>
          <a:lstStyle/>
          <a:p>
            <a:pPr algn="ctr"/>
            <a:r>
              <a:rPr sz="600">
                <a:solidFill>
                  <a:srgbClr val="B9A488"/>
                </a:solidFill>
              </a:rPr>
              <a:t>mantistanis</a:t>
            </a:r>
          </a:p>
        </p:txBody>
      </p:sp>
      <p:pic>
        <p:nvPicPr>
          <p:cNvPr id="7" name="zeer" descr="zeer (Zeer)&#10;drawSize 3.0 · assigned here · art:keep"/>
          <p:cNvPicPr>
            <a:picLocks noChangeAspect="1"/>
          </p:cNvPicPr>
          <p:nvPr/>
        </p:nvPicPr>
        <p:blipFill>
          <a:blip r:embed="rId3"/>
          <a:stretch>
            <a:fillRect/>
          </a:stretch>
        </p:blipFill>
        <p:spPr>
          <a:xfrm>
            <a:off x="2103120" y="932688"/>
            <a:ext cx="1700784" cy="1700784"/>
          </a:xfrm>
          <a:prstGeom prst="rect">
            <a:avLst/>
          </a:prstGeom>
        </p:spPr>
      </p:pic>
      <p:sp>
        <p:nvSpPr>
          <p:cNvPr id="8" name="Oval 7"/>
          <p:cNvSpPr/>
          <p:nvPr/>
        </p:nvSpPr>
        <p:spPr>
          <a:xfrm>
            <a:off x="3721608"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2642615"/>
            <a:ext cx="1700784" cy="146304"/>
          </a:xfrm>
          <a:prstGeom prst="rect">
            <a:avLst/>
          </a:prstGeom>
          <a:noFill/>
        </p:spPr>
        <p:txBody>
          <a:bodyPr wrap="none">
            <a:spAutoFit/>
          </a:bodyPr>
          <a:lstStyle/>
          <a:p>
            <a:pPr algn="ctr"/>
            <a:r>
              <a:rPr sz="600">
                <a:solidFill>
                  <a:srgbClr val="B9A488"/>
                </a:solidFill>
              </a:rPr>
              <a:t>zeer</a:t>
            </a:r>
          </a:p>
        </p:txBody>
      </p:sp>
      <p:pic>
        <p:nvPicPr>
          <p:cNvPr id="10" name="dalgo" descr="dalgo (Dalgo)&#10;drawSize 2.5 · moved in from the_greentide · art:improve&#10;“Pyrelands”"/>
          <p:cNvPicPr>
            <a:picLocks noChangeAspect="1"/>
          </p:cNvPicPr>
          <p:nvPr/>
        </p:nvPicPr>
        <p:blipFill>
          <a:blip r:embed="rId4"/>
          <a:stretch>
            <a:fillRect/>
          </a:stretch>
        </p:blipFill>
        <p:spPr>
          <a:xfrm>
            <a:off x="3931920" y="1216151"/>
            <a:ext cx="1417320" cy="1417320"/>
          </a:xfrm>
          <a:prstGeom prst="rect">
            <a:avLst/>
          </a:prstGeom>
        </p:spPr>
      </p:pic>
      <p:sp>
        <p:nvSpPr>
          <p:cNvPr id="11" name="Oval 10"/>
          <p:cNvSpPr/>
          <p:nvPr/>
        </p:nvSpPr>
        <p:spPr>
          <a:xfrm>
            <a:off x="5266944" y="1197863"/>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2642615"/>
            <a:ext cx="1417320" cy="146304"/>
          </a:xfrm>
          <a:prstGeom prst="rect">
            <a:avLst/>
          </a:prstGeom>
          <a:noFill/>
        </p:spPr>
        <p:txBody>
          <a:bodyPr wrap="none">
            <a:spAutoFit/>
          </a:bodyPr>
          <a:lstStyle/>
          <a:p>
            <a:pPr algn="ctr"/>
            <a:r>
              <a:rPr sz="600">
                <a:solidFill>
                  <a:srgbClr val="B9A488"/>
                </a:solidFill>
              </a:rPr>
              <a:t>dalgo</a:t>
            </a:r>
          </a:p>
        </p:txBody>
      </p:sp>
      <p:pic>
        <p:nvPicPr>
          <p:cNvPr id="13" name="orray" descr="orray (Orray)&#10;drawSize 2.0 · assigned here · art:improve"/>
          <p:cNvPicPr>
            <a:picLocks noChangeAspect="1"/>
          </p:cNvPicPr>
          <p:nvPr/>
        </p:nvPicPr>
        <p:blipFill>
          <a:blip r:embed="rId5"/>
          <a:stretch>
            <a:fillRect/>
          </a:stretch>
        </p:blipFill>
        <p:spPr>
          <a:xfrm>
            <a:off x="5477256" y="1499616"/>
            <a:ext cx="1133856" cy="1133856"/>
          </a:xfrm>
          <a:prstGeom prst="rect">
            <a:avLst/>
          </a:prstGeom>
        </p:spPr>
      </p:pic>
      <p:sp>
        <p:nvSpPr>
          <p:cNvPr id="14" name="Oval 13"/>
          <p:cNvSpPr/>
          <p:nvPr/>
        </p:nvSpPr>
        <p:spPr>
          <a:xfrm>
            <a:off x="6528816" y="148132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77256" y="2642615"/>
            <a:ext cx="1133856" cy="146304"/>
          </a:xfrm>
          <a:prstGeom prst="rect">
            <a:avLst/>
          </a:prstGeom>
          <a:noFill/>
        </p:spPr>
        <p:txBody>
          <a:bodyPr wrap="none">
            <a:spAutoFit/>
          </a:bodyPr>
          <a:lstStyle/>
          <a:p>
            <a:pPr algn="ctr"/>
            <a:r>
              <a:rPr sz="600">
                <a:solidFill>
                  <a:srgbClr val="B9A488"/>
                </a:solidFill>
              </a:rPr>
              <a:t>orray</a:t>
            </a:r>
          </a:p>
        </p:txBody>
      </p:sp>
      <p:pic>
        <p:nvPicPr>
          <p:cNvPr id="16" name="razorjack" descr="razorjack (AA_Razorjack)&#10;drawSize 1.0 · moved in from the_greentide · art:improve&#10;“Pyrelands”"/>
          <p:cNvPicPr>
            <a:picLocks noChangeAspect="1"/>
          </p:cNvPicPr>
          <p:nvPr/>
        </p:nvPicPr>
        <p:blipFill>
          <a:blip r:embed="rId6"/>
          <a:stretch>
            <a:fillRect/>
          </a:stretch>
        </p:blipFill>
        <p:spPr>
          <a:xfrm>
            <a:off x="6739128" y="2066543"/>
            <a:ext cx="566928" cy="566928"/>
          </a:xfrm>
          <a:prstGeom prst="rect">
            <a:avLst/>
          </a:prstGeom>
        </p:spPr>
      </p:pic>
      <p:sp>
        <p:nvSpPr>
          <p:cNvPr id="17" name="Oval 16"/>
          <p:cNvSpPr/>
          <p:nvPr/>
        </p:nvSpPr>
        <p:spPr>
          <a:xfrm>
            <a:off x="7223760" y="2048255"/>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39128" y="2642615"/>
            <a:ext cx="640080" cy="146304"/>
          </a:xfrm>
          <a:prstGeom prst="rect">
            <a:avLst/>
          </a:prstGeom>
          <a:noFill/>
        </p:spPr>
        <p:txBody>
          <a:bodyPr wrap="none">
            <a:spAutoFit/>
          </a:bodyPr>
          <a:lstStyle/>
          <a:p>
            <a:pPr algn="ctr"/>
            <a:r>
              <a:rPr sz="600">
                <a:solidFill>
                  <a:srgbClr val="B9A488"/>
                </a:solidFill>
              </a:rPr>
              <a:t>razorjack</a:t>
            </a:r>
          </a:p>
        </p:txBody>
      </p:sp>
      <p:pic>
        <p:nvPicPr>
          <p:cNvPr id="19" name="anooba" descr="anooba (Anooba)&#10;drawSize 0.949999988079071 · assigned here · art:improve"/>
          <p:cNvPicPr>
            <a:picLocks noChangeAspect="1"/>
          </p:cNvPicPr>
          <p:nvPr/>
        </p:nvPicPr>
        <p:blipFill>
          <a:blip r:embed="rId7"/>
          <a:stretch>
            <a:fillRect/>
          </a:stretch>
        </p:blipFill>
        <p:spPr>
          <a:xfrm>
            <a:off x="7434072" y="2094890"/>
            <a:ext cx="538581" cy="538581"/>
          </a:xfrm>
          <a:prstGeom prst="rect">
            <a:avLst/>
          </a:prstGeom>
        </p:spPr>
      </p:pic>
      <p:sp>
        <p:nvSpPr>
          <p:cNvPr id="20" name="Oval 19"/>
          <p:cNvSpPr/>
          <p:nvPr/>
        </p:nvSpPr>
        <p:spPr>
          <a:xfrm>
            <a:off x="7890357" y="207660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34072" y="2642615"/>
            <a:ext cx="640080" cy="146304"/>
          </a:xfrm>
          <a:prstGeom prst="rect">
            <a:avLst/>
          </a:prstGeom>
          <a:noFill/>
        </p:spPr>
        <p:txBody>
          <a:bodyPr wrap="none">
            <a:spAutoFit/>
          </a:bodyPr>
          <a:lstStyle/>
          <a:p>
            <a:pPr algn="ctr"/>
            <a:r>
              <a:rPr sz="600">
                <a:solidFill>
                  <a:srgbClr val="B9A488"/>
                </a:solidFill>
              </a:rPr>
              <a:t>anooba</a:t>
            </a:r>
          </a:p>
        </p:txBody>
      </p:sp>
      <p:pic>
        <p:nvPicPr>
          <p:cNvPr id="22" name="fire wasp" descr="fire wasp (AA_FireWasp)&#10;drawSize 0.7900000214576721 · assigned here · art:improve&#10;“I like this a lot”"/>
          <p:cNvPicPr>
            <a:picLocks noChangeAspect="1"/>
          </p:cNvPicPr>
          <p:nvPr/>
        </p:nvPicPr>
        <p:blipFill>
          <a:blip r:embed="rId8"/>
          <a:stretch>
            <a:fillRect/>
          </a:stretch>
        </p:blipFill>
        <p:spPr>
          <a:xfrm>
            <a:off x="8100669" y="2185598"/>
            <a:ext cx="447873" cy="447873"/>
          </a:xfrm>
          <a:prstGeom prst="rect">
            <a:avLst/>
          </a:prstGeom>
        </p:spPr>
      </p:pic>
      <p:sp>
        <p:nvSpPr>
          <p:cNvPr id="23" name="Oval 22"/>
          <p:cNvSpPr/>
          <p:nvPr/>
        </p:nvSpPr>
        <p:spPr>
          <a:xfrm>
            <a:off x="8466246" y="21673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00669" y="2642615"/>
            <a:ext cx="640080" cy="146304"/>
          </a:xfrm>
          <a:prstGeom prst="rect">
            <a:avLst/>
          </a:prstGeom>
          <a:noFill/>
        </p:spPr>
        <p:txBody>
          <a:bodyPr wrap="none">
            <a:spAutoFit/>
          </a:bodyPr>
          <a:lstStyle/>
          <a:p>
            <a:pPr algn="ctr"/>
            <a:r>
              <a:rPr sz="600">
                <a:solidFill>
                  <a:srgbClr val="B9A488"/>
                </a:solidFill>
              </a:rPr>
              <a:t>fire wasp</a:t>
            </a:r>
          </a:p>
        </p:txBody>
      </p:sp>
      <p:pic>
        <p:nvPicPr>
          <p:cNvPr id="25" name="iriaz" descr="iriaz (Iriaz)&#10;drawSize 0.699999988079071 · assigned here · art:keep"/>
          <p:cNvPicPr>
            <a:picLocks noChangeAspect="1"/>
          </p:cNvPicPr>
          <p:nvPr/>
        </p:nvPicPr>
        <p:blipFill>
          <a:blip r:embed="rId9"/>
          <a:stretch>
            <a:fillRect/>
          </a:stretch>
        </p:blipFill>
        <p:spPr>
          <a:xfrm>
            <a:off x="8676558" y="2236622"/>
            <a:ext cx="396849" cy="396849"/>
          </a:xfrm>
          <a:prstGeom prst="rect">
            <a:avLst/>
          </a:prstGeom>
        </p:spPr>
      </p:pic>
      <p:sp>
        <p:nvSpPr>
          <p:cNvPr id="26" name="Oval 25"/>
          <p:cNvSpPr/>
          <p:nvPr/>
        </p:nvSpPr>
        <p:spPr>
          <a:xfrm>
            <a:off x="8991112" y="221833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76558" y="2642615"/>
            <a:ext cx="640080" cy="146304"/>
          </a:xfrm>
          <a:prstGeom prst="rect">
            <a:avLst/>
          </a:prstGeom>
          <a:noFill/>
        </p:spPr>
        <p:txBody>
          <a:bodyPr wrap="none">
            <a:spAutoFit/>
          </a:bodyPr>
          <a:lstStyle/>
          <a:p>
            <a:pPr algn="ctr"/>
            <a:r>
              <a:rPr sz="600">
                <a:solidFill>
                  <a:srgbClr val="B9A488"/>
                </a:solidFill>
              </a:rPr>
              <a:t>iriaz</a:t>
            </a:r>
          </a:p>
        </p:txBody>
      </p:sp>
      <p:pic>
        <p:nvPicPr>
          <p:cNvPr id="28" name="nuna" descr="nuna (Nuna)&#10;drawSize 0.6000000238418579 · assigned here · art:keep"/>
          <p:cNvPicPr>
            <a:picLocks noChangeAspect="1"/>
          </p:cNvPicPr>
          <p:nvPr/>
        </p:nvPicPr>
        <p:blipFill>
          <a:blip r:embed="rId10"/>
          <a:stretch>
            <a:fillRect/>
          </a:stretch>
        </p:blipFill>
        <p:spPr>
          <a:xfrm>
            <a:off x="9201424" y="2293315"/>
            <a:ext cx="340156" cy="340156"/>
          </a:xfrm>
          <a:prstGeom prst="rect">
            <a:avLst/>
          </a:prstGeom>
        </p:spPr>
      </p:pic>
      <p:sp>
        <p:nvSpPr>
          <p:cNvPr id="29" name="Oval 28"/>
          <p:cNvSpPr/>
          <p:nvPr/>
        </p:nvSpPr>
        <p:spPr>
          <a:xfrm>
            <a:off x="9459285" y="2275027"/>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01424" y="2642615"/>
            <a:ext cx="640080" cy="146304"/>
          </a:xfrm>
          <a:prstGeom prst="rect">
            <a:avLst/>
          </a:prstGeom>
          <a:noFill/>
        </p:spPr>
        <p:txBody>
          <a:bodyPr wrap="none">
            <a:spAutoFit/>
          </a:bodyPr>
          <a:lstStyle/>
          <a:p>
            <a:pPr algn="ctr"/>
            <a:r>
              <a:rPr sz="600">
                <a:solidFill>
                  <a:srgbClr val="B9A488"/>
                </a:solidFill>
              </a:rPr>
              <a:t>nuna</a:t>
            </a:r>
          </a:p>
        </p:txBody>
      </p:sp>
      <p:sp>
        <p:nvSpPr>
          <p:cNvPr id="31" name="TextBox 30"/>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32" name="AB_HardyGrass" descr="AB_HardyGrass (AB_HardyGrass)&#10;"/>
          <p:cNvPicPr>
            <a:picLocks noChangeAspect="1"/>
          </p:cNvPicPr>
          <p:nvPr/>
        </p:nvPicPr>
        <p:blipFill>
          <a:blip r:embed="rId11"/>
          <a:stretch>
            <a:fillRect/>
          </a:stretch>
        </p:blipFill>
        <p:spPr>
          <a:xfrm>
            <a:off x="274320" y="3822191"/>
            <a:ext cx="548639" cy="548639"/>
          </a:xfrm>
          <a:prstGeom prst="rect">
            <a:avLst/>
          </a:prstGeom>
        </p:spPr>
      </p:pic>
      <p:sp>
        <p:nvSpPr>
          <p:cNvPr id="33" name="TextBox 32"/>
          <p:cNvSpPr txBox="1"/>
          <p:nvPr/>
        </p:nvSpPr>
        <p:spPr>
          <a:xfrm>
            <a:off x="274320" y="4379975"/>
            <a:ext cx="640080" cy="146304"/>
          </a:xfrm>
          <a:prstGeom prst="rect">
            <a:avLst/>
          </a:prstGeom>
          <a:noFill/>
        </p:spPr>
        <p:txBody>
          <a:bodyPr wrap="none">
            <a:spAutoFit/>
          </a:bodyPr>
          <a:lstStyle/>
          <a:p>
            <a:pPr algn="ctr"/>
            <a:r>
              <a:rPr sz="600">
                <a:solidFill>
                  <a:srgbClr val="B9A488"/>
                </a:solidFill>
              </a:rPr>
              <a:t>AB_HardyGrass</a:t>
            </a:r>
          </a:p>
        </p:txBody>
      </p:sp>
      <p:pic>
        <p:nvPicPr>
          <p:cNvPr id="34" name="Plant_YellowGrass" descr="Plant_YellowGrass (Plant_YellowGrass)&#10;"/>
          <p:cNvPicPr>
            <a:picLocks noChangeAspect="1"/>
          </p:cNvPicPr>
          <p:nvPr/>
        </p:nvPicPr>
        <p:blipFill>
          <a:blip r:embed="rId12"/>
          <a:stretch>
            <a:fillRect/>
          </a:stretch>
        </p:blipFill>
        <p:spPr>
          <a:xfrm>
            <a:off x="950975" y="3822191"/>
            <a:ext cx="548639" cy="548639"/>
          </a:xfrm>
          <a:prstGeom prst="rect">
            <a:avLst/>
          </a:prstGeom>
        </p:spPr>
      </p:pic>
      <p:sp>
        <p:nvSpPr>
          <p:cNvPr id="35" name="TextBox 34"/>
          <p:cNvSpPr txBox="1"/>
          <p:nvPr/>
        </p:nvSpPr>
        <p:spPr>
          <a:xfrm>
            <a:off x="950975" y="4379975"/>
            <a:ext cx="640080" cy="146304"/>
          </a:xfrm>
          <a:prstGeom prst="rect">
            <a:avLst/>
          </a:prstGeom>
          <a:noFill/>
        </p:spPr>
        <p:txBody>
          <a:bodyPr wrap="none">
            <a:spAutoFit/>
          </a:bodyPr>
          <a:lstStyle/>
          <a:p>
            <a:pPr algn="ctr"/>
            <a:r>
              <a:rPr sz="600">
                <a:solidFill>
                  <a:srgbClr val="B9A488"/>
                </a:solidFill>
              </a:rPr>
              <a:t>Plant_YellowGras</a:t>
            </a:r>
          </a:p>
        </p:txBody>
      </p:sp>
      <p:pic>
        <p:nvPicPr>
          <p:cNvPr id="36" name="Plant_YellowTallGrass" descr="Plant_YellowTallGrass (Plant_YellowTallGrass)&#10;"/>
          <p:cNvPicPr>
            <a:picLocks noChangeAspect="1"/>
          </p:cNvPicPr>
          <p:nvPr/>
        </p:nvPicPr>
        <p:blipFill>
          <a:blip r:embed="rId13"/>
          <a:stretch>
            <a:fillRect/>
          </a:stretch>
        </p:blipFill>
        <p:spPr>
          <a:xfrm>
            <a:off x="1627631" y="3822191"/>
            <a:ext cx="548639" cy="548639"/>
          </a:xfrm>
          <a:prstGeom prst="rect">
            <a:avLst/>
          </a:prstGeom>
        </p:spPr>
      </p:pic>
      <p:sp>
        <p:nvSpPr>
          <p:cNvPr id="37" name="TextBox 36"/>
          <p:cNvSpPr txBox="1"/>
          <p:nvPr/>
        </p:nvSpPr>
        <p:spPr>
          <a:xfrm>
            <a:off x="1627631" y="4379975"/>
            <a:ext cx="640080" cy="146304"/>
          </a:xfrm>
          <a:prstGeom prst="rect">
            <a:avLst/>
          </a:prstGeom>
          <a:noFill/>
        </p:spPr>
        <p:txBody>
          <a:bodyPr wrap="none">
            <a:spAutoFit/>
          </a:bodyPr>
          <a:lstStyle/>
          <a:p>
            <a:pPr algn="ctr"/>
            <a:r>
              <a:rPr sz="600">
                <a:solidFill>
                  <a:srgbClr val="B9A488"/>
                </a:solidFill>
              </a:rPr>
              <a:t>Plant_YellowTall</a:t>
            </a:r>
          </a:p>
        </p:txBody>
      </p:sp>
      <p:sp>
        <p:nvSpPr>
          <p:cNvPr id="38" name="TextBox 37"/>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`ZBiome_Grasslands` (More Vanilla Biomes donor, thin — the identity was already ours). **The biome's name is THE PYRELANDS** — ruled 2026-08-15 (`hydrology_and_fire_ecology.md`, the naming section); common name **the burning savanna**. Thematic handle: **the standing burn** — and its image: **a grassland that has been on fire for twenty-five thousand years, and a people walking the flame-line collecting a debt.**_ 🔑 **This sheet is an assembly on ruled fire canon** — `hydrology_and_fire_ecology.md` R-H3/R-H4/R-H9 (2026-08-15) and the **FireEcology mod already built** at `src/RimStarWars/FireEcology/` (scorch-fruit, BlackRain, ash terrains, fulgurite, firefoam). What this sitting added: the water answer, the Rakatan crop, the four igniters, the three families, the Tribes' flame harvest and fire raids, and the Sun-Debt reconciliation.</a:t>
            </a:r>
          </a:p>
        </p:txBody>
      </p:sp>
      <p:sp>
        <p:nvSpPr>
          <p:cNvPr id="39" name="TextBox 38"/>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AA_Razorjack, Dalgo (GR_Boomsnake's "Pyrelands" move is voided by the boom-family cut). Departures (2): Boomalope→dungeon commission, Gizka. Flier extracted: AA_FireWasp.
INCONSISTENCIES:
1. The fire food-web (§4 — heat-banking furnace-beasts, boom-and-bust) now has NO creature expressing it: the boom cut removed the entire fire-linked fauna and the replacement goo-sack lives in dungeons.
2. Desert ban 4 explicitly assigns boom-and-bust populations to the Pyrelands — the mechanic is now assigned to nobody.
OPPORTUNITIES:
1. Commission one native furnace-beast (the §4 heat-banking grazer) or route AA_Barbslinger ("wherever needed in hot biomes", OPEN) here as the fire-cycle animal.
2. Razorjack as the burn-front follower (hunts fleeing animals ahead of fires) gives the arrival a fire-web role instead of a generic predator slot.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the_webwork</a:t>
            </a:r>
            <a:r>
              <a:rPr sz="1100">
                <a:solidFill>
                  <a:srgbClr val="B9A488"/>
                </a:solidFill>
              </a:rPr>
              <a:t>   4 animals · 7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wyyyschokk" descr="wyyyschokk (Wyyyschokk)&#10;drawSize 3.0 · assigned here · art:improve&#10;“Perfectly hideous.”"/>
          <p:cNvPicPr>
            <a:picLocks noChangeAspect="1"/>
          </p:cNvPicPr>
          <p:nvPr/>
        </p:nvPicPr>
        <p:blipFill>
          <a:blip r:embed="rId2"/>
          <a:stretch>
            <a:fillRect/>
          </a:stretch>
        </p:blipFill>
        <p:spPr>
          <a:xfrm>
            <a:off x="274320" y="932688"/>
            <a:ext cx="1700784" cy="1700784"/>
          </a:xfrm>
          <a:prstGeom prst="rect">
            <a:avLst/>
          </a:prstGeom>
        </p:spPr>
      </p:pic>
      <p:sp>
        <p:nvSpPr>
          <p:cNvPr id="5" name="Oval 4"/>
          <p:cNvSpPr/>
          <p:nvPr/>
        </p:nvSpPr>
        <p:spPr>
          <a:xfrm>
            <a:off x="1892807"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642615"/>
            <a:ext cx="1700784" cy="146304"/>
          </a:xfrm>
          <a:prstGeom prst="rect">
            <a:avLst/>
          </a:prstGeom>
          <a:noFill/>
        </p:spPr>
        <p:txBody>
          <a:bodyPr wrap="none">
            <a:spAutoFit/>
          </a:bodyPr>
          <a:lstStyle/>
          <a:p>
            <a:pPr algn="ctr"/>
            <a:r>
              <a:rPr sz="600">
                <a:solidFill>
                  <a:srgbClr val="B9A488"/>
                </a:solidFill>
              </a:rPr>
              <a:t>wyyyschokk</a:t>
            </a:r>
          </a:p>
        </p:txBody>
      </p:sp>
      <p:pic>
        <p:nvPicPr>
          <p:cNvPr id="7" name="jewel beetle" descr="jewel beetle (BMT_JewelBeetle)&#10;drawSize 2.450000047683716 · assigned here · art:keep"/>
          <p:cNvPicPr>
            <a:picLocks noChangeAspect="1"/>
          </p:cNvPicPr>
          <p:nvPr/>
        </p:nvPicPr>
        <p:blipFill>
          <a:blip r:embed="rId3"/>
          <a:stretch>
            <a:fillRect/>
          </a:stretch>
        </p:blipFill>
        <p:spPr>
          <a:xfrm>
            <a:off x="2103120" y="1244498"/>
            <a:ext cx="1388973" cy="1388973"/>
          </a:xfrm>
          <a:prstGeom prst="rect">
            <a:avLst/>
          </a:prstGeom>
        </p:spPr>
      </p:pic>
      <p:sp>
        <p:nvSpPr>
          <p:cNvPr id="8" name="Oval 7"/>
          <p:cNvSpPr/>
          <p:nvPr/>
        </p:nvSpPr>
        <p:spPr>
          <a:xfrm>
            <a:off x="3409797" y="122621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2642615"/>
            <a:ext cx="1388973" cy="146304"/>
          </a:xfrm>
          <a:prstGeom prst="rect">
            <a:avLst/>
          </a:prstGeom>
          <a:noFill/>
        </p:spPr>
        <p:txBody>
          <a:bodyPr wrap="none">
            <a:spAutoFit/>
          </a:bodyPr>
          <a:lstStyle/>
          <a:p>
            <a:pPr algn="ctr"/>
            <a:r>
              <a:rPr sz="600">
                <a:solidFill>
                  <a:srgbClr val="B9A488"/>
                </a:solidFill>
              </a:rPr>
              <a:t>jewel beetle</a:t>
            </a:r>
          </a:p>
        </p:txBody>
      </p:sp>
      <p:pic>
        <p:nvPicPr>
          <p:cNvPr id="10" name="shyrack" descr="shyrack (Shyrack)&#10;drawSize 0.75 · assigned here · art:keep"/>
          <p:cNvPicPr>
            <a:picLocks noChangeAspect="1"/>
          </p:cNvPicPr>
          <p:nvPr/>
        </p:nvPicPr>
        <p:blipFill>
          <a:blip r:embed="rId4"/>
          <a:stretch>
            <a:fillRect/>
          </a:stretch>
        </p:blipFill>
        <p:spPr>
          <a:xfrm>
            <a:off x="3620109" y="2208276"/>
            <a:ext cx="425196" cy="425196"/>
          </a:xfrm>
          <a:prstGeom prst="rect">
            <a:avLst/>
          </a:prstGeom>
        </p:spPr>
      </p:pic>
      <p:sp>
        <p:nvSpPr>
          <p:cNvPr id="11" name="Oval 10"/>
          <p:cNvSpPr/>
          <p:nvPr/>
        </p:nvSpPr>
        <p:spPr>
          <a:xfrm>
            <a:off x="3963009" y="218998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20109" y="2642615"/>
            <a:ext cx="640080" cy="146304"/>
          </a:xfrm>
          <a:prstGeom prst="rect">
            <a:avLst/>
          </a:prstGeom>
          <a:noFill/>
        </p:spPr>
        <p:txBody>
          <a:bodyPr wrap="none">
            <a:spAutoFit/>
          </a:bodyPr>
          <a:lstStyle/>
          <a:p>
            <a:pPr algn="ctr"/>
            <a:r>
              <a:rPr sz="600">
                <a:solidFill>
                  <a:srgbClr val="B9A488"/>
                </a:solidFill>
              </a:rPr>
              <a:t>shyrack</a:t>
            </a:r>
          </a:p>
        </p:txBody>
      </p:sp>
      <p:pic>
        <p:nvPicPr>
          <p:cNvPr id="13" name="kreetle" descr="kreetle (Kreetle)&#10;drawSize 0.20000000298023224 · assigned here · art:keep&#10;“arid type only”"/>
          <p:cNvPicPr>
            <a:picLocks noChangeAspect="1"/>
          </p:cNvPicPr>
          <p:nvPr/>
        </p:nvPicPr>
        <p:blipFill>
          <a:blip r:embed="rId5"/>
          <a:stretch>
            <a:fillRect/>
          </a:stretch>
        </p:blipFill>
        <p:spPr>
          <a:xfrm>
            <a:off x="4173321" y="2340864"/>
            <a:ext cx="292608" cy="292608"/>
          </a:xfrm>
          <a:prstGeom prst="rect">
            <a:avLst/>
          </a:prstGeom>
        </p:spPr>
      </p:pic>
      <p:sp>
        <p:nvSpPr>
          <p:cNvPr id="14" name="Oval 13"/>
          <p:cNvSpPr/>
          <p:nvPr/>
        </p:nvSpPr>
        <p:spPr>
          <a:xfrm>
            <a:off x="4383633" y="232257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73321" y="2642615"/>
            <a:ext cx="640080" cy="146304"/>
          </a:xfrm>
          <a:prstGeom prst="rect">
            <a:avLst/>
          </a:prstGeom>
          <a:noFill/>
        </p:spPr>
        <p:txBody>
          <a:bodyPr wrap="none">
            <a:spAutoFit/>
          </a:bodyPr>
          <a:lstStyle/>
          <a:p>
            <a:pPr algn="ctr"/>
            <a:r>
              <a:rPr sz="600">
                <a:solidFill>
                  <a:srgbClr val="B9A488"/>
                </a:solidFill>
              </a:rPr>
              <a:t>kreetle</a:t>
            </a:r>
          </a:p>
        </p:txBody>
      </p:sp>
      <p:sp>
        <p:nvSpPr>
          <p:cNvPr id="16" name="TextBox 15"/>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17" name="AB_TangleTea" descr="AB_TangleTea (AB_TangleTea)&#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AB_TangleTea</a:t>
            </a:r>
          </a:p>
        </p:txBody>
      </p:sp>
      <p:sp>
        <p:nvSpPr>
          <p:cNvPr id="18" name="TextBox 17"/>
          <p:cNvSpPr txBox="1"/>
          <p:nvPr/>
        </p:nvSpPr>
        <p:spPr>
          <a:xfrm>
            <a:off x="274320" y="4379975"/>
            <a:ext cx="640080" cy="146304"/>
          </a:xfrm>
          <a:prstGeom prst="rect">
            <a:avLst/>
          </a:prstGeom>
          <a:noFill/>
        </p:spPr>
        <p:txBody>
          <a:bodyPr wrap="none">
            <a:spAutoFit/>
          </a:bodyPr>
          <a:lstStyle/>
          <a:p>
            <a:pPr algn="ctr"/>
            <a:r>
              <a:rPr sz="600">
                <a:solidFill>
                  <a:srgbClr val="B9A488"/>
                </a:solidFill>
              </a:rPr>
              <a:t>AB_TangleTea</a:t>
            </a:r>
          </a:p>
        </p:txBody>
      </p:sp>
      <p:sp>
        <p:nvSpPr>
          <p:cNvPr id="19" name="Plant_TookeTrap_Wild" descr="Plant_TookeTrap_Wild (Plant_TookeTrap_Wild)&#10;&#10;[no cached sprite]"/>
          <p:cNvSpPr/>
          <p:nvPr/>
        </p:nvSpPr>
        <p:spPr>
          <a:xfrm>
            <a:off x="950975"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Plant_TookeTrap_Wild</a:t>
            </a:r>
          </a:p>
        </p:txBody>
      </p:sp>
      <p:sp>
        <p:nvSpPr>
          <p:cNvPr id="20" name="TextBox 19"/>
          <p:cNvSpPr txBox="1"/>
          <p:nvPr/>
        </p:nvSpPr>
        <p:spPr>
          <a:xfrm>
            <a:off x="950975" y="4379975"/>
            <a:ext cx="640080" cy="146304"/>
          </a:xfrm>
          <a:prstGeom prst="rect">
            <a:avLst/>
          </a:prstGeom>
          <a:noFill/>
        </p:spPr>
        <p:txBody>
          <a:bodyPr wrap="none">
            <a:spAutoFit/>
          </a:bodyPr>
          <a:lstStyle/>
          <a:p>
            <a:pPr algn="ctr"/>
            <a:r>
              <a:rPr sz="600">
                <a:solidFill>
                  <a:srgbClr val="B9A488"/>
                </a:solidFill>
              </a:rPr>
              <a:t>Plant_TookeTrap_</a:t>
            </a:r>
          </a:p>
        </p:txBody>
      </p:sp>
      <p:pic>
        <p:nvPicPr>
          <p:cNvPr id="21" name="AB_Aaklac" descr="AB_Aaklac (AB_Aaklac)&#10;"/>
          <p:cNvPicPr>
            <a:picLocks noChangeAspect="1"/>
          </p:cNvPicPr>
          <p:nvPr/>
        </p:nvPicPr>
        <p:blipFill>
          <a:blip r:embed="rId6"/>
          <a:stretch>
            <a:fillRect/>
          </a:stretch>
        </p:blipFill>
        <p:spPr>
          <a:xfrm>
            <a:off x="1627631" y="3822191"/>
            <a:ext cx="548639" cy="548639"/>
          </a:xfrm>
          <a:prstGeom prst="rect">
            <a:avLst/>
          </a:prstGeom>
        </p:spPr>
      </p:pic>
      <p:sp>
        <p:nvSpPr>
          <p:cNvPr id="22" name="TextBox 21"/>
          <p:cNvSpPr txBox="1"/>
          <p:nvPr/>
        </p:nvSpPr>
        <p:spPr>
          <a:xfrm>
            <a:off x="1627631" y="4379975"/>
            <a:ext cx="640080" cy="146304"/>
          </a:xfrm>
          <a:prstGeom prst="rect">
            <a:avLst/>
          </a:prstGeom>
          <a:noFill/>
        </p:spPr>
        <p:txBody>
          <a:bodyPr wrap="none">
            <a:spAutoFit/>
          </a:bodyPr>
          <a:lstStyle/>
          <a:p>
            <a:pPr algn="ctr"/>
            <a:r>
              <a:rPr sz="600">
                <a:solidFill>
                  <a:srgbClr val="B9A488"/>
                </a:solidFill>
              </a:rPr>
              <a:t>AB_Aaklac</a:t>
            </a:r>
          </a:p>
        </p:txBody>
      </p:sp>
      <p:sp>
        <p:nvSpPr>
          <p:cNvPr id="23" name="RG_Plant_TropicalChokevine" descr="RG_Plant_TropicalChokevine (RG_Plant_TropicalChokevine)&#10;&#10;[no cached sprite]"/>
          <p:cNvSpPr/>
          <p:nvPr/>
        </p:nvSpPr>
        <p:spPr>
          <a:xfrm>
            <a:off x="2304287"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RG_Plant_TropicalChokevine</a:t>
            </a:r>
          </a:p>
        </p:txBody>
      </p:sp>
      <p:sp>
        <p:nvSpPr>
          <p:cNvPr id="24" name="TextBox 23"/>
          <p:cNvSpPr txBox="1"/>
          <p:nvPr/>
        </p:nvSpPr>
        <p:spPr>
          <a:xfrm>
            <a:off x="2304287" y="4379975"/>
            <a:ext cx="640080" cy="146304"/>
          </a:xfrm>
          <a:prstGeom prst="rect">
            <a:avLst/>
          </a:prstGeom>
          <a:noFill/>
        </p:spPr>
        <p:txBody>
          <a:bodyPr wrap="none">
            <a:spAutoFit/>
          </a:bodyPr>
          <a:lstStyle/>
          <a:p>
            <a:pPr algn="ctr"/>
            <a:r>
              <a:rPr sz="600">
                <a:solidFill>
                  <a:srgbClr val="B9A488"/>
                </a:solidFill>
              </a:rPr>
              <a:t>RG_Plant_Tropica</a:t>
            </a:r>
          </a:p>
        </p:txBody>
      </p:sp>
      <p:pic>
        <p:nvPicPr>
          <p:cNvPr id="25" name="AB_Gomphoeria" descr="AB_Gomphoeria (AB_Gomphoeria)&#10;"/>
          <p:cNvPicPr>
            <a:picLocks noChangeAspect="1"/>
          </p:cNvPicPr>
          <p:nvPr/>
        </p:nvPicPr>
        <p:blipFill>
          <a:blip r:embed="rId7"/>
          <a:stretch>
            <a:fillRect/>
          </a:stretch>
        </p:blipFill>
        <p:spPr>
          <a:xfrm>
            <a:off x="2980943" y="3822191"/>
            <a:ext cx="548639" cy="548639"/>
          </a:xfrm>
          <a:prstGeom prst="rect">
            <a:avLst/>
          </a:prstGeom>
        </p:spPr>
      </p:pic>
      <p:sp>
        <p:nvSpPr>
          <p:cNvPr id="26" name="TextBox 25"/>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AB_Gomphoeria</a:t>
            </a:r>
          </a:p>
        </p:txBody>
      </p:sp>
      <p:pic>
        <p:nvPicPr>
          <p:cNvPr id="27" name="AB_RedBugloss" descr="AB_RedBugloss (AB_RedBugloss)&#10;"/>
          <p:cNvPicPr>
            <a:picLocks noChangeAspect="1"/>
          </p:cNvPicPr>
          <p:nvPr/>
        </p:nvPicPr>
        <p:blipFill>
          <a:blip r:embed="rId8"/>
          <a:stretch>
            <a:fillRect/>
          </a:stretch>
        </p:blipFill>
        <p:spPr>
          <a:xfrm>
            <a:off x="3657599" y="3822191"/>
            <a:ext cx="548639" cy="548639"/>
          </a:xfrm>
          <a:prstGeom prst="rect">
            <a:avLst/>
          </a:prstGeom>
        </p:spPr>
      </p:pic>
      <p:sp>
        <p:nvSpPr>
          <p:cNvPr id="28" name="TextBox 27"/>
          <p:cNvSpPr txBox="1"/>
          <p:nvPr/>
        </p:nvSpPr>
        <p:spPr>
          <a:xfrm>
            <a:off x="3657599" y="4379975"/>
            <a:ext cx="640080" cy="146304"/>
          </a:xfrm>
          <a:prstGeom prst="rect">
            <a:avLst/>
          </a:prstGeom>
          <a:noFill/>
        </p:spPr>
        <p:txBody>
          <a:bodyPr wrap="none">
            <a:spAutoFit/>
          </a:bodyPr>
          <a:lstStyle/>
          <a:p>
            <a:pPr algn="ctr"/>
            <a:r>
              <a:rPr sz="600">
                <a:solidFill>
                  <a:srgbClr val="B9A488"/>
                </a:solidFill>
              </a:rPr>
              <a:t>AB_RedBugloss</a:t>
            </a:r>
          </a:p>
        </p:txBody>
      </p:sp>
      <p:pic>
        <p:nvPicPr>
          <p:cNvPr id="29" name="AB_JungleTree" descr="AB_JungleTree (AB_JungleTree)&#10;"/>
          <p:cNvPicPr>
            <a:picLocks noChangeAspect="1"/>
          </p:cNvPicPr>
          <p:nvPr/>
        </p:nvPicPr>
        <p:blipFill>
          <a:blip r:embed="rId9"/>
          <a:stretch>
            <a:fillRect/>
          </a:stretch>
        </p:blipFill>
        <p:spPr>
          <a:xfrm>
            <a:off x="4334255" y="3822191"/>
            <a:ext cx="548639" cy="548639"/>
          </a:xfrm>
          <a:prstGeom prst="rect">
            <a:avLst/>
          </a:prstGeom>
        </p:spPr>
      </p:pic>
      <p:sp>
        <p:nvSpPr>
          <p:cNvPr id="30" name="TextBox 29"/>
          <p:cNvSpPr txBox="1"/>
          <p:nvPr/>
        </p:nvSpPr>
        <p:spPr>
          <a:xfrm>
            <a:off x="4334255" y="4379975"/>
            <a:ext cx="640080" cy="146304"/>
          </a:xfrm>
          <a:prstGeom prst="rect">
            <a:avLst/>
          </a:prstGeom>
          <a:noFill/>
        </p:spPr>
        <p:txBody>
          <a:bodyPr wrap="none">
            <a:spAutoFit/>
          </a:bodyPr>
          <a:lstStyle/>
          <a:p>
            <a:pPr algn="ctr"/>
            <a:r>
              <a:rPr sz="600">
                <a:solidFill>
                  <a:srgbClr val="B9A488"/>
                </a:solidFill>
              </a:rPr>
              <a:t>AB_JungleTree</a:t>
            </a:r>
          </a:p>
        </p:txBody>
      </p:sp>
      <p:sp>
        <p:nvSpPr>
          <p:cNvPr id="31" name="TextBox 30"/>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("Go for it, write it up!"). Defines `AB_FeraliskInfestedJungle` (Alpha Biomes). **The biome's name is THE WEBWORK** (owner's pick). The species keeps both its names by standing ruling: **Wyyyschokk** to the galaxy, **Feralisk** on this world (`Livestock_Trade_Utility_Pets_v1.md` — "leave the name and let the terrain carry the story"). Thematic handle: **the loom** — and its image: **a green and white hellscape, silent, owned, and growing.**_ 🔑 **Read against `the_greentide.md`** — the sibling green square, answered by inversion: the Greentide is loud, lawless plenty where *water makes the jungle*; the Webwork is silent, owned territory where *the jungle steals its water* — first through parasitic roots, then through the spiders' irrigation. The dayside's three water-laws (oasis peace / canyon ambush / river war) get a fourth register here: **occupied.** The truce concept does not even parse in the Webwork; you are not a fellow drinker, you are prey in someone's ledger.</a:t>
            </a:r>
          </a:p>
        </p:txBody>
      </p:sp>
      <p:sp>
        <p:nvSpPr>
          <p:cNvPr id="32" name="TextBox 31"/>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AA_Feralisk (ruled: reskin/merge INTO Wysokk), GR_Chickenspider ("baby evil spider" — juvenile Wyyyschokk).
1. Feralisk is a merge, not a new species — implement as Wysokk art/def work, cast stays 5.
2. Resident Kreetle carries the owner's "arid type only" note — the webwork copy should depart; unpropagated leftover.
3. OPPORTUNITY: Chickenspider-as-juvenile gives the Wyyyschokk a brood ecology — eggs in the dark cells (ban 6 synergy). Rename owed (chicken).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the_scarlands</a:t>
            </a:r>
            <a:r>
              <a:rPr sz="1100">
                <a:solidFill>
                  <a:srgbClr val="B9A488"/>
                </a:solidFill>
              </a:rPr>
              <a:t>   8 animals · 1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Juggernautbeetles" descr="Juggernautbeetles (SW_Juggernautbeetles)&#10;drawSize 3.0 · assigned here · art:keep"/>
          <p:cNvPicPr>
            <a:picLocks noChangeAspect="1"/>
          </p:cNvPicPr>
          <p:nvPr/>
        </p:nvPicPr>
        <p:blipFill>
          <a:blip r:embed="rId2"/>
          <a:stretch>
            <a:fillRect/>
          </a:stretch>
        </p:blipFill>
        <p:spPr>
          <a:xfrm>
            <a:off x="274320" y="932688"/>
            <a:ext cx="1700784" cy="1700784"/>
          </a:xfrm>
          <a:prstGeom prst="rect">
            <a:avLst/>
          </a:prstGeom>
        </p:spPr>
      </p:pic>
      <p:sp>
        <p:nvSpPr>
          <p:cNvPr id="5" name="Oval 4"/>
          <p:cNvSpPr/>
          <p:nvPr/>
        </p:nvSpPr>
        <p:spPr>
          <a:xfrm>
            <a:off x="1892807"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642615"/>
            <a:ext cx="1700784" cy="146304"/>
          </a:xfrm>
          <a:prstGeom prst="rect">
            <a:avLst/>
          </a:prstGeom>
          <a:noFill/>
        </p:spPr>
        <p:txBody>
          <a:bodyPr wrap="none">
            <a:spAutoFit/>
          </a:bodyPr>
          <a:lstStyle/>
          <a:p>
            <a:pPr algn="ctr"/>
            <a:r>
              <a:rPr sz="600">
                <a:solidFill>
                  <a:srgbClr val="B9A488"/>
                </a:solidFill>
              </a:rPr>
              <a:t>Juggernautbeetle</a:t>
            </a:r>
          </a:p>
        </p:txBody>
      </p:sp>
      <p:pic>
        <p:nvPicPr>
          <p:cNvPr id="7" name="foundry beetle" descr="foundry beetle (BMT_FoundryBeetle)&#10;drawSize 2.4000000953674316 · assigned here · art:improve&#10;“very very slow mover, almost helpless”"/>
          <p:cNvPicPr>
            <a:picLocks noChangeAspect="1"/>
          </p:cNvPicPr>
          <p:nvPr/>
        </p:nvPicPr>
        <p:blipFill>
          <a:blip r:embed="rId3"/>
          <a:stretch>
            <a:fillRect/>
          </a:stretch>
        </p:blipFill>
        <p:spPr>
          <a:xfrm>
            <a:off x="2103120" y="1272844"/>
            <a:ext cx="1360627" cy="1360627"/>
          </a:xfrm>
          <a:prstGeom prst="rect">
            <a:avLst/>
          </a:prstGeom>
        </p:spPr>
      </p:pic>
      <p:sp>
        <p:nvSpPr>
          <p:cNvPr id="8" name="Oval 7"/>
          <p:cNvSpPr/>
          <p:nvPr/>
        </p:nvSpPr>
        <p:spPr>
          <a:xfrm>
            <a:off x="3381451" y="125455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2642615"/>
            <a:ext cx="1360627" cy="146304"/>
          </a:xfrm>
          <a:prstGeom prst="rect">
            <a:avLst/>
          </a:prstGeom>
          <a:noFill/>
        </p:spPr>
        <p:txBody>
          <a:bodyPr wrap="none">
            <a:spAutoFit/>
          </a:bodyPr>
          <a:lstStyle/>
          <a:p>
            <a:pPr algn="ctr"/>
            <a:r>
              <a:rPr sz="600">
                <a:solidFill>
                  <a:srgbClr val="B9A488"/>
                </a:solidFill>
              </a:rPr>
              <a:t>foundry beetle</a:t>
            </a:r>
          </a:p>
        </p:txBody>
      </p:sp>
      <p:pic>
        <p:nvPicPr>
          <p:cNvPr id="10" name="Electricgryllotalpa" descr="Electricgryllotalpa (SW_Electricgryllotalpa)&#10;drawSize 1.5 · assigned here · art:keep&#10;“1 cell”"/>
          <p:cNvPicPr>
            <a:picLocks noChangeAspect="1"/>
          </p:cNvPicPr>
          <p:nvPr/>
        </p:nvPicPr>
        <p:blipFill>
          <a:blip r:embed="rId4"/>
          <a:stretch>
            <a:fillRect/>
          </a:stretch>
        </p:blipFill>
        <p:spPr>
          <a:xfrm>
            <a:off x="3591763" y="1783080"/>
            <a:ext cx="850392" cy="850392"/>
          </a:xfrm>
          <a:prstGeom prst="rect">
            <a:avLst/>
          </a:prstGeom>
        </p:spPr>
      </p:pic>
      <p:sp>
        <p:nvSpPr>
          <p:cNvPr id="11" name="Oval 10"/>
          <p:cNvSpPr/>
          <p:nvPr/>
        </p:nvSpPr>
        <p:spPr>
          <a:xfrm>
            <a:off x="4359859" y="176479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1763" y="2642615"/>
            <a:ext cx="850392" cy="146304"/>
          </a:xfrm>
          <a:prstGeom prst="rect">
            <a:avLst/>
          </a:prstGeom>
          <a:noFill/>
        </p:spPr>
        <p:txBody>
          <a:bodyPr wrap="none">
            <a:spAutoFit/>
          </a:bodyPr>
          <a:lstStyle/>
          <a:p>
            <a:pPr algn="ctr"/>
            <a:r>
              <a:rPr sz="600">
                <a:solidFill>
                  <a:srgbClr val="B9A488"/>
                </a:solidFill>
              </a:rPr>
              <a:t>Electricgryllota</a:t>
            </a:r>
          </a:p>
        </p:txBody>
      </p:sp>
      <p:pic>
        <p:nvPicPr>
          <p:cNvPr id="13" name="rimclaw" descr="rimclaw (RG_Rimclaw)&#10;drawSize 1.0 · assigned here · art:improve"/>
          <p:cNvPicPr>
            <a:picLocks noChangeAspect="1"/>
          </p:cNvPicPr>
          <p:nvPr/>
        </p:nvPicPr>
        <p:blipFill>
          <a:blip r:embed="rId5"/>
          <a:stretch>
            <a:fillRect/>
          </a:stretch>
        </p:blipFill>
        <p:spPr>
          <a:xfrm>
            <a:off x="4570171" y="2066543"/>
            <a:ext cx="566928" cy="566928"/>
          </a:xfrm>
          <a:prstGeom prst="rect">
            <a:avLst/>
          </a:prstGeom>
        </p:spPr>
      </p:pic>
      <p:sp>
        <p:nvSpPr>
          <p:cNvPr id="14" name="Oval 13"/>
          <p:cNvSpPr/>
          <p:nvPr/>
        </p:nvSpPr>
        <p:spPr>
          <a:xfrm>
            <a:off x="5054803" y="2048255"/>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0171" y="2642615"/>
            <a:ext cx="640080" cy="146304"/>
          </a:xfrm>
          <a:prstGeom prst="rect">
            <a:avLst/>
          </a:prstGeom>
          <a:noFill/>
        </p:spPr>
        <p:txBody>
          <a:bodyPr wrap="none">
            <a:spAutoFit/>
          </a:bodyPr>
          <a:lstStyle/>
          <a:p>
            <a:pPr algn="ctr"/>
            <a:r>
              <a:rPr sz="600">
                <a:solidFill>
                  <a:srgbClr val="B9A488"/>
                </a:solidFill>
              </a:rPr>
              <a:t>rimclaw</a:t>
            </a:r>
          </a:p>
        </p:txBody>
      </p:sp>
      <p:pic>
        <p:nvPicPr>
          <p:cNvPr id="16" name="mynock" descr="mynock (Mynock)&#10;drawSize 0.5 · assigned here · art:keep"/>
          <p:cNvPicPr>
            <a:picLocks noChangeAspect="1"/>
          </p:cNvPicPr>
          <p:nvPr/>
        </p:nvPicPr>
        <p:blipFill>
          <a:blip r:embed="rId6"/>
          <a:stretch>
            <a:fillRect/>
          </a:stretch>
        </p:blipFill>
        <p:spPr>
          <a:xfrm>
            <a:off x="5265115" y="2340864"/>
            <a:ext cx="292608" cy="292608"/>
          </a:xfrm>
          <a:prstGeom prst="rect">
            <a:avLst/>
          </a:prstGeom>
        </p:spPr>
      </p:pic>
      <p:sp>
        <p:nvSpPr>
          <p:cNvPr id="17" name="Oval 16"/>
          <p:cNvSpPr/>
          <p:nvPr/>
        </p:nvSpPr>
        <p:spPr>
          <a:xfrm>
            <a:off x="5475427" y="232257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65115" y="2642615"/>
            <a:ext cx="640080" cy="146304"/>
          </a:xfrm>
          <a:prstGeom prst="rect">
            <a:avLst/>
          </a:prstGeom>
          <a:noFill/>
        </p:spPr>
        <p:txBody>
          <a:bodyPr wrap="none">
            <a:spAutoFit/>
          </a:bodyPr>
          <a:lstStyle/>
          <a:p>
            <a:pPr algn="ctr"/>
            <a:r>
              <a:rPr sz="600">
                <a:solidFill>
                  <a:srgbClr val="B9A488"/>
                </a:solidFill>
              </a:rPr>
              <a:t>mynock</a:t>
            </a:r>
          </a:p>
        </p:txBody>
      </p:sp>
      <p:pic>
        <p:nvPicPr>
          <p:cNvPr id="19" name="Electrictick" descr="Electrictick (SW_Electrictick)&#10;drawSize 0.25 · assigned here · art:keep&#10;“0.2 cells, come in large numbers”"/>
          <p:cNvPicPr>
            <a:picLocks noChangeAspect="1"/>
          </p:cNvPicPr>
          <p:nvPr/>
        </p:nvPicPr>
        <p:blipFill>
          <a:blip r:embed="rId7"/>
          <a:stretch>
            <a:fillRect/>
          </a:stretch>
        </p:blipFill>
        <p:spPr>
          <a:xfrm>
            <a:off x="5685739" y="2340864"/>
            <a:ext cx="292608" cy="292608"/>
          </a:xfrm>
          <a:prstGeom prst="rect">
            <a:avLst/>
          </a:prstGeom>
        </p:spPr>
      </p:pic>
      <p:sp>
        <p:nvSpPr>
          <p:cNvPr id="20" name="Oval 19"/>
          <p:cNvSpPr/>
          <p:nvPr/>
        </p:nvSpPr>
        <p:spPr>
          <a:xfrm>
            <a:off x="5896051" y="232257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85739" y="2642615"/>
            <a:ext cx="640080" cy="146304"/>
          </a:xfrm>
          <a:prstGeom prst="rect">
            <a:avLst/>
          </a:prstGeom>
          <a:noFill/>
        </p:spPr>
        <p:txBody>
          <a:bodyPr wrap="none">
            <a:spAutoFit/>
          </a:bodyPr>
          <a:lstStyle/>
          <a:p>
            <a:pPr algn="ctr"/>
            <a:r>
              <a:rPr sz="600">
                <a:solidFill>
                  <a:srgbClr val="B9A488"/>
                </a:solidFill>
              </a:rPr>
              <a:t>Electrictick</a:t>
            </a:r>
          </a:p>
        </p:txBody>
      </p:sp>
      <p:pic>
        <p:nvPicPr>
          <p:cNvPr id="22" name="Electrictick" descr="Electrictick (SW_Electrictick)&#10;drawSize 0.25 · moved in from wasteland · art:keep&#10;“only scarlands”"/>
          <p:cNvPicPr>
            <a:picLocks noChangeAspect="1"/>
          </p:cNvPicPr>
          <p:nvPr/>
        </p:nvPicPr>
        <p:blipFill>
          <a:blip r:embed="rId7"/>
          <a:stretch>
            <a:fillRect/>
          </a:stretch>
        </p:blipFill>
        <p:spPr>
          <a:xfrm>
            <a:off x="6106363" y="2340864"/>
            <a:ext cx="292608" cy="292608"/>
          </a:xfrm>
          <a:prstGeom prst="rect">
            <a:avLst/>
          </a:prstGeom>
        </p:spPr>
      </p:pic>
      <p:sp>
        <p:nvSpPr>
          <p:cNvPr id="23" name="Oval 22"/>
          <p:cNvSpPr/>
          <p:nvPr/>
        </p:nvSpPr>
        <p:spPr>
          <a:xfrm>
            <a:off x="6316675" y="2322576"/>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06363" y="2642615"/>
            <a:ext cx="640080" cy="146304"/>
          </a:xfrm>
          <a:prstGeom prst="rect">
            <a:avLst/>
          </a:prstGeom>
          <a:noFill/>
        </p:spPr>
        <p:txBody>
          <a:bodyPr wrap="none">
            <a:spAutoFit/>
          </a:bodyPr>
          <a:lstStyle/>
          <a:p>
            <a:pPr algn="ctr"/>
            <a:r>
              <a:rPr sz="600">
                <a:solidFill>
                  <a:srgbClr val="B9A488"/>
                </a:solidFill>
              </a:rPr>
              <a:t>Electrictick</a:t>
            </a:r>
          </a:p>
        </p:txBody>
      </p:sp>
      <p:pic>
        <p:nvPicPr>
          <p:cNvPr id="25" name="acanthamoeba gigantea, small" descr="acanthamoeba gigantea, small (AA_AcanthamoebaGiganteaSmall)&#10;drawSize 0.20000000298023224 · moved in from wasteland · art:improve&#10;“scarlands”"/>
          <p:cNvPicPr>
            <a:picLocks noChangeAspect="1"/>
          </p:cNvPicPr>
          <p:nvPr/>
        </p:nvPicPr>
        <p:blipFill>
          <a:blip r:embed="rId8"/>
          <a:stretch>
            <a:fillRect/>
          </a:stretch>
        </p:blipFill>
        <p:spPr>
          <a:xfrm>
            <a:off x="6526987" y="2340864"/>
            <a:ext cx="292608" cy="292608"/>
          </a:xfrm>
          <a:prstGeom prst="rect">
            <a:avLst/>
          </a:prstGeom>
        </p:spPr>
      </p:pic>
      <p:sp>
        <p:nvSpPr>
          <p:cNvPr id="26" name="Oval 25"/>
          <p:cNvSpPr/>
          <p:nvPr/>
        </p:nvSpPr>
        <p:spPr>
          <a:xfrm>
            <a:off x="6737299" y="2322576"/>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6987" y="2642615"/>
            <a:ext cx="640080" cy="146304"/>
          </a:xfrm>
          <a:prstGeom prst="rect">
            <a:avLst/>
          </a:prstGeom>
          <a:noFill/>
        </p:spPr>
        <p:txBody>
          <a:bodyPr wrap="none">
            <a:spAutoFit/>
          </a:bodyPr>
          <a:lstStyle/>
          <a:p>
            <a:pPr algn="ctr"/>
            <a:r>
              <a:rPr sz="600">
                <a:solidFill>
                  <a:srgbClr val="B9A488"/>
                </a:solidFill>
              </a:rPr>
              <a:t>acanthamoeba gig</a:t>
            </a:r>
          </a:p>
        </p:txBody>
      </p:sp>
      <p:sp>
        <p:nvSpPr>
          <p:cNvPr id="28" name="TextBox 27"/>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29" name="BMT_Plant_ScorchedStars" descr="BMT_Plant_ScorchedStars (BMT_Plant_ScorchedStars)&#10;"/>
          <p:cNvPicPr>
            <a:picLocks noChangeAspect="1"/>
          </p:cNvPicPr>
          <p:nvPr/>
        </p:nvPicPr>
        <p:blipFill>
          <a:blip r:embed="rId9"/>
          <a:stretch>
            <a:fillRect/>
          </a:stretch>
        </p:blipFill>
        <p:spPr>
          <a:xfrm>
            <a:off x="274320" y="3822191"/>
            <a:ext cx="548639" cy="548639"/>
          </a:xfrm>
          <a:prstGeom prst="rect">
            <a:avLst/>
          </a:prstGeom>
        </p:spPr>
      </p:pic>
      <p:sp>
        <p:nvSpPr>
          <p:cNvPr id="30" name="TextBox 29"/>
          <p:cNvSpPr txBox="1"/>
          <p:nvPr/>
        </p:nvSpPr>
        <p:spPr>
          <a:xfrm>
            <a:off x="274320" y="4379975"/>
            <a:ext cx="640080" cy="146304"/>
          </a:xfrm>
          <a:prstGeom prst="rect">
            <a:avLst/>
          </a:prstGeom>
          <a:noFill/>
        </p:spPr>
        <p:txBody>
          <a:bodyPr wrap="none">
            <a:spAutoFit/>
          </a:bodyPr>
          <a:lstStyle/>
          <a:p>
            <a:pPr algn="ctr"/>
            <a:r>
              <a:rPr sz="600">
                <a:solidFill>
                  <a:srgbClr val="B9A488"/>
                </a:solidFill>
              </a:rPr>
              <a:t>BMT_Plant_Scorch</a:t>
            </a:r>
          </a:p>
        </p:txBody>
      </p:sp>
      <p:sp>
        <p:nvSpPr>
          <p:cNvPr id="31" name="TextBox 30"/>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("Ok! Let's write it up! Nice work."). Defines `Scarlands` — 🔑 **vanilla Odyssey, not a mod** (verified in the source index: `Defs/Odyssey/BiomeDefs/Scarlands.xml`, with first-party ruins layouts, crater gen-steps, junk prefabs and gravcore site hooks — the one donor that can never be retired out from under us). **The name is kept: THE SCARLANDS** (owner's ruling). Thematic handle: **the last stand** — and its image: **a battlefield where the whole story is still legible in the ground, except who the enemy was.**_ 🔴 **THE LORE IS PARTITIONED.** This sheet contains campaign truths the players must DISCOVER (owner's ruling). §P is everything a player-facing text may say; §GM is the truth ladder with its reveal gates. **Nothing from §GM appears in any def description, biome text, or first-tier lore doc** — written as a hard ban in §6 so no roster or flavor pass can leak it.</a:t>
            </a:r>
          </a:p>
        </p:txBody>
      </p:sp>
      <p:sp>
        <p:nvSpPr>
          <p:cNvPr id="32" name="TextBox 31"/>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(8, deduped): AA_AcanthamoebaGiganteaSmall, BMT_CrystalFairyMole, BMT_MegaphoridLarva, BMT_Stoneback, RSW_ShaleGorger, SW_Electricfish, SW_Grenadierworm, VFEI2_Acidspitter, VFEI2_RoyalSpelopede (SW_Electrictick already resident — its wasteland row is consolidation, not arrival).
Departures (2): AA_Helixien, AA_SpinedGow. Cut: VFEI2_Boomtick (boom family).
INCONSISTENCIES:
1. SW_Electricfish needs a water body; the sheet's only liquids are rainbow acid pools — either it lives IN acid (say so) or it misroutes.
2. Nine arrivals nearly double a biome whose §4 is "what life REMAINS" — sparse-wound register; thin or justify density.
OPPORTUNITIES:
1. Electro-cluster (Electrictick, Electricfish, Electricgryllotalpa, Grenadierworm) is now a coherent "the ground still discharges" fauna story — name it in §4.
2. MegaphoridLarva resident + Megaphorid adult as injectable hive = a life-cycle hook no other biome has.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the_slime</a:t>
            </a:r>
            <a:r>
              <a:rPr sz="1100">
                <a:solidFill>
                  <a:srgbClr val="B9A488"/>
                </a:solidFill>
              </a:rPr>
              <a:t>   3 animals · 6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acanthamoeba gigantea, large" descr="acanthamoeba gigantea, large (AA_AcanthamoebaGiganteaLarge)&#10;drawSize 0.800000011920929 · assigned here · art:improve"/>
          <p:cNvPicPr>
            <a:picLocks noChangeAspect="1"/>
          </p:cNvPicPr>
          <p:nvPr/>
        </p:nvPicPr>
        <p:blipFill>
          <a:blip r:embed="rId2"/>
          <a:stretch>
            <a:fillRect/>
          </a:stretch>
        </p:blipFill>
        <p:spPr>
          <a:xfrm>
            <a:off x="274320" y="932688"/>
            <a:ext cx="453542" cy="453542"/>
          </a:xfrm>
          <a:prstGeom prst="rect">
            <a:avLst/>
          </a:prstGeom>
        </p:spPr>
      </p:pic>
      <p:sp>
        <p:nvSpPr>
          <p:cNvPr id="5" name="Oval 4"/>
          <p:cNvSpPr/>
          <p:nvPr/>
        </p:nvSpPr>
        <p:spPr>
          <a:xfrm>
            <a:off x="645566"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395374"/>
            <a:ext cx="640080" cy="146304"/>
          </a:xfrm>
          <a:prstGeom prst="rect">
            <a:avLst/>
          </a:prstGeom>
          <a:noFill/>
        </p:spPr>
        <p:txBody>
          <a:bodyPr wrap="none">
            <a:spAutoFit/>
          </a:bodyPr>
          <a:lstStyle/>
          <a:p>
            <a:pPr algn="ctr"/>
            <a:r>
              <a:rPr sz="600">
                <a:solidFill>
                  <a:srgbClr val="B9A488"/>
                </a:solidFill>
              </a:rPr>
              <a:t>acanthamoeba gig</a:t>
            </a:r>
          </a:p>
        </p:txBody>
      </p:sp>
      <p:pic>
        <p:nvPicPr>
          <p:cNvPr id="7" name="green goo" descr="green goo (AA_GreenGoo)&#10;drawSize 0.5 · assigned here · art:improve"/>
          <p:cNvPicPr>
            <a:picLocks noChangeAspect="1"/>
          </p:cNvPicPr>
          <p:nvPr/>
        </p:nvPicPr>
        <p:blipFill>
          <a:blip r:embed="rId3"/>
          <a:stretch>
            <a:fillRect/>
          </a:stretch>
        </p:blipFill>
        <p:spPr>
          <a:xfrm>
            <a:off x="855878" y="1093622"/>
            <a:ext cx="292608" cy="292608"/>
          </a:xfrm>
          <a:prstGeom prst="rect">
            <a:avLst/>
          </a:prstGeom>
        </p:spPr>
      </p:pic>
      <p:sp>
        <p:nvSpPr>
          <p:cNvPr id="8" name="Oval 7"/>
          <p:cNvSpPr/>
          <p:nvPr/>
        </p:nvSpPr>
        <p:spPr>
          <a:xfrm>
            <a:off x="1066190" y="107533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5878" y="1395374"/>
            <a:ext cx="640080" cy="146304"/>
          </a:xfrm>
          <a:prstGeom prst="rect">
            <a:avLst/>
          </a:prstGeom>
          <a:noFill/>
        </p:spPr>
        <p:txBody>
          <a:bodyPr wrap="none">
            <a:spAutoFit/>
          </a:bodyPr>
          <a:lstStyle/>
          <a:p>
            <a:pPr algn="ctr"/>
            <a:r>
              <a:rPr sz="600">
                <a:solidFill>
                  <a:srgbClr val="B9A488"/>
                </a:solidFill>
              </a:rPr>
              <a:t>green goo</a:t>
            </a:r>
          </a:p>
        </p:txBody>
      </p:sp>
      <p:pic>
        <p:nvPicPr>
          <p:cNvPr id="10" name="chickenrabbit" descr="chickenrabbit (GR_Chickenrabbit)&#10;drawSize 0.15000000596046448 · assigned here · art:keep&#10;“0.5 cells”"/>
          <p:cNvPicPr>
            <a:picLocks noChangeAspect="1"/>
          </p:cNvPicPr>
          <p:nvPr/>
        </p:nvPicPr>
        <p:blipFill>
          <a:blip r:embed="rId4"/>
          <a:stretch>
            <a:fillRect/>
          </a:stretch>
        </p:blipFill>
        <p:spPr>
          <a:xfrm>
            <a:off x="1276502" y="1093622"/>
            <a:ext cx="292608" cy="292608"/>
          </a:xfrm>
          <a:prstGeom prst="rect">
            <a:avLst/>
          </a:prstGeom>
        </p:spPr>
      </p:pic>
      <p:sp>
        <p:nvSpPr>
          <p:cNvPr id="11" name="Oval 10"/>
          <p:cNvSpPr/>
          <p:nvPr/>
        </p:nvSpPr>
        <p:spPr>
          <a:xfrm>
            <a:off x="1486814" y="1075334"/>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76502" y="1395374"/>
            <a:ext cx="640080" cy="146304"/>
          </a:xfrm>
          <a:prstGeom prst="rect">
            <a:avLst/>
          </a:prstGeom>
          <a:noFill/>
        </p:spPr>
        <p:txBody>
          <a:bodyPr wrap="none">
            <a:spAutoFit/>
          </a:bodyPr>
          <a:lstStyle/>
          <a:p>
            <a:pPr algn="ctr"/>
            <a:r>
              <a:rPr sz="600">
                <a:solidFill>
                  <a:srgbClr val="B9A488"/>
                </a:solidFill>
              </a:rPr>
              <a:t>chickenrabbit</a:t>
            </a:r>
          </a:p>
        </p:txBody>
      </p:sp>
      <p:sp>
        <p:nvSpPr>
          <p:cNvPr id="13" name="TextBox 12"/>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14" name="AB_TallSlimyGrass" descr="AB_TallSlimyGrass (AB_TallSlimyGrass)&#10;"/>
          <p:cNvPicPr>
            <a:picLocks noChangeAspect="1"/>
          </p:cNvPicPr>
          <p:nvPr/>
        </p:nvPicPr>
        <p:blipFill>
          <a:blip r:embed="rId5"/>
          <a:stretch>
            <a:fillRect/>
          </a:stretch>
        </p:blipFill>
        <p:spPr>
          <a:xfrm>
            <a:off x="274320" y="3822191"/>
            <a:ext cx="548639" cy="548639"/>
          </a:xfrm>
          <a:prstGeom prst="rect">
            <a:avLst/>
          </a:prstGeom>
        </p:spPr>
      </p:pic>
      <p:sp>
        <p:nvSpPr>
          <p:cNvPr id="15" name="TextBox 14"/>
          <p:cNvSpPr txBox="1"/>
          <p:nvPr/>
        </p:nvSpPr>
        <p:spPr>
          <a:xfrm>
            <a:off x="274320" y="4379975"/>
            <a:ext cx="640080" cy="146304"/>
          </a:xfrm>
          <a:prstGeom prst="rect">
            <a:avLst/>
          </a:prstGeom>
          <a:noFill/>
        </p:spPr>
        <p:txBody>
          <a:bodyPr wrap="none">
            <a:spAutoFit/>
          </a:bodyPr>
          <a:lstStyle/>
          <a:p>
            <a:pPr algn="ctr"/>
            <a:r>
              <a:rPr sz="600">
                <a:solidFill>
                  <a:srgbClr val="B9A488"/>
                </a:solidFill>
              </a:rPr>
              <a:t>AB_TallSlimyGras</a:t>
            </a:r>
          </a:p>
        </p:txBody>
      </p:sp>
      <p:pic>
        <p:nvPicPr>
          <p:cNvPr id="16" name="AB_Slimecasia" descr="AB_Slimecasia (AB_Slimecasia)&#10;"/>
          <p:cNvPicPr>
            <a:picLocks noChangeAspect="1"/>
          </p:cNvPicPr>
          <p:nvPr/>
        </p:nvPicPr>
        <p:blipFill>
          <a:blip r:embed="rId6"/>
          <a:stretch>
            <a:fillRect/>
          </a:stretch>
        </p:blipFill>
        <p:spPr>
          <a:xfrm>
            <a:off x="950975" y="3822191"/>
            <a:ext cx="548639" cy="548639"/>
          </a:xfrm>
          <a:prstGeom prst="rect">
            <a:avLst/>
          </a:prstGeom>
        </p:spPr>
      </p:pic>
      <p:sp>
        <p:nvSpPr>
          <p:cNvPr id="17" name="TextBox 16"/>
          <p:cNvSpPr txBox="1"/>
          <p:nvPr/>
        </p:nvSpPr>
        <p:spPr>
          <a:xfrm>
            <a:off x="950975" y="4379975"/>
            <a:ext cx="640080" cy="146304"/>
          </a:xfrm>
          <a:prstGeom prst="rect">
            <a:avLst/>
          </a:prstGeom>
          <a:noFill/>
        </p:spPr>
        <p:txBody>
          <a:bodyPr wrap="none">
            <a:spAutoFit/>
          </a:bodyPr>
          <a:lstStyle/>
          <a:p>
            <a:pPr algn="ctr"/>
            <a:r>
              <a:rPr sz="600">
                <a:solidFill>
                  <a:srgbClr val="B9A488"/>
                </a:solidFill>
              </a:rPr>
              <a:t>AB_Slimecasia</a:t>
            </a:r>
          </a:p>
        </p:txBody>
      </p:sp>
      <p:pic>
        <p:nvPicPr>
          <p:cNvPr id="18" name="AB_SlimyFern" descr="AB_SlimyFern (AB_SlimyFern)&#10;"/>
          <p:cNvPicPr>
            <a:picLocks noChangeAspect="1"/>
          </p:cNvPicPr>
          <p:nvPr/>
        </p:nvPicPr>
        <p:blipFill>
          <a:blip r:embed="rId7"/>
          <a:stretch>
            <a:fillRect/>
          </a:stretch>
        </p:blipFill>
        <p:spPr>
          <a:xfrm>
            <a:off x="1627631" y="3822191"/>
            <a:ext cx="548639" cy="548639"/>
          </a:xfrm>
          <a:prstGeom prst="rect">
            <a:avLst/>
          </a:prstGeom>
        </p:spPr>
      </p:pic>
      <p:sp>
        <p:nvSpPr>
          <p:cNvPr id="19" name="TextBox 18"/>
          <p:cNvSpPr txBox="1"/>
          <p:nvPr/>
        </p:nvSpPr>
        <p:spPr>
          <a:xfrm>
            <a:off x="1627631" y="4379975"/>
            <a:ext cx="640080" cy="146304"/>
          </a:xfrm>
          <a:prstGeom prst="rect">
            <a:avLst/>
          </a:prstGeom>
          <a:noFill/>
        </p:spPr>
        <p:txBody>
          <a:bodyPr wrap="none">
            <a:spAutoFit/>
          </a:bodyPr>
          <a:lstStyle/>
          <a:p>
            <a:pPr algn="ctr"/>
            <a:r>
              <a:rPr sz="600">
                <a:solidFill>
                  <a:srgbClr val="B9A488"/>
                </a:solidFill>
              </a:rPr>
              <a:t>AB_SlimyFern</a:t>
            </a:r>
          </a:p>
        </p:txBody>
      </p:sp>
      <p:pic>
        <p:nvPicPr>
          <p:cNvPr id="20" name="AB_SlimyTree" descr="AB_SlimyTree (AB_SlimyTree)&#10;"/>
          <p:cNvPicPr>
            <a:picLocks noChangeAspect="1"/>
          </p:cNvPicPr>
          <p:nvPr/>
        </p:nvPicPr>
        <p:blipFill>
          <a:blip r:embed="rId8"/>
          <a:stretch>
            <a:fillRect/>
          </a:stretch>
        </p:blipFill>
        <p:spPr>
          <a:xfrm>
            <a:off x="2304287" y="3822191"/>
            <a:ext cx="548639" cy="548639"/>
          </a:xfrm>
          <a:prstGeom prst="rect">
            <a:avLst/>
          </a:prstGeom>
        </p:spPr>
      </p:pic>
      <p:sp>
        <p:nvSpPr>
          <p:cNvPr id="21" name="TextBox 20"/>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AB_SlimyTree</a:t>
            </a:r>
          </a:p>
        </p:txBody>
      </p:sp>
      <p:pic>
        <p:nvPicPr>
          <p:cNvPr id="22" name="AB_LargeSlimyTree" descr="AB_LargeSlimyTree (AB_LargeSlimyTree)&#10;"/>
          <p:cNvPicPr>
            <a:picLocks noChangeAspect="1"/>
          </p:cNvPicPr>
          <p:nvPr/>
        </p:nvPicPr>
        <p:blipFill>
          <a:blip r:embed="rId9"/>
          <a:stretch>
            <a:fillRect/>
          </a:stretch>
        </p:blipFill>
        <p:spPr>
          <a:xfrm>
            <a:off x="2980943" y="3822191"/>
            <a:ext cx="548639" cy="548639"/>
          </a:xfrm>
          <a:prstGeom prst="rect">
            <a:avLst/>
          </a:prstGeom>
        </p:spPr>
      </p:pic>
      <p:sp>
        <p:nvSpPr>
          <p:cNvPr id="23" name="TextBox 22"/>
          <p:cNvSpPr txBox="1"/>
          <p:nvPr/>
        </p:nvSpPr>
        <p:spPr>
          <a:xfrm>
            <a:off x="2980943" y="4379975"/>
            <a:ext cx="640080" cy="146304"/>
          </a:xfrm>
          <a:prstGeom prst="rect">
            <a:avLst/>
          </a:prstGeom>
          <a:noFill/>
        </p:spPr>
        <p:txBody>
          <a:bodyPr wrap="none">
            <a:spAutoFit/>
          </a:bodyPr>
          <a:lstStyle/>
          <a:p>
            <a:pPr algn="ctr"/>
            <a:r>
              <a:rPr sz="600">
                <a:solidFill>
                  <a:srgbClr val="B9A488"/>
                </a:solidFill>
              </a:rPr>
              <a:t>AB_LargeSlimyTre</a:t>
            </a:r>
          </a:p>
        </p:txBody>
      </p:sp>
      <p:pic>
        <p:nvPicPr>
          <p:cNvPr id="24" name="AB_SlimyPholiota" descr="AB_SlimyPholiota (AB_SlimyPholiota)&#10;"/>
          <p:cNvPicPr>
            <a:picLocks noChangeAspect="1"/>
          </p:cNvPicPr>
          <p:nvPr/>
        </p:nvPicPr>
        <p:blipFill>
          <a:blip r:embed="rId10"/>
          <a:stretch>
            <a:fillRect/>
          </a:stretch>
        </p:blipFill>
        <p:spPr>
          <a:xfrm>
            <a:off x="3657599" y="3822191"/>
            <a:ext cx="548639" cy="548639"/>
          </a:xfrm>
          <a:prstGeom prst="rect">
            <a:avLst/>
          </a:prstGeom>
        </p:spPr>
      </p:pic>
      <p:sp>
        <p:nvSpPr>
          <p:cNvPr id="25" name="TextBox 24"/>
          <p:cNvSpPr txBox="1"/>
          <p:nvPr/>
        </p:nvSpPr>
        <p:spPr>
          <a:xfrm>
            <a:off x="3657599" y="4379975"/>
            <a:ext cx="640080" cy="146304"/>
          </a:xfrm>
          <a:prstGeom prst="rect">
            <a:avLst/>
          </a:prstGeom>
          <a:noFill/>
        </p:spPr>
        <p:txBody>
          <a:bodyPr wrap="none">
            <a:spAutoFit/>
          </a:bodyPr>
          <a:lstStyle/>
          <a:p>
            <a:pPr algn="ctr"/>
            <a:r>
              <a:rPr sz="600">
                <a:solidFill>
                  <a:srgbClr val="B9A488"/>
                </a:solidFill>
              </a:rPr>
              <a:t>AB_SlimyPholiota</a:t>
            </a:r>
          </a:p>
        </p:txBody>
      </p:sp>
      <p:sp>
        <p:nvSpPr>
          <p:cNvPr id="26" name="TextBox 25"/>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`AB_GelatinousSuperorganism` (Alpha Biomes — donor content incorporated wholesale, then bent). **The biome's name is THE SLIME** (owner's pick). Thematic handle: **the living registry** — and its image: **a body the size of a country, reading everything that touches it.**_ 🔑 **Read against `the_rot.md`.** The two are siblings — **both from the Assailant bioweapon, meeting different ends when left alone too long with nature** (owner's ruling). In the Rot, nature won: the weapon was digested and only its useful genes kept. Here **the weapon won — and victory ruined it as a weapon**: it ingested the entire ecosystem's genetic information, was overwhelmed, and the hostile generation/weaponization function was overwritten by ordinary biological imperatives — survival, reproduction, and maintenance of genetic identity, where its identity IS a living, flowing genetic database. *(The third panel — where neither side won and the weapon is still fighting — is `assailant_weapon_remnants.md`: a raiding faction and the Overdrive site, not a biome.)*</a:t>
            </a:r>
          </a:p>
        </p:txBody>
      </p:sp>
      <p:sp>
        <p:nvSpPr>
          <p:cNvPr id="27" name="TextBox 26"/>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(3): AA_AcanthamoebaGiganteaHuge, AA_OvergrownColossus ("slime trees"), AA_TeratogenicOriginator ("tint green"). Departures (6): DecayDrake, Helixien, Mime→dungeon, Plasmorph, Thunderbeast→blue_desert, GR_Manbear→ninth roster.
INCONSISTENCIES:
1. All three arrivals carry explicit slimification notes — admission test ("part of the flow, or being transformed") honored; ban 5 needs each to get a resistance-or-transformation state written.
2. GR_Chickenrabbit survives as a resident; "chicken+rabbit" name fails recognizability — rename with the slimified art pass.
OPPORTUNITIES:
1. Six residents is thin for a flagship biome; the Unfinished-adjacent transformation states of visitors could carry ambient density instead of new species.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nightside_ice</a:t>
            </a:r>
            <a:r>
              <a:rPr sz="1100">
                <a:solidFill>
                  <a:srgbClr val="B9A488"/>
                </a:solidFill>
              </a:rPr>
              <a:t>   6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summit crab" descr="summit crab (AA_SummitCrab)&#10;drawSize 15.0 · assigned here · art:keep"/>
          <p:cNvPicPr>
            <a:picLocks noChangeAspect="1"/>
          </p:cNvPicPr>
          <p:nvPr/>
        </p:nvPicPr>
        <p:blipFill>
          <a:blip r:embed="rId2"/>
          <a:stretch>
            <a:fillRect/>
          </a:stretch>
        </p:blipFill>
        <p:spPr>
          <a:xfrm>
            <a:off x="274320" y="932688"/>
            <a:ext cx="2194560" cy="2194560"/>
          </a:xfrm>
          <a:prstGeom prst="rect">
            <a:avLst/>
          </a:prstGeom>
        </p:spPr>
      </p:pic>
      <p:sp>
        <p:nvSpPr>
          <p:cNvPr id="5" name="Oval 4"/>
          <p:cNvSpPr/>
          <p:nvPr/>
        </p:nvSpPr>
        <p:spPr>
          <a:xfrm>
            <a:off x="2386584"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136391"/>
            <a:ext cx="2194560" cy="146304"/>
          </a:xfrm>
          <a:prstGeom prst="rect">
            <a:avLst/>
          </a:prstGeom>
          <a:noFill/>
        </p:spPr>
        <p:txBody>
          <a:bodyPr wrap="none">
            <a:spAutoFit/>
          </a:bodyPr>
          <a:lstStyle/>
          <a:p>
            <a:pPr algn="ctr"/>
            <a:r>
              <a:rPr sz="600">
                <a:solidFill>
                  <a:srgbClr val="B9A488"/>
                </a:solidFill>
              </a:rPr>
              <a:t>summit crab</a:t>
            </a:r>
          </a:p>
        </p:txBody>
      </p:sp>
      <p:pic>
        <p:nvPicPr>
          <p:cNvPr id="7" name="tetra slug" descr="tetra slug (AA_TetraSlug)&#10;drawSize 5.0 · assigned here · art:keep"/>
          <p:cNvPicPr>
            <a:picLocks noChangeAspect="1"/>
          </p:cNvPicPr>
          <p:nvPr/>
        </p:nvPicPr>
        <p:blipFill>
          <a:blip r:embed="rId3"/>
          <a:stretch>
            <a:fillRect/>
          </a:stretch>
        </p:blipFill>
        <p:spPr>
          <a:xfrm>
            <a:off x="2596896" y="932688"/>
            <a:ext cx="2194560" cy="2194560"/>
          </a:xfrm>
          <a:prstGeom prst="rect">
            <a:avLst/>
          </a:prstGeom>
        </p:spPr>
      </p:pic>
      <p:sp>
        <p:nvSpPr>
          <p:cNvPr id="8" name="Oval 7"/>
          <p:cNvSpPr/>
          <p:nvPr/>
        </p:nvSpPr>
        <p:spPr>
          <a:xfrm>
            <a:off x="4709160"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96896" y="3136391"/>
            <a:ext cx="2194560" cy="146304"/>
          </a:xfrm>
          <a:prstGeom prst="rect">
            <a:avLst/>
          </a:prstGeom>
          <a:noFill/>
        </p:spPr>
        <p:txBody>
          <a:bodyPr wrap="none">
            <a:spAutoFit/>
          </a:bodyPr>
          <a:lstStyle/>
          <a:p>
            <a:pPr algn="ctr"/>
            <a:r>
              <a:rPr sz="600">
                <a:solidFill>
                  <a:srgbClr val="B9A488"/>
                </a:solidFill>
              </a:rPr>
              <a:t>tetra slug</a:t>
            </a:r>
          </a:p>
        </p:txBody>
      </p:sp>
      <p:pic>
        <p:nvPicPr>
          <p:cNvPr id="10" name="bouldermit" descr="bouldermit (AA_BoulderMit)&#10;drawSize 4.0 · assigned here · art:keep"/>
          <p:cNvPicPr>
            <a:picLocks noChangeAspect="1"/>
          </p:cNvPicPr>
          <p:nvPr/>
        </p:nvPicPr>
        <p:blipFill>
          <a:blip r:embed="rId4"/>
          <a:stretch>
            <a:fillRect/>
          </a:stretch>
        </p:blipFill>
        <p:spPr>
          <a:xfrm>
            <a:off x="4919472" y="932688"/>
            <a:ext cx="2194560" cy="2194560"/>
          </a:xfrm>
          <a:prstGeom prst="rect">
            <a:avLst/>
          </a:prstGeom>
        </p:spPr>
      </p:pic>
      <p:sp>
        <p:nvSpPr>
          <p:cNvPr id="11" name="Oval 10"/>
          <p:cNvSpPr/>
          <p:nvPr/>
        </p:nvSpPr>
        <p:spPr>
          <a:xfrm>
            <a:off x="7031736"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9472" y="3136391"/>
            <a:ext cx="2194560" cy="146304"/>
          </a:xfrm>
          <a:prstGeom prst="rect">
            <a:avLst/>
          </a:prstGeom>
          <a:noFill/>
        </p:spPr>
        <p:txBody>
          <a:bodyPr wrap="none">
            <a:spAutoFit/>
          </a:bodyPr>
          <a:lstStyle/>
          <a:p>
            <a:pPr algn="ctr"/>
            <a:r>
              <a:rPr sz="600">
                <a:solidFill>
                  <a:srgbClr val="B9A488"/>
                </a:solidFill>
              </a:rPr>
              <a:t>bouldermit</a:t>
            </a:r>
          </a:p>
        </p:txBody>
      </p:sp>
      <p:pic>
        <p:nvPicPr>
          <p:cNvPr id="13" name="slurrypede" descr="slurrypede (AA_Slurrypede)&#10;drawSize 2.0 · assigned here · art:keep&#10;“Not here”"/>
          <p:cNvPicPr>
            <a:picLocks noChangeAspect="1"/>
          </p:cNvPicPr>
          <p:nvPr/>
        </p:nvPicPr>
        <p:blipFill>
          <a:blip r:embed="rId5"/>
          <a:stretch>
            <a:fillRect/>
          </a:stretch>
        </p:blipFill>
        <p:spPr>
          <a:xfrm>
            <a:off x="7242048" y="1993391"/>
            <a:ext cx="1133856" cy="1133856"/>
          </a:xfrm>
          <a:prstGeom prst="rect">
            <a:avLst/>
          </a:prstGeom>
        </p:spPr>
      </p:pic>
      <p:sp>
        <p:nvSpPr>
          <p:cNvPr id="14" name="Oval 13"/>
          <p:cNvSpPr/>
          <p:nvPr/>
        </p:nvSpPr>
        <p:spPr>
          <a:xfrm>
            <a:off x="8293608" y="1975103"/>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3136391"/>
            <a:ext cx="1133856" cy="146304"/>
          </a:xfrm>
          <a:prstGeom prst="rect">
            <a:avLst/>
          </a:prstGeom>
          <a:noFill/>
        </p:spPr>
        <p:txBody>
          <a:bodyPr wrap="none">
            <a:spAutoFit/>
          </a:bodyPr>
          <a:lstStyle/>
          <a:p>
            <a:pPr algn="ctr"/>
            <a:r>
              <a:rPr sz="600">
                <a:solidFill>
                  <a:srgbClr val="B9A488"/>
                </a:solidFill>
              </a:rPr>
              <a:t>slurrypede</a:t>
            </a:r>
          </a:p>
        </p:txBody>
      </p:sp>
      <p:pic>
        <p:nvPicPr>
          <p:cNvPr id="16" name="terramorph" descr="terramorph (AA_Terramorph)&#10;drawSize 1.5 · assigned here · art:keep"/>
          <p:cNvPicPr>
            <a:picLocks noChangeAspect="1"/>
          </p:cNvPicPr>
          <p:nvPr/>
        </p:nvPicPr>
        <p:blipFill>
          <a:blip r:embed="rId6"/>
          <a:stretch>
            <a:fillRect/>
          </a:stretch>
        </p:blipFill>
        <p:spPr>
          <a:xfrm>
            <a:off x="8503920" y="2276856"/>
            <a:ext cx="850392" cy="850392"/>
          </a:xfrm>
          <a:prstGeom prst="rect">
            <a:avLst/>
          </a:prstGeom>
        </p:spPr>
      </p:pic>
      <p:sp>
        <p:nvSpPr>
          <p:cNvPr id="17" name="Oval 16"/>
          <p:cNvSpPr/>
          <p:nvPr/>
        </p:nvSpPr>
        <p:spPr>
          <a:xfrm>
            <a:off x="9272016" y="225856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3136391"/>
            <a:ext cx="850392" cy="146304"/>
          </a:xfrm>
          <a:prstGeom prst="rect">
            <a:avLst/>
          </a:prstGeom>
          <a:noFill/>
        </p:spPr>
        <p:txBody>
          <a:bodyPr wrap="none">
            <a:spAutoFit/>
          </a:bodyPr>
          <a:lstStyle/>
          <a:p>
            <a:pPr algn="ctr"/>
            <a:r>
              <a:rPr sz="600">
                <a:solidFill>
                  <a:srgbClr val="B9A488"/>
                </a:solidFill>
              </a:rPr>
              <a:t>terramorph</a:t>
            </a:r>
          </a:p>
        </p:txBody>
      </p:sp>
      <p:pic>
        <p:nvPicPr>
          <p:cNvPr id="19" name="red goo" descr="red goo (AA_RedGoo)&#10;drawSize 0.5 · assigned here · art:keep"/>
          <p:cNvPicPr>
            <a:picLocks noChangeAspect="1"/>
          </p:cNvPicPr>
          <p:nvPr/>
        </p:nvPicPr>
        <p:blipFill>
          <a:blip r:embed="rId7"/>
          <a:stretch>
            <a:fillRect/>
          </a:stretch>
        </p:blipFill>
        <p:spPr>
          <a:xfrm>
            <a:off x="9482328" y="2834640"/>
            <a:ext cx="292608" cy="292608"/>
          </a:xfrm>
          <a:prstGeom prst="rect">
            <a:avLst/>
          </a:prstGeom>
        </p:spPr>
      </p:pic>
      <p:sp>
        <p:nvSpPr>
          <p:cNvPr id="20" name="Oval 19"/>
          <p:cNvSpPr/>
          <p:nvPr/>
        </p:nvSpPr>
        <p:spPr>
          <a:xfrm>
            <a:off x="9692640" y="2816352"/>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82328" y="3136391"/>
            <a:ext cx="640080" cy="146304"/>
          </a:xfrm>
          <a:prstGeom prst="rect">
            <a:avLst/>
          </a:prstGeom>
          <a:noFill/>
        </p:spPr>
        <p:txBody>
          <a:bodyPr wrap="none">
            <a:spAutoFit/>
          </a:bodyPr>
          <a:lstStyle/>
          <a:p>
            <a:pPr algn="ctr"/>
            <a:r>
              <a:rPr sz="600">
                <a:solidFill>
                  <a:srgbClr val="B9A488"/>
                </a:solidFill>
              </a:rPr>
              <a:t>red goo</a:t>
            </a:r>
          </a:p>
        </p:txBody>
      </p:sp>
      <p:sp>
        <p:nvSpPr>
          <p:cNvPr id="22" name="TextBox 21"/>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23" name="TextBox 22"/>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_First pass 2026-09-05 (the nightside as a whole); **second pass 2026-09-06, owner + BENCH**, binding it to a def and reconciling it with the seven sheets that landed since. The first pass's ecology (§4) stands **unchanged, word for word** — owner's ruling. Defines **`RUT_NightsideIce`** (our own def, inheriting vanilla `IceSheet`'s shape — owner's ruling: own def, not a patch; name owed if the dirty-ice plateau wants one). Thematic handle: **the drain of the atmosphere** — and its image: **dirty white ice on the highest ground of the night, under the aurora, with something moving inside it.**_ 🔑 **Read against `the_blue_desert.md`, `the_propane_lakes.md`, `the_lantern_deeps.md`, `forsaken_crags.md`.** This sheet is the deep night's **uplands**; the pans and lows are theirs. The physics the first pass reasoned from — the antistellar point as the **fractional distillation column the size of a hemisphere**, freezing the atmosphere out in order of freezing point — has since been made literal by the phase-line sheets, and this sheet is now the column's top.</a:t>
            </a:r>
          </a:p>
        </p:txBody>
      </p:sp>
      <p:sp>
        <p:nvSpPr>
          <p:cNvPr id="24" name="TextBox 23"/>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(4 residents): AA_ShockGoat (refashion ruled), BMT_CaveLemming (rename ruled), Tauntaun, Wampa. Injectable, not resident: Bulwark ("horror injectibles").
INCONSISTENCIES:
1. Wampa (pursuit predator) and Tauntaun (fast, warm, flocking) violate the surface ban on warm/fast/pursuing/flocking fauna — the icon carve-out protects NAMES, not physics; owner ruling needed (margins-only? tunneler rewrite?).
2. Thermal-only sensing ban applies to all four arrivals; none is written that way yet.
3. CaveLemming and ShockGoat renames/refashions are ruled but not yet done — they enter the cast only after.
OPPORTUNITIES:
1. ShockGoat's "pale blue aura" is the biome's first visible-from-distance creature cue — a legible hazard in a sensor-dead biome.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the_twilight_deep</a:t>
            </a:r>
            <a:r>
              <a:rPr sz="1100">
                <a:solidFill>
                  <a:srgbClr val="B9A488"/>
                </a:solidFill>
              </a:rPr>
              <a:t>   5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sp>
        <p:nvSpPr>
          <p:cNvPr id="4" name="RSW_Lanternwhale" descr="RSW_Lanternwhale (RSW_Lanternwhale)&#10;drawSize 1.0 · assigned here · art:keep&#10;[no cached sprite]"/>
          <p:cNvSpPr/>
          <p:nvPr/>
        </p:nvSpPr>
        <p:spPr>
          <a:xfrm>
            <a:off x="274320"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RSW_Lanternwhale</a:t>
            </a:r>
          </a:p>
        </p:txBody>
      </p:sp>
      <p:sp>
        <p:nvSpPr>
          <p:cNvPr id="5" name="TextBox 4"/>
          <p:cNvSpPr txBox="1"/>
          <p:nvPr/>
        </p:nvSpPr>
        <p:spPr>
          <a:xfrm>
            <a:off x="274320" y="1508760"/>
            <a:ext cx="640080" cy="146304"/>
          </a:xfrm>
          <a:prstGeom prst="rect">
            <a:avLst/>
          </a:prstGeom>
          <a:noFill/>
        </p:spPr>
        <p:txBody>
          <a:bodyPr wrap="none">
            <a:spAutoFit/>
          </a:bodyPr>
          <a:lstStyle/>
          <a:p>
            <a:pPr algn="ctr"/>
            <a:r>
              <a:rPr sz="600">
                <a:solidFill>
                  <a:srgbClr val="B9A488"/>
                </a:solidFill>
              </a:rPr>
              <a:t>RSW_Lanternwhale</a:t>
            </a:r>
          </a:p>
        </p:txBody>
      </p:sp>
      <p:sp>
        <p:nvSpPr>
          <p:cNvPr id="6" name="RSW_Laa" descr="RSW_Laa (RSW_Laa)&#10;drawSize 1.0 · moved in from the_miasma · art:keep&#10;“Twilight Sea”&#10;[no cached sprite]"/>
          <p:cNvSpPr/>
          <p:nvPr/>
        </p:nvSpPr>
        <p:spPr>
          <a:xfrm>
            <a:off x="969264"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RSW_Laa</a:t>
            </a:r>
          </a:p>
        </p:txBody>
      </p:sp>
      <p:sp>
        <p:nvSpPr>
          <p:cNvPr id="7" name="TextBox 6"/>
          <p:cNvSpPr txBox="1"/>
          <p:nvPr/>
        </p:nvSpPr>
        <p:spPr>
          <a:xfrm>
            <a:off x="969264" y="1508760"/>
            <a:ext cx="640080" cy="146304"/>
          </a:xfrm>
          <a:prstGeom prst="rect">
            <a:avLst/>
          </a:prstGeom>
          <a:noFill/>
        </p:spPr>
        <p:txBody>
          <a:bodyPr wrap="none">
            <a:spAutoFit/>
          </a:bodyPr>
          <a:lstStyle/>
          <a:p>
            <a:pPr algn="ctr"/>
            <a:r>
              <a:rPr sz="600">
                <a:solidFill>
                  <a:srgbClr val="B9A488"/>
                </a:solidFill>
              </a:rPr>
              <a:t>RSW_Laa</a:t>
            </a:r>
          </a:p>
        </p:txBody>
      </p:sp>
      <p:sp>
        <p:nvSpPr>
          <p:cNvPr id="8" name="RSW_OpeeSeaKiller" descr="RSW_OpeeSeaKiller (RSW_OpeeSeaKiller)&#10;drawSize 1.0 · moved in from the_miasma · art:keep&#10;“Twilight Sea, make it 5 squares long”&#10;[no cached sprite]"/>
          <p:cNvSpPr/>
          <p:nvPr/>
        </p:nvSpPr>
        <p:spPr>
          <a:xfrm>
            <a:off x="1664208"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RSW_OpeeSeaKiller</a:t>
            </a:r>
          </a:p>
        </p:txBody>
      </p:sp>
      <p:sp>
        <p:nvSpPr>
          <p:cNvPr id="9" name="TextBox 8"/>
          <p:cNvSpPr txBox="1"/>
          <p:nvPr/>
        </p:nvSpPr>
        <p:spPr>
          <a:xfrm>
            <a:off x="1664208" y="1508760"/>
            <a:ext cx="640080" cy="146304"/>
          </a:xfrm>
          <a:prstGeom prst="rect">
            <a:avLst/>
          </a:prstGeom>
          <a:noFill/>
        </p:spPr>
        <p:txBody>
          <a:bodyPr wrap="none">
            <a:spAutoFit/>
          </a:bodyPr>
          <a:lstStyle/>
          <a:p>
            <a:pPr algn="ctr"/>
            <a:r>
              <a:rPr sz="600">
                <a:solidFill>
                  <a:srgbClr val="B9A488"/>
                </a:solidFill>
              </a:rPr>
              <a:t>RSW_OpeeSeaKille</a:t>
            </a:r>
          </a:p>
        </p:txBody>
      </p:sp>
      <p:pic>
        <p:nvPicPr>
          <p:cNvPr id="10" name="yobshrimp" descr="yobshrimp (Yobshrimp)&#10;drawSize 0.4000000059604645 · moved in from the_miasma · art:improve&#10;“Twilight Sea”"/>
          <p:cNvPicPr>
            <a:picLocks noChangeAspect="1"/>
          </p:cNvPicPr>
          <p:nvPr/>
        </p:nvPicPr>
        <p:blipFill>
          <a:blip r:embed="rId2"/>
          <a:stretch>
            <a:fillRect/>
          </a:stretch>
        </p:blipFill>
        <p:spPr>
          <a:xfrm>
            <a:off x="2359152" y="1207008"/>
            <a:ext cx="292608" cy="292608"/>
          </a:xfrm>
          <a:prstGeom prst="rect">
            <a:avLst/>
          </a:prstGeom>
        </p:spPr>
      </p:pic>
      <p:sp>
        <p:nvSpPr>
          <p:cNvPr id="11" name="Oval 10"/>
          <p:cNvSpPr/>
          <p:nvPr/>
        </p:nvSpPr>
        <p:spPr>
          <a:xfrm>
            <a:off x="2569464" y="1188720"/>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59152" y="1508760"/>
            <a:ext cx="640080" cy="146304"/>
          </a:xfrm>
          <a:prstGeom prst="rect">
            <a:avLst/>
          </a:prstGeom>
          <a:noFill/>
        </p:spPr>
        <p:txBody>
          <a:bodyPr wrap="none">
            <a:spAutoFit/>
          </a:bodyPr>
          <a:lstStyle/>
          <a:p>
            <a:pPr algn="ctr"/>
            <a:r>
              <a:rPr sz="600">
                <a:solidFill>
                  <a:srgbClr val="B9A488"/>
                </a:solidFill>
              </a:rPr>
              <a:t>yobshrimp</a:t>
            </a:r>
          </a:p>
        </p:txBody>
      </p:sp>
      <p:pic>
        <p:nvPicPr>
          <p:cNvPr id="13" name="aerofleet" descr="aerofleet (AA_Aerofleet)&#10;drawSize 0.20000000298023224 · assigned here · art:keep"/>
          <p:cNvPicPr>
            <a:picLocks noChangeAspect="1"/>
          </p:cNvPicPr>
          <p:nvPr/>
        </p:nvPicPr>
        <p:blipFill>
          <a:blip r:embed="rId3"/>
          <a:stretch>
            <a:fillRect/>
          </a:stretch>
        </p:blipFill>
        <p:spPr>
          <a:xfrm>
            <a:off x="2779776" y="1207008"/>
            <a:ext cx="292608" cy="292608"/>
          </a:xfrm>
          <a:prstGeom prst="rect">
            <a:avLst/>
          </a:prstGeom>
        </p:spPr>
      </p:pic>
      <p:sp>
        <p:nvSpPr>
          <p:cNvPr id="14" name="Oval 13"/>
          <p:cNvSpPr/>
          <p:nvPr/>
        </p:nvSpPr>
        <p:spPr>
          <a:xfrm>
            <a:off x="2990088" y="118872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79776" y="1508760"/>
            <a:ext cx="640080" cy="146304"/>
          </a:xfrm>
          <a:prstGeom prst="rect">
            <a:avLst/>
          </a:prstGeom>
          <a:noFill/>
        </p:spPr>
        <p:txBody>
          <a:bodyPr wrap="none">
            <a:spAutoFit/>
          </a:bodyPr>
          <a:lstStyle/>
          <a:p>
            <a:pPr algn="ctr"/>
            <a:r>
              <a:rPr sz="600">
                <a:solidFill>
                  <a:srgbClr val="B9A488"/>
                </a:solidFill>
              </a:rPr>
              <a:t>aerofleet</a:t>
            </a:r>
          </a:p>
        </p:txBody>
      </p:sp>
      <p:sp>
        <p:nvSpPr>
          <p:cNvPr id="16" name="TextBox 15"/>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17" name="TextBox 16"/>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Write it up!"). Defines **the bottom of the Twilight Sea** — the underwater biome beneath `RUT_TwilightSea` (479 Ocean-painted tiles plus ice fringe; surface and shore stay with `terminator_sea.md`). 🔑 **Implementation deferred by standing ruling** to the diving mods — but the DESIGN is full-rich by the owner's word: **"a biome as rich and varied as the land."** Thematic handle: **the last ordinary sea** — and its image: **golden light-wells in dim green water, kelp towers, crowds — and lamplit dwellings on the bottom, where the Deepwater Compact has been living all along.**_ 🔴 **The solitary law's boundary, written**: `terminator_sea.md`'s bans (no schools, sparse roster, monoculture) govern the SURFACE and SHORE, where they stay absolutely true. **The mat is a roof**, and beneath it the exception lives — this sheet owns the below, and neither world leaks into the other (scoping line added to the base sheet this pass).</a:t>
            </a:r>
          </a:p>
        </p:txBody>
      </p:sp>
      <p:sp>
        <p:nvSpPr>
          <p:cNvPr id="18" name="TextBox 17"/>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(8): RSW_Laa, RSW_OpeeSeaKiller, Yobshrimp, RSW_AbyssalColo, RSW_CrimsonOpee, RSW_Starmaw, RSW_StormSando, StoneCrab. Flier: ColossalAerofleet→roster; AA_Aerofleet extracted.
INCONSISTENCIES:
1. Predator stack: OpeeSeaKiller (5 sq), CrimsonOpee (9 sq), Starmaw, StormSando, AbyssalColo — five mega-predators over prey of Laa, Yobshrimp, StoneCrab; chain is inverted.
2. Two Opee variants (SeaKiller + CrimsonOpee) do the same lurker job at two sizes — merge or differentiate (river-bank vs light-column).
3. Surface ban still holds (nothing schools above the roof) — Yobshrimp's placement must be bank/channel, sheet §4's river-fauna slot.
OPPORTUNITIES:
1. "Rich and varied as the land, by ruling" — this cast finally delivers it; distribute across §4's three habitats (columns, banks, dark between) explicitly.
2. StoneCrab (0.3) on the lamplit banks is the Compact's harvest animal — a tended-fishery hook for §8.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the_sump</a:t>
            </a:r>
            <a:r>
              <a:rPr sz="1100">
                <a:solidFill>
                  <a:srgbClr val="B9A488"/>
                </a:solidFill>
              </a:rPr>
              <a:t>   4 animals · 1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hssiss" descr="hssiss (Hssiss)&#10;drawSize 2.75 · moved in from the_greentide · art:improve&#10;“the swamp biome only”"/>
          <p:cNvPicPr>
            <a:picLocks noChangeAspect="1"/>
          </p:cNvPicPr>
          <p:nvPr/>
        </p:nvPicPr>
        <p:blipFill>
          <a:blip r:embed="rId2"/>
          <a:stretch>
            <a:fillRect/>
          </a:stretch>
        </p:blipFill>
        <p:spPr>
          <a:xfrm>
            <a:off x="274320" y="932688"/>
            <a:ext cx="1559052" cy="1559052"/>
          </a:xfrm>
          <a:prstGeom prst="rect">
            <a:avLst/>
          </a:prstGeom>
        </p:spPr>
      </p:pic>
      <p:sp>
        <p:nvSpPr>
          <p:cNvPr id="5" name="Oval 4"/>
          <p:cNvSpPr/>
          <p:nvPr/>
        </p:nvSpPr>
        <p:spPr>
          <a:xfrm>
            <a:off x="1751075" y="914400"/>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500884"/>
            <a:ext cx="1559052" cy="146304"/>
          </a:xfrm>
          <a:prstGeom prst="rect">
            <a:avLst/>
          </a:prstGeom>
          <a:noFill/>
        </p:spPr>
        <p:txBody>
          <a:bodyPr wrap="none">
            <a:spAutoFit/>
          </a:bodyPr>
          <a:lstStyle/>
          <a:p>
            <a:pPr algn="ctr"/>
            <a:r>
              <a:rPr sz="600">
                <a:solidFill>
                  <a:srgbClr val="B9A488"/>
                </a:solidFill>
              </a:rPr>
              <a:t>hssiss</a:t>
            </a:r>
          </a:p>
        </p:txBody>
      </p:sp>
      <p:pic>
        <p:nvPicPr>
          <p:cNvPr id="7" name="tar guzzler" descr="tar guzzler (AA_TarGuzzler)&#10;drawSize 2.0 · assigned here · art:improve&#10;“This is superb!!”"/>
          <p:cNvPicPr>
            <a:picLocks noChangeAspect="1"/>
          </p:cNvPicPr>
          <p:nvPr/>
        </p:nvPicPr>
        <p:blipFill>
          <a:blip r:embed="rId3"/>
          <a:stretch>
            <a:fillRect/>
          </a:stretch>
        </p:blipFill>
        <p:spPr>
          <a:xfrm>
            <a:off x="1961388" y="1357884"/>
            <a:ext cx="1133856" cy="1133856"/>
          </a:xfrm>
          <a:prstGeom prst="rect">
            <a:avLst/>
          </a:prstGeom>
        </p:spPr>
      </p:pic>
      <p:sp>
        <p:nvSpPr>
          <p:cNvPr id="8" name="Oval 7"/>
          <p:cNvSpPr/>
          <p:nvPr/>
        </p:nvSpPr>
        <p:spPr>
          <a:xfrm>
            <a:off x="3012948" y="1339596"/>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1388" y="2500884"/>
            <a:ext cx="1133856" cy="146304"/>
          </a:xfrm>
          <a:prstGeom prst="rect">
            <a:avLst/>
          </a:prstGeom>
          <a:noFill/>
        </p:spPr>
        <p:txBody>
          <a:bodyPr wrap="none">
            <a:spAutoFit/>
          </a:bodyPr>
          <a:lstStyle/>
          <a:p>
            <a:pPr algn="ctr"/>
            <a:r>
              <a:rPr sz="600">
                <a:solidFill>
                  <a:srgbClr val="B9A488"/>
                </a:solidFill>
              </a:rPr>
              <a:t>tar guzzler</a:t>
            </a:r>
          </a:p>
        </p:txBody>
      </p:sp>
      <p:pic>
        <p:nvPicPr>
          <p:cNvPr id="10" name="bumbledrone" descr="bumbledrone (AA_Bumbledrone)&#10;drawSize 0.7900000214576721 · assigned here · art:improve"/>
          <p:cNvPicPr>
            <a:picLocks noChangeAspect="1"/>
          </p:cNvPicPr>
          <p:nvPr/>
        </p:nvPicPr>
        <p:blipFill>
          <a:blip r:embed="rId4"/>
          <a:stretch>
            <a:fillRect/>
          </a:stretch>
        </p:blipFill>
        <p:spPr>
          <a:xfrm>
            <a:off x="3223260" y="2043866"/>
            <a:ext cx="447873" cy="447873"/>
          </a:xfrm>
          <a:prstGeom prst="rect">
            <a:avLst/>
          </a:prstGeom>
        </p:spPr>
      </p:pic>
      <p:sp>
        <p:nvSpPr>
          <p:cNvPr id="11" name="Oval 10"/>
          <p:cNvSpPr/>
          <p:nvPr/>
        </p:nvSpPr>
        <p:spPr>
          <a:xfrm>
            <a:off x="3588837" y="202557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23260" y="2500884"/>
            <a:ext cx="640080" cy="146304"/>
          </a:xfrm>
          <a:prstGeom prst="rect">
            <a:avLst/>
          </a:prstGeom>
          <a:noFill/>
        </p:spPr>
        <p:txBody>
          <a:bodyPr wrap="none">
            <a:spAutoFit/>
          </a:bodyPr>
          <a:lstStyle/>
          <a:p>
            <a:pPr algn="ctr"/>
            <a:r>
              <a:rPr sz="600">
                <a:solidFill>
                  <a:srgbClr val="B9A488"/>
                </a:solidFill>
              </a:rPr>
              <a:t>bumbledrone</a:t>
            </a:r>
          </a:p>
        </p:txBody>
      </p:sp>
      <p:pic>
        <p:nvPicPr>
          <p:cNvPr id="13" name="bumbledrone hierophant" descr="bumbledrone hierophant (AA_BumbledroneHierophant)&#10;drawSize 0.7900000214576721 · assigned here · art:improve"/>
          <p:cNvPicPr>
            <a:picLocks noChangeAspect="1"/>
          </p:cNvPicPr>
          <p:nvPr/>
        </p:nvPicPr>
        <p:blipFill>
          <a:blip r:embed="rId5"/>
          <a:stretch>
            <a:fillRect/>
          </a:stretch>
        </p:blipFill>
        <p:spPr>
          <a:xfrm>
            <a:off x="3799149" y="2043866"/>
            <a:ext cx="447873" cy="447873"/>
          </a:xfrm>
          <a:prstGeom prst="rect">
            <a:avLst/>
          </a:prstGeom>
        </p:spPr>
      </p:pic>
      <p:sp>
        <p:nvSpPr>
          <p:cNvPr id="14" name="Oval 13"/>
          <p:cNvSpPr/>
          <p:nvPr/>
        </p:nvSpPr>
        <p:spPr>
          <a:xfrm>
            <a:off x="4164726" y="2025578"/>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9149" y="2500884"/>
            <a:ext cx="640080" cy="146304"/>
          </a:xfrm>
          <a:prstGeom prst="rect">
            <a:avLst/>
          </a:prstGeom>
          <a:noFill/>
        </p:spPr>
        <p:txBody>
          <a:bodyPr wrap="none">
            <a:spAutoFit/>
          </a:bodyPr>
          <a:lstStyle/>
          <a:p>
            <a:pPr algn="ctr"/>
            <a:r>
              <a:rPr sz="600">
                <a:solidFill>
                  <a:srgbClr val="B9A488"/>
                </a:solidFill>
              </a:rPr>
              <a:t>bumbledrone hier</a:t>
            </a:r>
          </a:p>
        </p:txBody>
      </p:sp>
      <p:sp>
        <p:nvSpPr>
          <p:cNvPr id="16" name="TextBox 15"/>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17" name="AB_TarPuddle" descr="AB_TarPuddle (AB_TarPuddle)&#10;&#10;[no cached sprite]"/>
          <p:cNvSpPr/>
          <p:nvPr/>
        </p:nvSpPr>
        <p:spPr>
          <a:xfrm>
            <a:off x="274320" y="3822191"/>
            <a:ext cx="640080" cy="548639"/>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AB_TarPuddle</a:t>
            </a:r>
          </a:p>
        </p:txBody>
      </p:sp>
      <p:sp>
        <p:nvSpPr>
          <p:cNvPr id="18" name="TextBox 17"/>
          <p:cNvSpPr txBox="1"/>
          <p:nvPr/>
        </p:nvSpPr>
        <p:spPr>
          <a:xfrm>
            <a:off x="274320" y="4379975"/>
            <a:ext cx="640080" cy="146304"/>
          </a:xfrm>
          <a:prstGeom prst="rect">
            <a:avLst/>
          </a:prstGeom>
          <a:noFill/>
        </p:spPr>
        <p:txBody>
          <a:bodyPr wrap="none">
            <a:spAutoFit/>
          </a:bodyPr>
          <a:lstStyle/>
          <a:p>
            <a:pPr algn="ctr"/>
            <a:r>
              <a:rPr sz="600">
                <a:solidFill>
                  <a:srgbClr val="B9A488"/>
                </a:solidFill>
              </a:rPr>
              <a:t>AB_TarPuddle</a:t>
            </a:r>
          </a:p>
        </p:txBody>
      </p:sp>
      <p:sp>
        <p:nvSpPr>
          <p:cNvPr id="19" name="TextBox 18"/>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ready."). Defines `AB_TarPits` (Alpha Biomes). **The biome's name is THE SUMP** (owner's pick). Thematic handle: **the trap that remembers** — and its image: **black glass under a sun that never rises, holding a million years of the unlucky, perfectly.**_ 🔑 **The tar's origin is RULED** (owner, 2026-08-15, `hydrology_and_fire_ecology.md` R-H9): **the tar pits are what the Pyrelands leave behind** — the burning savanna's endless ash, churned with the violent floods, compressed over eons into gooey, biologically rich tar. The Sump adds the second half the frozen map demands: the Pyrelands MAKE the tar; **drainage carries it down and nightward over geological time, and the Sump — at 1 m elevation, the lowest ground on the planet — is where it all collects.** The cold past the terminator is the trap's lid: nothing evaporates back. ⚠️ R-H9's "interspersed at the Pyrelands margin" did not survive the painted map (all 62 tiles sit at the night edge) — noted for the freeze review; the make-here/collect-there reading is this sheet's reconciliation.</a:t>
            </a:r>
          </a:p>
        </p:txBody>
      </p:sp>
      <p:sp>
        <p:nvSpPr>
          <p:cNvPr id="20" name="TextBox 19"/>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Hssiss, AA_BumbledroneQueen (rejoins its drones — good).
INCONSISTENCIES:
1. Hssiss routed on "the swamp biome only" — but the Miasma is the swamp; the Sump is cold tar with chemotrophic flora. Probable misroute; confirm which biome the owner meant.
OPPORTUNITIES:
1. If Hssiss stays: a dark-side dragon sleeping in preserved tar suits ban 1's partial-remains register better than a wetland story.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the_propane_lakes</a:t>
            </a:r>
            <a:r>
              <a:rPr sz="1100">
                <a:solidFill>
                  <a:srgbClr val="B9A488"/>
                </a:solidFill>
              </a:rPr>
              <a:t>   1 animals · 4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frostmite" descr="frostmite (AA_Frostmite)&#10;drawSize 0.5 · assigned here · art:redo&#10;“Nope.. the propane lake life should be utterly strange (look at biome sheet for inspiration here)”"/>
          <p:cNvPicPr>
            <a:picLocks noChangeAspect="1"/>
          </p:cNvPicPr>
          <p:nvPr/>
        </p:nvPicPr>
        <p:blipFill>
          <a:blip r:embed="rId2"/>
          <a:stretch>
            <a:fillRect/>
          </a:stretch>
        </p:blipFill>
        <p:spPr>
          <a:xfrm>
            <a:off x="274320" y="932688"/>
            <a:ext cx="292608" cy="292608"/>
          </a:xfrm>
          <a:prstGeom prst="rect">
            <a:avLst/>
          </a:prstGeom>
        </p:spPr>
      </p:pic>
      <p:sp>
        <p:nvSpPr>
          <p:cNvPr id="5" name="Oval 4"/>
          <p:cNvSpPr/>
          <p:nvPr/>
        </p:nvSpPr>
        <p:spPr>
          <a:xfrm>
            <a:off x="484632" y="91440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34440"/>
            <a:ext cx="640080" cy="146304"/>
          </a:xfrm>
          <a:prstGeom prst="rect">
            <a:avLst/>
          </a:prstGeom>
          <a:noFill/>
        </p:spPr>
        <p:txBody>
          <a:bodyPr wrap="none">
            <a:spAutoFit/>
          </a:bodyPr>
          <a:lstStyle/>
          <a:p>
            <a:pPr algn="ctr"/>
            <a:r>
              <a:rPr sz="600">
                <a:solidFill>
                  <a:srgbClr val="B9A488"/>
                </a:solidFill>
              </a:rPr>
              <a:t>frostmite</a:t>
            </a:r>
          </a:p>
        </p:txBody>
      </p:sp>
      <p:sp>
        <p:nvSpPr>
          <p:cNvPr id="7" name="TextBox 6"/>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pic>
        <p:nvPicPr>
          <p:cNvPr id="8" name="AB_CrystalHorn" descr="AB_CrystalHorn (AB_CrystalHorn)&#10;"/>
          <p:cNvPicPr>
            <a:picLocks noChangeAspect="1"/>
          </p:cNvPicPr>
          <p:nvPr/>
        </p:nvPicPr>
        <p:blipFill>
          <a:blip r:embed="rId3"/>
          <a:stretch>
            <a:fillRect/>
          </a:stretch>
        </p:blipFill>
        <p:spPr>
          <a:xfrm>
            <a:off x="274320" y="3822191"/>
            <a:ext cx="548639" cy="548639"/>
          </a:xfrm>
          <a:prstGeom prst="rect">
            <a:avLst/>
          </a:prstGeom>
        </p:spPr>
      </p:pic>
      <p:sp>
        <p:nvSpPr>
          <p:cNvPr id="9" name="TextBox 8"/>
          <p:cNvSpPr txBox="1"/>
          <p:nvPr/>
        </p:nvSpPr>
        <p:spPr>
          <a:xfrm>
            <a:off x="274320" y="4379975"/>
            <a:ext cx="640080" cy="146304"/>
          </a:xfrm>
          <a:prstGeom prst="rect">
            <a:avLst/>
          </a:prstGeom>
          <a:noFill/>
        </p:spPr>
        <p:txBody>
          <a:bodyPr wrap="none">
            <a:spAutoFit/>
          </a:bodyPr>
          <a:lstStyle/>
          <a:p>
            <a:pPr algn="ctr"/>
            <a:r>
              <a:rPr sz="600">
                <a:solidFill>
                  <a:srgbClr val="B9A488"/>
                </a:solidFill>
              </a:rPr>
              <a:t>AB_CrystalHorn</a:t>
            </a:r>
          </a:p>
        </p:txBody>
      </p:sp>
      <p:pic>
        <p:nvPicPr>
          <p:cNvPr id="10" name="AB_FrostLeaf" descr="AB_FrostLeaf (AB_FrostLeaf)&#10;"/>
          <p:cNvPicPr>
            <a:picLocks noChangeAspect="1"/>
          </p:cNvPicPr>
          <p:nvPr/>
        </p:nvPicPr>
        <p:blipFill>
          <a:blip r:embed="rId4"/>
          <a:stretch>
            <a:fillRect/>
          </a:stretch>
        </p:blipFill>
        <p:spPr>
          <a:xfrm>
            <a:off x="950975" y="3822191"/>
            <a:ext cx="548639" cy="548639"/>
          </a:xfrm>
          <a:prstGeom prst="rect">
            <a:avLst/>
          </a:prstGeom>
        </p:spPr>
      </p:pic>
      <p:sp>
        <p:nvSpPr>
          <p:cNvPr id="11" name="TextBox 10"/>
          <p:cNvSpPr txBox="1"/>
          <p:nvPr/>
        </p:nvSpPr>
        <p:spPr>
          <a:xfrm>
            <a:off x="950975" y="4379975"/>
            <a:ext cx="640080" cy="146304"/>
          </a:xfrm>
          <a:prstGeom prst="rect">
            <a:avLst/>
          </a:prstGeom>
          <a:noFill/>
        </p:spPr>
        <p:txBody>
          <a:bodyPr wrap="none">
            <a:spAutoFit/>
          </a:bodyPr>
          <a:lstStyle/>
          <a:p>
            <a:pPr algn="ctr"/>
            <a:r>
              <a:rPr sz="600">
                <a:solidFill>
                  <a:srgbClr val="B9A488"/>
                </a:solidFill>
              </a:rPr>
              <a:t>AB_FrostLeaf</a:t>
            </a:r>
          </a:p>
        </p:txBody>
      </p:sp>
      <p:pic>
        <p:nvPicPr>
          <p:cNvPr id="12" name="AB_RimeNodules" descr="AB_RimeNodules (AB_RimeNodules)&#10;"/>
          <p:cNvPicPr>
            <a:picLocks noChangeAspect="1"/>
          </p:cNvPicPr>
          <p:nvPr/>
        </p:nvPicPr>
        <p:blipFill>
          <a:blip r:embed="rId5"/>
          <a:stretch>
            <a:fillRect/>
          </a:stretch>
        </p:blipFill>
        <p:spPr>
          <a:xfrm>
            <a:off x="1627631" y="3822191"/>
            <a:ext cx="548639" cy="548639"/>
          </a:xfrm>
          <a:prstGeom prst="rect">
            <a:avLst/>
          </a:prstGeom>
        </p:spPr>
      </p:pic>
      <p:sp>
        <p:nvSpPr>
          <p:cNvPr id="13" name="TextBox 12"/>
          <p:cNvSpPr txBox="1"/>
          <p:nvPr/>
        </p:nvSpPr>
        <p:spPr>
          <a:xfrm>
            <a:off x="1627631" y="4379975"/>
            <a:ext cx="640080" cy="146304"/>
          </a:xfrm>
          <a:prstGeom prst="rect">
            <a:avLst/>
          </a:prstGeom>
          <a:noFill/>
        </p:spPr>
        <p:txBody>
          <a:bodyPr wrap="none">
            <a:spAutoFit/>
          </a:bodyPr>
          <a:lstStyle/>
          <a:p>
            <a:pPr algn="ctr"/>
            <a:r>
              <a:rPr sz="600">
                <a:solidFill>
                  <a:srgbClr val="B9A488"/>
                </a:solidFill>
              </a:rPr>
              <a:t>AB_RimeNodules</a:t>
            </a:r>
          </a:p>
        </p:txBody>
      </p:sp>
      <p:pic>
        <p:nvPicPr>
          <p:cNvPr id="14" name="AB_CrystalFlower" descr="AB_CrystalFlower (AB_CrystalFlower)&#10;"/>
          <p:cNvPicPr>
            <a:picLocks noChangeAspect="1"/>
          </p:cNvPicPr>
          <p:nvPr/>
        </p:nvPicPr>
        <p:blipFill>
          <a:blip r:embed="rId6"/>
          <a:stretch>
            <a:fillRect/>
          </a:stretch>
        </p:blipFill>
        <p:spPr>
          <a:xfrm>
            <a:off x="2304287" y="3822191"/>
            <a:ext cx="548639" cy="548639"/>
          </a:xfrm>
          <a:prstGeom prst="rect">
            <a:avLst/>
          </a:prstGeom>
        </p:spPr>
      </p:pic>
      <p:sp>
        <p:nvSpPr>
          <p:cNvPr id="15" name="TextBox 14"/>
          <p:cNvSpPr txBox="1"/>
          <p:nvPr/>
        </p:nvSpPr>
        <p:spPr>
          <a:xfrm>
            <a:off x="2304287" y="4379975"/>
            <a:ext cx="640080" cy="146304"/>
          </a:xfrm>
          <a:prstGeom prst="rect">
            <a:avLst/>
          </a:prstGeom>
          <a:noFill/>
        </p:spPr>
        <p:txBody>
          <a:bodyPr wrap="none">
            <a:spAutoFit/>
          </a:bodyPr>
          <a:lstStyle/>
          <a:p>
            <a:pPr algn="ctr"/>
            <a:r>
              <a:rPr sz="600">
                <a:solidFill>
                  <a:srgbClr val="B9A488"/>
                </a:solidFill>
              </a:rPr>
              <a:t>AB_CrystalFlower</a:t>
            </a:r>
          </a:p>
        </p:txBody>
      </p:sp>
      <p:sp>
        <p:nvSpPr>
          <p:cNvPr id="16" name="TextBox 15"/>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`AB_PropaneLakes` (Alpha Biomes — donor content incorporated, then bent) and the antistellar cap it holds, **Umbra**. Thematic handle: **the exhaust port of a machine** — and its image: **aurora curtains over a black mirror sea, with blue flame running on the ice.**_ 🔑 **Read against `propane_gas_deep_design.md`** — the owner's sitting of 2026-09-02 ruled six rows v1 there (the lake with exotic creatures *within* it and a submerged adventure in fuel; the V-wake lake creature; refueling by long flexible pipes from the grounded ship, tanker runs CUT; vents; saturation; the non-flammable heist) and R-H6b/R-H10 bind the physics (propane liquefies at −42 °C; the crossing is an engineering cost; nightside creatures must genuinely enjoy the cold and are untransportable dayside). This sheet does not restate those; it houses them. And read against `the_blue_desert.md`: this is the same mechanism two degrees colder — where the haze finally pools.</a:t>
            </a:r>
          </a:p>
        </p:txBody>
      </p:sp>
      <p:sp>
        <p:nvSpPr>
          <p:cNvPr id="17" name="TextBox 16"/>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(1): AA_AuroraSylph ("perfect Propane Lake creature"). Flier→roster: AA_Skyeel. Departures (3): FrostboundBehemoth (OPEN — "needs to totally alien life"), Slurrypede, Terramorph.
1. Two residents for the "most alien life in the cast" biome — the showcase is empty; FrostboundBehemoth's alien redesign is the only pipeline and it's OPEN.
2. OPPORTUNITY: admission test is strict (solvent-tolerant, ignition-safe) — commission 2-3 natives around AuroraSylph's aurora register rather than importing.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the_grey_deep</a:t>
            </a:r>
            <a:r>
              <a:rPr sz="1100">
                <a:solidFill>
                  <a:srgbClr val="B9A488"/>
                </a:solidFill>
              </a:rPr>
              <a:t>   4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sp>
        <p:nvSpPr>
          <p:cNvPr id="4" name="RSW_Reefback" descr="RSW_Reefback (RSW_Reefback)&#10;drawSize 1.0 · assigned here · art:keep&#10;[no cached sprite]"/>
          <p:cNvSpPr/>
          <p:nvPr/>
        </p:nvSpPr>
        <p:spPr>
          <a:xfrm>
            <a:off x="274320"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RSW_Reefback</a:t>
            </a:r>
          </a:p>
        </p:txBody>
      </p:sp>
      <p:sp>
        <p:nvSpPr>
          <p:cNvPr id="5" name="TextBox 4"/>
          <p:cNvSpPr txBox="1"/>
          <p:nvPr/>
        </p:nvSpPr>
        <p:spPr>
          <a:xfrm>
            <a:off x="274320" y="1508760"/>
            <a:ext cx="640080" cy="146304"/>
          </a:xfrm>
          <a:prstGeom prst="rect">
            <a:avLst/>
          </a:prstGeom>
          <a:noFill/>
        </p:spPr>
        <p:txBody>
          <a:bodyPr wrap="none">
            <a:spAutoFit/>
          </a:bodyPr>
          <a:lstStyle/>
          <a:p>
            <a:pPr algn="ctr"/>
            <a:r>
              <a:rPr sz="600">
                <a:solidFill>
                  <a:srgbClr val="B9A488"/>
                </a:solidFill>
              </a:rPr>
              <a:t>RSW_Reefback</a:t>
            </a:r>
          </a:p>
        </p:txBody>
      </p:sp>
      <p:sp>
        <p:nvSpPr>
          <p:cNvPr id="6" name="RSW_SiltLamprey" descr="RSW_SiltLamprey (RSW_SiltLamprey)&#10;drawSize 1.0 · moved in from the_miasma · art:improve&#10;“Grey Sea”&#10;[no cached sprite]"/>
          <p:cNvSpPr/>
          <p:nvPr/>
        </p:nvSpPr>
        <p:spPr>
          <a:xfrm>
            <a:off x="969264"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RSW_SiltLamprey</a:t>
            </a:r>
          </a:p>
        </p:txBody>
      </p:sp>
      <p:sp>
        <p:nvSpPr>
          <p:cNvPr id="7" name="TextBox 6"/>
          <p:cNvSpPr txBox="1"/>
          <p:nvPr/>
        </p:nvSpPr>
        <p:spPr>
          <a:xfrm>
            <a:off x="969264" y="1508760"/>
            <a:ext cx="640080" cy="146304"/>
          </a:xfrm>
          <a:prstGeom prst="rect">
            <a:avLst/>
          </a:prstGeom>
          <a:noFill/>
        </p:spPr>
        <p:txBody>
          <a:bodyPr wrap="none">
            <a:spAutoFit/>
          </a:bodyPr>
          <a:lstStyle/>
          <a:p>
            <a:pPr algn="ctr"/>
            <a:r>
              <a:rPr sz="600">
                <a:solidFill>
                  <a:srgbClr val="B9A488"/>
                </a:solidFill>
              </a:rPr>
              <a:t>RSW_SiltLamprey</a:t>
            </a:r>
          </a:p>
        </p:txBody>
      </p:sp>
      <p:sp>
        <p:nvSpPr>
          <p:cNvPr id="8" name="RSW_ElderSando" descr="RSW_ElderSando (RSW_ElderSando)&#10;drawSize 1.0 · moved in from the_scald · art:keep&#10;“Grey Sea”&#10;[no cached sprite]"/>
          <p:cNvSpPr/>
          <p:nvPr/>
        </p:nvSpPr>
        <p:spPr>
          <a:xfrm>
            <a:off x="1664208"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RSW_ElderSando</a:t>
            </a:r>
          </a:p>
        </p:txBody>
      </p:sp>
      <p:sp>
        <p:nvSpPr>
          <p:cNvPr id="9" name="TextBox 8"/>
          <p:cNvSpPr txBox="1"/>
          <p:nvPr/>
        </p:nvSpPr>
        <p:spPr>
          <a:xfrm>
            <a:off x="1664208" y="1508760"/>
            <a:ext cx="640080" cy="146304"/>
          </a:xfrm>
          <a:prstGeom prst="rect">
            <a:avLst/>
          </a:prstGeom>
          <a:noFill/>
        </p:spPr>
        <p:txBody>
          <a:bodyPr wrap="none">
            <a:spAutoFit/>
          </a:bodyPr>
          <a:lstStyle/>
          <a:p>
            <a:pPr algn="ctr"/>
            <a:r>
              <a:rPr sz="600">
                <a:solidFill>
                  <a:srgbClr val="B9A488"/>
                </a:solidFill>
              </a:rPr>
              <a:t>RSW_ElderSando</a:t>
            </a:r>
          </a:p>
        </p:txBody>
      </p:sp>
      <p:pic>
        <p:nvPicPr>
          <p:cNvPr id="10" name="aerofleet" descr="aerofleet (AA_Aerofleet)&#10;drawSize 0.20000000298023224 · assigned here · art:keep"/>
          <p:cNvPicPr>
            <a:picLocks noChangeAspect="1"/>
          </p:cNvPicPr>
          <p:nvPr/>
        </p:nvPicPr>
        <p:blipFill>
          <a:blip r:embed="rId2"/>
          <a:stretch>
            <a:fillRect/>
          </a:stretch>
        </p:blipFill>
        <p:spPr>
          <a:xfrm>
            <a:off x="2359152" y="1207008"/>
            <a:ext cx="292608" cy="292608"/>
          </a:xfrm>
          <a:prstGeom prst="rect">
            <a:avLst/>
          </a:prstGeom>
        </p:spPr>
      </p:pic>
      <p:sp>
        <p:nvSpPr>
          <p:cNvPr id="11" name="Oval 10"/>
          <p:cNvSpPr/>
          <p:nvPr/>
        </p:nvSpPr>
        <p:spPr>
          <a:xfrm>
            <a:off x="2569464" y="1188720"/>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59152" y="1508760"/>
            <a:ext cx="640080" cy="146304"/>
          </a:xfrm>
          <a:prstGeom prst="rect">
            <a:avLst/>
          </a:prstGeom>
          <a:noFill/>
        </p:spPr>
        <p:txBody>
          <a:bodyPr wrap="none">
            <a:spAutoFit/>
          </a:bodyPr>
          <a:lstStyle/>
          <a:p>
            <a:pPr algn="ctr"/>
            <a:r>
              <a:rPr sz="600">
                <a:solidFill>
                  <a:srgbClr val="B9A488"/>
                </a:solidFill>
              </a:rPr>
              <a:t>aerofleet</a:t>
            </a:r>
          </a:p>
        </p:txBody>
      </p:sp>
      <p:sp>
        <p:nvSpPr>
          <p:cNvPr id="13" name="TextBox 12"/>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14" name="TextBox 13"/>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**the bottom of the Grey Sea** — the underwater biome beneath `RUT_GreySea`'s waters (381 Ocean-painted tiles plus its ice fringe; surface and shore canon stays with `terminator_sea.md`, which this sheet inherits and never repeats). 🔑 **Implementation is deferred by standing ruling** (owner, 2026-09-07: the ocean/lake-bottom biomes wait "for those mods when they need it") — this sheet is the DESIGN, ready for the diving mods' arrival. Thematic handle: **the statuary** — and its image: **pillars in grey murk, a lake with shores at the bottom of a sea, and the dead standing in crystal where they sank.**_</a:t>
            </a:r>
          </a:p>
        </p:txBody>
      </p:sp>
      <p:sp>
        <p:nvSpPr>
          <p:cNvPr id="15" name="TextBox 14"/>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(10): RSW_SiltLamprey, RSW_ElderSando, BMT_Megakrill, BMT_MutatingTumorfish x3 (Adult/Fry/Spawn), BMT_Polluwog, Blixus, TetnissCrab, VFEI2_Silverfish. Flier: AA_ColossalAerofleet arriving→roster; AA_Aerofleet extracted.
INCONSISTENCIES:
1. Sheet §4 is titled "What lives here — three, and no more"; ten arrivals break the biome's central claim. Biggest sheet-vs-verdict collision of the wave.
2. Terminator base bans: no schools/swarms, roster "capped at a handful". Megakrill (krill = swarm by definition), Silverfish, tumorfish Fry/Spawn all read as multiples.
3. Tumorfish x3 is one organism's life cycle — one admission; Megakrill is ruled a *fishing result*, not a spawn — keep it off wildAnimals.
OPPORTUNITIES:
1. If the cap is to survive: ElderSando (apex), SiltLamprey (parasite), Blixus (horror) honor "three, and no more" — the rest become fishing results/set-pieces.
2. TetnissCrab (0.5 cells) as the preserved-in-tar scavenger fits the preservation register (§3) perfectly.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the_scald</a:t>
            </a:r>
            <a:r>
              <a:rPr sz="1100">
                <a:solidFill>
                  <a:srgbClr val="B9A488"/>
                </a:solidFill>
              </a:rPr>
              <a:t>   2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sp>
        <p:nvSpPr>
          <p:cNvPr id="4" name="RSW_Faa" descr="RSW_Faa (RSW_Faa)&#10;drawSize 1.0 · moved in from the_miasma · art:keep&#10;“only underwater biomes place... The Scald underwater. 0.2 cells”&#10;[no cached sprite]"/>
          <p:cNvSpPr/>
          <p:nvPr/>
        </p:nvSpPr>
        <p:spPr>
          <a:xfrm>
            <a:off x="274320"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RSW_Faa</a:t>
            </a:r>
          </a:p>
        </p:txBody>
      </p:sp>
      <p:sp>
        <p:nvSpPr>
          <p:cNvPr id="5" name="TextBox 4"/>
          <p:cNvSpPr txBox="1"/>
          <p:nvPr/>
        </p:nvSpPr>
        <p:spPr>
          <a:xfrm>
            <a:off x="274320" y="1508760"/>
            <a:ext cx="640080" cy="146304"/>
          </a:xfrm>
          <a:prstGeom prst="rect">
            <a:avLst/>
          </a:prstGeom>
          <a:noFill/>
        </p:spPr>
        <p:txBody>
          <a:bodyPr wrap="none">
            <a:spAutoFit/>
          </a:bodyPr>
          <a:lstStyle/>
          <a:p>
            <a:pPr algn="ctr"/>
            <a:r>
              <a:rPr sz="600">
                <a:solidFill>
                  <a:srgbClr val="B9A488"/>
                </a:solidFill>
              </a:rPr>
              <a:t>RSW_Faa</a:t>
            </a:r>
          </a:p>
        </p:txBody>
      </p:sp>
      <p:sp>
        <p:nvSpPr>
          <p:cNvPr id="6" name="RSW_Mee" descr="RSW_Mee (RSW_Mee)&#10;drawSize 1.0 · moved in from the_miasma · art:keep&#10;“Scald only, 0.3 cells”&#10;[no cached sprite]"/>
          <p:cNvSpPr/>
          <p:nvPr/>
        </p:nvSpPr>
        <p:spPr>
          <a:xfrm>
            <a:off x="969264" y="932688"/>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RSW_Mee</a:t>
            </a:r>
          </a:p>
        </p:txBody>
      </p:sp>
      <p:sp>
        <p:nvSpPr>
          <p:cNvPr id="7" name="TextBox 6"/>
          <p:cNvSpPr txBox="1"/>
          <p:nvPr/>
        </p:nvSpPr>
        <p:spPr>
          <a:xfrm>
            <a:off x="969264" y="1508760"/>
            <a:ext cx="640080" cy="146304"/>
          </a:xfrm>
          <a:prstGeom prst="rect">
            <a:avLst/>
          </a:prstGeom>
          <a:noFill/>
        </p:spPr>
        <p:txBody>
          <a:bodyPr wrap="none">
            <a:spAutoFit/>
          </a:bodyPr>
          <a:lstStyle/>
          <a:p>
            <a:pPr algn="ctr"/>
            <a:r>
              <a:rPr sz="600">
                <a:solidFill>
                  <a:srgbClr val="B9A488"/>
                </a:solidFill>
              </a:rPr>
              <a:t>RSW_Mee</a:t>
            </a:r>
          </a:p>
        </p:txBody>
      </p:sp>
      <p:sp>
        <p:nvSpPr>
          <p:cNvPr id="8" name="TextBox 7"/>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9" name="TextBox 8"/>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**`RUT_TheScald`** — the BiomeDef FOUNDRY authored in the liquid-biomes reconciliation (312 `Lake`-painted tiles, region `Scald`), whose `wildAnimals` shipped deliberately empty awaiting exactly this sitting. **The name THE SCALD stands** (deep in canon everywhere). Thematic handle: **the boiler of the dayside** — and its image: **a sea of fire's making, fouled at heart, whose clean breath waters the world.**_ 🔑 **The three seas are three biomes** (owner, this sitting: "this cannot be the same biome as the Twilight or Grey seas... they are not boiling") — already satisfied in engine: `RUT_TwilightSea` and `RUT_GreySea` exist with `terminator_sea.md` as their sheet; the Scald is its own def and now its own sheet. ⚠️ The two terminator seas' sheet predates the enrichment standard — their enrichment pass is the next sitting (owner: "we do need to then do the two seas").</a:t>
            </a:r>
          </a:p>
        </p:txBody>
      </p:sp>
      <p:sp>
        <p:nvSpPr>
          <p:cNvPr id="10" name="TextBox 9"/>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(8): RSW_Faa, RSW_Mee, AA_Atispec, AA_LarvalAtispec, AA_RayHound, JOE_Nautilant, RSW_ColoClawFish, RSW_ThornbackColo.
Departures (2): RSW_ElderSando, RSW_SandoAquaMonster.
INCONSISTENCIES:
1. Ban 4: no macro-life in the boil's surface layer — every arrival must be written as depth-dweller; ColoClawFish/ThornbackColo need that line.
2. Ban 3: no native land predator hunts the water — AA_RayHound ("Scald beast") must be aquatic, not a shore hound, or it violates.
3. Entire cast replaced in one wave; §4's "roiling wonder" text still describes nobody now present — sheet fauna prose is stale.
OPPORTUNITIES:
1. Faa (0.2) + Mee (0.3) give the boil its prey base — the temperature-banded rainbow mats (§4) as their grazing story writes itself.
2. Atispec + LarvalAtispec life cycle at the vents = the biome's first native breeding fiction.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the_lantern_deeps</a:t>
            </a:r>
            <a:r>
              <a:rPr sz="1100">
                <a:solidFill>
                  <a:srgbClr val="B9A488"/>
                </a:solidFill>
              </a:rPr>
              <a:t>   1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gembug" descr="gembug (BMT_Gembug)&#10;drawSize 0.33500000834465027 · moved in from the_miasma · art:keep&#10;“Crystal caverns”"/>
          <p:cNvPicPr>
            <a:picLocks noChangeAspect="1"/>
          </p:cNvPicPr>
          <p:nvPr/>
        </p:nvPicPr>
        <p:blipFill>
          <a:blip r:embed="rId2"/>
          <a:stretch>
            <a:fillRect/>
          </a:stretch>
        </p:blipFill>
        <p:spPr>
          <a:xfrm>
            <a:off x="274320" y="932688"/>
            <a:ext cx="292608" cy="292608"/>
          </a:xfrm>
          <a:prstGeom prst="rect">
            <a:avLst/>
          </a:prstGeom>
        </p:spPr>
      </p:pic>
      <p:sp>
        <p:nvSpPr>
          <p:cNvPr id="5" name="Oval 4"/>
          <p:cNvSpPr/>
          <p:nvPr/>
        </p:nvSpPr>
        <p:spPr>
          <a:xfrm>
            <a:off x="484632" y="914400"/>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34440"/>
            <a:ext cx="640080" cy="146304"/>
          </a:xfrm>
          <a:prstGeom prst="rect">
            <a:avLst/>
          </a:prstGeom>
          <a:noFill/>
        </p:spPr>
        <p:txBody>
          <a:bodyPr wrap="none">
            <a:spAutoFit/>
          </a:bodyPr>
          <a:lstStyle/>
          <a:p>
            <a:pPr algn="ctr"/>
            <a:r>
              <a:rPr sz="600">
                <a:solidFill>
                  <a:srgbClr val="B9A488"/>
                </a:solidFill>
              </a:rPr>
              <a:t>gembug</a:t>
            </a:r>
          </a:p>
        </p:txBody>
      </p:sp>
      <p:sp>
        <p:nvSpPr>
          <p:cNvPr id="7" name="TextBox 6"/>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8" name="TextBox 7"/>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biome** (owner: "that was a mistake") — an **injected underground layer** beneath any nightside map with temperature ≤ −40 °C, using Biomes! Caverns' `BMT_CrystalCaverns` as the cave-map def it was built to be (`isCavern true`, enclosed, roofed with stable overhead mountain). Thematic handle: **light that is alive** — and its image: **a blue lantern burning under the mountain, and a dead miner's suit walking toward it.**_ 🔑 **Precedent:** `fall_line.md` (injection layer, no new BiomeDef). **Read against `the_blue_desert.md`, `the_propane_lakes.md`, `nightside_ice.md`** (its hosts) and the caverns sitting of 2026-09-02 (`underground_caverns_deep_design.md` — entrances v1, map-chain v1, **persistent layers, no regenerating dungeons**, collapse hazard v1 with its dust-and-sand warnings, **darkness as a real mechanic v1**).</a:t>
            </a:r>
          </a:p>
        </p:txBody>
      </p:sp>
      <p:sp>
        <p:nvSpPr>
          <p:cNvPr id="9" name="TextBox 8"/>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(3): BMT_Gembug, BMT_CrystalCrab, BMT_Glowtail. Flier arriving→roster: BMT_FacetMothLarvae (larvae — likely NOT a flier; restore to cast if so).
INCONSISTENCIES:
1. Ban 3: no crystal-studded animals — crystal life must BE crystal. CrystalCrab and Gembug read as animals wearing crystals; art/lore must commit them to true crystal biology.
2. FacetMothLarvae got swept out with the flier family; larvae don't fly — probable wrong extraction, and the caverns are its ruled home.
OPPORTUNITIES:
1. Glowtail vs the no-free-light law (ban 6): make its glow a light-draw *cost* mechanic — the creature that eats your lamplight.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the_rust_cathedral</a:t>
            </a:r>
            <a:r>
              <a:rPr sz="1100">
                <a:solidFill>
                  <a:srgbClr val="B9A488"/>
                </a:solidFill>
              </a:rPr>
              <a:t>   1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Giant Cockroach" descr="Giant Cockroach (Ling_Cockroach)&#10;drawSize 2.0 · assigned here · art:keep&#10;“0.3 cells”"/>
          <p:cNvPicPr>
            <a:picLocks noChangeAspect="1"/>
          </p:cNvPicPr>
          <p:nvPr/>
        </p:nvPicPr>
        <p:blipFill>
          <a:blip r:embed="rId2"/>
          <a:stretch>
            <a:fillRect/>
          </a:stretch>
        </p:blipFill>
        <p:spPr>
          <a:xfrm>
            <a:off x="274320" y="932687"/>
            <a:ext cx="1133856" cy="1133856"/>
          </a:xfrm>
          <a:prstGeom prst="rect">
            <a:avLst/>
          </a:prstGeom>
        </p:spPr>
      </p:pic>
      <p:sp>
        <p:nvSpPr>
          <p:cNvPr id="5" name="Oval 4"/>
          <p:cNvSpPr/>
          <p:nvPr/>
        </p:nvSpPr>
        <p:spPr>
          <a:xfrm>
            <a:off x="1325880" y="914399"/>
            <a:ext cx="73152" cy="73152"/>
          </a:xfrm>
          <a:prstGeom prst="ellipse">
            <a:avLst/>
          </a:prstGeom>
          <a:solidFill>
            <a:srgbClr val="7FA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75687"/>
            <a:ext cx="1133856" cy="146304"/>
          </a:xfrm>
          <a:prstGeom prst="rect">
            <a:avLst/>
          </a:prstGeom>
          <a:noFill/>
        </p:spPr>
        <p:txBody>
          <a:bodyPr wrap="none">
            <a:spAutoFit/>
          </a:bodyPr>
          <a:lstStyle/>
          <a:p>
            <a:pPr algn="ctr"/>
            <a:r>
              <a:rPr sz="600">
                <a:solidFill>
                  <a:srgbClr val="B9A488"/>
                </a:solidFill>
              </a:rPr>
              <a:t>Giant Cockroach</a:t>
            </a:r>
          </a:p>
        </p:txBody>
      </p:sp>
      <p:sp>
        <p:nvSpPr>
          <p:cNvPr id="7" name="TextBox 6"/>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8" name="TextBox 7"/>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("Write it up! So cool."). Defines `AB_MechanoidIntrusion` (Alpha Biomes) — the biome, the region, and the mind all carry the name **THE RUST CATHEDRAL**. Unlike every other sheet, this one is mostly an ASSEMBLY: the Cathedral's soul was already ruled across `design/Jawa/reconciled_lore/03_deep_history.md` (the live machine doctrine — this sheet defers to it rather than duplicating it), the 2026-08-19 sacrilege economics, the 2026-09-04 mind ruling, and the Scarlands §GM. What this sitting added: the naming settlement, the wall ladder, the coolant canals, the hum, the eels, and the living bolts._ 🔴 **THE LORE IS PARTITIONED** (same law as `the_scarlands.md`): most of what this sheet knows is unfolding plot the players must discover. §P is the whole player-facing register; §GM carries the truth and its gates; §6 bans the leak. 🔑 **The naming settlement (owner, this sitting):** the **Forsakens = the Rakatans = the Ancients** — one people — and they command the **Forgotten Sentinels**, which is what the mechanoids ARE. The **Forgotten Arsenal and the Forsaken Arsenal are the same thing** (the faction-13 label, hidden, no settlements); "Sentinels" names the units in speech. All prior usages harmonize; propagation rides the Wednesday canon sitting.</a:t>
            </a:r>
          </a:p>
        </p:txBody>
      </p:sp>
      <p:sp>
        <p:nvSpPr>
          <p:cNvPr id="9" name="TextBox 8"/>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(2): GR_Mechachicken, GR_Mecharat.
1. Ban 7 (nothing organic outside §4's short list): both are mech-analog — add them to §4's list explicitly or the linter flags them.
2. "Mechachicken" fails recognizability on name; rename with the pass (Mecharat borderline, WompRat precedent).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the_blue_desert</a:t>
            </a:r>
            <a:r>
              <a:rPr sz="1100">
                <a:solidFill>
                  <a:srgbClr val="B9A488"/>
                </a:solidFill>
              </a:rPr>
              <a:t>   1 animals · 0 plants</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ANIMALS — sized by drawSize · drag to move · hover/alt-text = intent</a:t>
            </a:r>
          </a:p>
        </p:txBody>
      </p:sp>
      <p:pic>
        <p:nvPicPr>
          <p:cNvPr id="4" name="thunderbeast" descr="thunderbeast (AA_Thunderbeast)&#10;drawSize 1.5 · moved in from the_slime · art:improve&#10;“blue desert”"/>
          <p:cNvPicPr>
            <a:picLocks noChangeAspect="1"/>
          </p:cNvPicPr>
          <p:nvPr/>
        </p:nvPicPr>
        <p:blipFill>
          <a:blip r:embed="rId2"/>
          <a:stretch>
            <a:fillRect/>
          </a:stretch>
        </p:blipFill>
        <p:spPr>
          <a:xfrm>
            <a:off x="274320" y="932688"/>
            <a:ext cx="850392" cy="850392"/>
          </a:xfrm>
          <a:prstGeom prst="rect">
            <a:avLst/>
          </a:prstGeom>
        </p:spPr>
      </p:pic>
      <p:sp>
        <p:nvSpPr>
          <p:cNvPr id="5" name="Oval 4"/>
          <p:cNvSpPr/>
          <p:nvPr/>
        </p:nvSpPr>
        <p:spPr>
          <a:xfrm>
            <a:off x="1042415" y="914400"/>
            <a:ext cx="73152" cy="7315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792224"/>
            <a:ext cx="850392" cy="146304"/>
          </a:xfrm>
          <a:prstGeom prst="rect">
            <a:avLst/>
          </a:prstGeom>
          <a:noFill/>
        </p:spPr>
        <p:txBody>
          <a:bodyPr wrap="none">
            <a:spAutoFit/>
          </a:bodyPr>
          <a:lstStyle/>
          <a:p>
            <a:pPr algn="ctr"/>
            <a:r>
              <a:rPr sz="600">
                <a:solidFill>
                  <a:srgbClr val="B9A488"/>
                </a:solidFill>
              </a:rPr>
              <a:t>thunderbeast</a:t>
            </a:r>
          </a:p>
        </p:txBody>
      </p:sp>
      <p:sp>
        <p:nvSpPr>
          <p:cNvPr id="7" name="TextBox 6"/>
          <p:cNvSpPr txBox="1"/>
          <p:nvPr/>
        </p:nvSpPr>
        <p:spPr>
          <a:xfrm>
            <a:off x="274320" y="3639311"/>
            <a:ext cx="5486400" cy="182880"/>
          </a:xfrm>
          <a:prstGeom prst="rect">
            <a:avLst/>
          </a:prstGeom>
          <a:noFill/>
        </p:spPr>
        <p:txBody>
          <a:bodyPr wrap="none">
            <a:spAutoFit/>
          </a:bodyPr>
          <a:lstStyle/>
          <a:p>
            <a:r>
              <a:rPr sz="800">
                <a:solidFill>
                  <a:srgbClr val="B9A488"/>
                </a:solidFill>
              </a:rPr>
              <a:t>PLANTS</a:t>
            </a:r>
          </a:p>
        </p:txBody>
      </p:sp>
      <p:sp>
        <p:nvSpPr>
          <p:cNvPr id="8" name="TextBox 7"/>
          <p:cNvSpPr txBox="1"/>
          <p:nvPr/>
        </p:nvSpPr>
        <p:spPr>
          <a:xfrm>
            <a:off x="274320" y="4754880"/>
            <a:ext cx="5760720" cy="1920240"/>
          </a:xfrm>
          <a:prstGeom prst="rect">
            <a:avLst/>
          </a:prstGeom>
          <a:solidFill>
            <a:srgbClr val="2E2318"/>
          </a:solidFill>
          <a:ln w="6350">
            <a:solidFill>
              <a:srgbClr val="C98A3E"/>
            </a:solidFill>
          </a:ln>
        </p:spPr>
        <p:txBody>
          <a:bodyPr wrap="square">
            <a:spAutoFit/>
          </a:bodyPr>
          <a:lstStyle/>
          <a:p>
            <a:r>
              <a:rPr sz="900" b="1">
                <a:solidFill>
                  <a:srgbClr val="B9A488"/>
                </a:solidFill>
              </a:rPr>
              <a:t>BIOME TEXT (for review)</a:t>
            </a:r>
          </a:p>
          <a:p>
            <a:r>
              <a:rPr sz="800">
                <a:solidFill>
                  <a:srgbClr val="B9A488"/>
                </a:solidFill>
              </a:rPr>
              <a:t>`BiomeGRimond` (GRiNDTerra's "Blue desert" — donor content incorporated, then bent; **the name stays**: it IS extremely blue, just not up close). Thematic handle: **the phase boundary** — and its image: **a blue plain that is not blue, where the sky's fallen things surface one at a time and the ice hands up what the war put in it.**_ 🔑 **Read against `assailant_weapon_remnants.md`.** The Blue Desert is the **Horrors' host**: the weapon's cold-storage forms are in its ice (§3), and it is the receiving ground for the dissolved `HorrorWastes` (`HORRORWASTES_BIOME_DISSOLVE_1`). The ground itself stays *clean* — the horror emerges from beauty and emptiness, never from a landscape that already looks like horror.</a:t>
            </a:r>
          </a:p>
        </p:txBody>
      </p:sp>
      <p:sp>
        <p:nvSpPr>
          <p:cNvPr id="9" name="TextBox 8"/>
          <p:cNvSpPr txBox="1"/>
          <p:nvPr/>
        </p:nvSpPr>
        <p:spPr>
          <a:xfrm>
            <a:off x="6172200" y="4754880"/>
            <a:ext cx="5742432" cy="1920240"/>
          </a:xfrm>
          <a:prstGeom prst="rect">
            <a:avLst/>
          </a:prstGeom>
          <a:solidFill>
            <a:srgbClr val="2E2318"/>
          </a:solidFill>
          <a:ln w="6350">
            <a:solidFill>
              <a:srgbClr val="C98A3E"/>
            </a:solidFill>
          </a:ln>
        </p:spPr>
        <p:txBody>
          <a:bodyPr wrap="square">
            <a:spAutoFit/>
          </a:bodyPr>
          <a:lstStyle/>
          <a:p>
            <a:r>
              <a:rPr sz="900" b="1">
                <a:solidFill>
                  <a:srgbClr val="C98A3E"/>
                </a:solidFill>
              </a:rPr>
              <a:t>BENCH PER-BIOME COMMENTS</a:t>
            </a:r>
          </a:p>
          <a:p>
            <a:r>
              <a:rPr sz="800">
                <a:solidFill>
                  <a:srgbClr val="B9A488"/>
                </a:solidFill>
              </a:rPr>
              <a:t>Arrivals (1): AA_Thunderbeast (electric — fits the detonation register).
1. One creature. The hydrocarbon-flora biome has no herbivore eating that flora (warm-detonation ban makes this a genuinely novel niche) — commission or route from the hot-biome OPEN pool (Barbslinger, ysalamir).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1. dungeon-guardians</a:t>
            </a:r>
            <a:r>
              <a:rPr sz="1100">
                <a:solidFill>
                  <a:srgbClr val="B9A488"/>
                </a:solidFill>
              </a:rPr>
              <a:t>   7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1. dungeon-guardians (7: 2 explicit, 5 inferred)</a:t>
            </a:r>
          </a:p>
        </p:txBody>
      </p:sp>
      <p:pic>
        <p:nvPicPr>
          <p:cNvPr id="4" name="unblinking eye" descr="unblinking eye (AA_UnblinkingEye)&#10;drawSize 7.0 · inferred&#10;“&quot;assailant&quot;”"/>
          <p:cNvPicPr>
            <a:picLocks noChangeAspect="1"/>
          </p:cNvPicPr>
          <p:nvPr/>
        </p:nvPicPr>
        <p:blipFill>
          <a:blip r:embed="rId2"/>
          <a:stretch>
            <a:fillRect/>
          </a:stretch>
        </p:blipFill>
        <p:spPr>
          <a:xfrm>
            <a:off x="274320" y="932688"/>
            <a:ext cx="2194560" cy="2194560"/>
          </a:xfrm>
          <a:prstGeom prst="rect">
            <a:avLst/>
          </a:prstGeom>
        </p:spPr>
      </p:pic>
      <p:sp>
        <p:nvSpPr>
          <p:cNvPr id="5" name="TextBox 4"/>
          <p:cNvSpPr txBox="1"/>
          <p:nvPr/>
        </p:nvSpPr>
        <p:spPr>
          <a:xfrm>
            <a:off x="274320" y="3136391"/>
            <a:ext cx="2194560" cy="146304"/>
          </a:xfrm>
          <a:prstGeom prst="rect">
            <a:avLst/>
          </a:prstGeom>
          <a:noFill/>
        </p:spPr>
        <p:txBody>
          <a:bodyPr wrap="none">
            <a:spAutoFit/>
          </a:bodyPr>
          <a:lstStyle/>
          <a:p>
            <a:pPr algn="ctr"/>
            <a:r>
              <a:rPr sz="600">
                <a:solidFill>
                  <a:srgbClr val="B9A488"/>
                </a:solidFill>
              </a:rPr>
              <a:t>unblinking eye</a:t>
            </a:r>
          </a:p>
        </p:txBody>
      </p:sp>
      <p:pic>
        <p:nvPicPr>
          <p:cNvPr id="6" name="engorged tentacular aberration" descr="engorged tentacular aberration (AA_EngorgedTentacularAberration)&#10;drawSize 6.0 · inferred&#10;“&quot;Assailant&quot;”"/>
          <p:cNvPicPr>
            <a:picLocks noChangeAspect="1"/>
          </p:cNvPicPr>
          <p:nvPr/>
        </p:nvPicPr>
        <p:blipFill>
          <a:blip r:embed="rId3"/>
          <a:stretch>
            <a:fillRect/>
          </a:stretch>
        </p:blipFill>
        <p:spPr>
          <a:xfrm>
            <a:off x="2596896" y="932688"/>
            <a:ext cx="2194560" cy="2194560"/>
          </a:xfrm>
          <a:prstGeom prst="rect">
            <a:avLst/>
          </a:prstGeom>
        </p:spPr>
      </p:pic>
      <p:sp>
        <p:nvSpPr>
          <p:cNvPr id="7" name="TextBox 6"/>
          <p:cNvSpPr txBox="1"/>
          <p:nvPr/>
        </p:nvSpPr>
        <p:spPr>
          <a:xfrm>
            <a:off x="2596896" y="3136391"/>
            <a:ext cx="2194560" cy="146304"/>
          </a:xfrm>
          <a:prstGeom prst="rect">
            <a:avLst/>
          </a:prstGeom>
          <a:noFill/>
        </p:spPr>
        <p:txBody>
          <a:bodyPr wrap="none">
            <a:spAutoFit/>
          </a:bodyPr>
          <a:lstStyle/>
          <a:p>
            <a:pPr algn="ctr"/>
            <a:r>
              <a:rPr sz="600">
                <a:solidFill>
                  <a:srgbClr val="B9A488"/>
                </a:solidFill>
              </a:rPr>
              <a:t>engorged tentacu</a:t>
            </a:r>
          </a:p>
        </p:txBody>
      </p:sp>
      <p:pic>
        <p:nvPicPr>
          <p:cNvPr id="8" name="aberrant fleshbeast" descr="aberrant fleshbeast (GR_AberrantFleshbeast)&#10;drawSize 5.0 · inferred&#10;“&quot;Assailant territory&quot;”"/>
          <p:cNvPicPr>
            <a:picLocks noChangeAspect="1"/>
          </p:cNvPicPr>
          <p:nvPr/>
        </p:nvPicPr>
        <p:blipFill>
          <a:blip r:embed="rId4"/>
          <a:stretch>
            <a:fillRect/>
          </a:stretch>
        </p:blipFill>
        <p:spPr>
          <a:xfrm>
            <a:off x="4919472" y="932688"/>
            <a:ext cx="2194560" cy="2194560"/>
          </a:xfrm>
          <a:prstGeom prst="rect">
            <a:avLst/>
          </a:prstGeom>
        </p:spPr>
      </p:pic>
      <p:sp>
        <p:nvSpPr>
          <p:cNvPr id="9" name="TextBox 8"/>
          <p:cNvSpPr txBox="1"/>
          <p:nvPr/>
        </p:nvSpPr>
        <p:spPr>
          <a:xfrm>
            <a:off x="4919472" y="3136391"/>
            <a:ext cx="2194560" cy="146304"/>
          </a:xfrm>
          <a:prstGeom prst="rect">
            <a:avLst/>
          </a:prstGeom>
          <a:noFill/>
        </p:spPr>
        <p:txBody>
          <a:bodyPr wrap="none">
            <a:spAutoFit/>
          </a:bodyPr>
          <a:lstStyle/>
          <a:p>
            <a:pPr algn="ctr"/>
            <a:r>
              <a:rPr sz="600">
                <a:solidFill>
                  <a:srgbClr val="B9A488"/>
                </a:solidFill>
              </a:rPr>
              <a:t>aberrant fleshbe</a:t>
            </a:r>
          </a:p>
        </p:txBody>
      </p:sp>
      <p:pic>
        <p:nvPicPr>
          <p:cNvPr id="10" name="flesh growth" descr="flesh growth (GR_FleshGrowth)&#10;drawSize 5.0 · inferred&#10;“&quot;assailant&quot;”"/>
          <p:cNvPicPr>
            <a:picLocks noChangeAspect="1"/>
          </p:cNvPicPr>
          <p:nvPr/>
        </p:nvPicPr>
        <p:blipFill>
          <a:blip r:embed="rId5"/>
          <a:stretch>
            <a:fillRect/>
          </a:stretch>
        </p:blipFill>
        <p:spPr>
          <a:xfrm>
            <a:off x="7242048" y="932688"/>
            <a:ext cx="2194560" cy="2194560"/>
          </a:xfrm>
          <a:prstGeom prst="rect">
            <a:avLst/>
          </a:prstGeom>
        </p:spPr>
      </p:pic>
      <p:sp>
        <p:nvSpPr>
          <p:cNvPr id="11" name="TextBox 10"/>
          <p:cNvSpPr txBox="1"/>
          <p:nvPr/>
        </p:nvSpPr>
        <p:spPr>
          <a:xfrm>
            <a:off x="7242048" y="3136391"/>
            <a:ext cx="2194560" cy="146304"/>
          </a:xfrm>
          <a:prstGeom prst="rect">
            <a:avLst/>
          </a:prstGeom>
          <a:noFill/>
        </p:spPr>
        <p:txBody>
          <a:bodyPr wrap="none">
            <a:spAutoFit/>
          </a:bodyPr>
          <a:lstStyle/>
          <a:p>
            <a:pPr algn="ctr"/>
            <a:r>
              <a:rPr sz="600">
                <a:solidFill>
                  <a:srgbClr val="B9A488"/>
                </a:solidFill>
              </a:rPr>
              <a:t>flesh growth</a:t>
            </a:r>
          </a:p>
        </p:txBody>
      </p:sp>
      <p:pic>
        <p:nvPicPr>
          <p:cNvPr id="12" name="flesh monstrosity" descr="flesh monstrosity (GR_FleshMonstrosity)&#10;drawSize 5.0 · inferred&#10;“&quot;assailant&quot;”"/>
          <p:cNvPicPr>
            <a:picLocks noChangeAspect="1"/>
          </p:cNvPicPr>
          <p:nvPr/>
        </p:nvPicPr>
        <p:blipFill>
          <a:blip r:embed="rId6"/>
          <a:stretch>
            <a:fillRect/>
          </a:stretch>
        </p:blipFill>
        <p:spPr>
          <a:xfrm>
            <a:off x="9564624" y="932688"/>
            <a:ext cx="2194560" cy="2194560"/>
          </a:xfrm>
          <a:prstGeom prst="rect">
            <a:avLst/>
          </a:prstGeom>
        </p:spPr>
      </p:pic>
      <p:sp>
        <p:nvSpPr>
          <p:cNvPr id="13" name="TextBox 12"/>
          <p:cNvSpPr txBox="1"/>
          <p:nvPr/>
        </p:nvSpPr>
        <p:spPr>
          <a:xfrm>
            <a:off x="9564624" y="3136391"/>
            <a:ext cx="2194560" cy="146304"/>
          </a:xfrm>
          <a:prstGeom prst="rect">
            <a:avLst/>
          </a:prstGeom>
          <a:noFill/>
        </p:spPr>
        <p:txBody>
          <a:bodyPr wrap="none">
            <a:spAutoFit/>
          </a:bodyPr>
          <a:lstStyle/>
          <a:p>
            <a:pPr algn="ctr"/>
            <a:r>
              <a:rPr sz="600">
                <a:solidFill>
                  <a:srgbClr val="B9A488"/>
                </a:solidFill>
              </a:rPr>
              <a:t>flesh monstrosit</a:t>
            </a:r>
          </a:p>
        </p:txBody>
      </p:sp>
      <p:pic>
        <p:nvPicPr>
          <p:cNvPr id="14" name="toxalope" descr="toxalope (Toxalope)&#10;drawSize 1.399999976158142 · explicit&#10;“&quot;assailant dungeons&quot;”"/>
          <p:cNvPicPr>
            <a:picLocks noChangeAspect="1"/>
          </p:cNvPicPr>
          <p:nvPr/>
        </p:nvPicPr>
        <p:blipFill>
          <a:blip r:embed="rId7"/>
          <a:stretch>
            <a:fillRect/>
          </a:stretch>
        </p:blipFill>
        <p:spPr>
          <a:xfrm>
            <a:off x="274320" y="3364992"/>
            <a:ext cx="793699" cy="793699"/>
          </a:xfrm>
          <a:prstGeom prst="rect">
            <a:avLst/>
          </a:prstGeom>
        </p:spPr>
      </p:pic>
      <p:sp>
        <p:nvSpPr>
          <p:cNvPr id="15" name="TextBox 14"/>
          <p:cNvSpPr txBox="1"/>
          <p:nvPr/>
        </p:nvSpPr>
        <p:spPr>
          <a:xfrm>
            <a:off x="274320" y="4167835"/>
            <a:ext cx="793699" cy="146304"/>
          </a:xfrm>
          <a:prstGeom prst="rect">
            <a:avLst/>
          </a:prstGeom>
          <a:noFill/>
        </p:spPr>
        <p:txBody>
          <a:bodyPr wrap="none">
            <a:spAutoFit/>
          </a:bodyPr>
          <a:lstStyle/>
          <a:p>
            <a:pPr algn="ctr"/>
            <a:r>
              <a:rPr sz="600">
                <a:solidFill>
                  <a:srgbClr val="B9A488"/>
                </a:solidFill>
              </a:rPr>
              <a:t>toxalope</a:t>
            </a:r>
          </a:p>
        </p:txBody>
      </p:sp>
      <p:pic>
        <p:nvPicPr>
          <p:cNvPr id="16" name="mime" descr="mime (AA_Mime)&#10;drawSize 1.0 · explicit&#10;“&quot;Only assailant dungeons&quot;”"/>
          <p:cNvPicPr>
            <a:picLocks noChangeAspect="1"/>
          </p:cNvPicPr>
          <p:nvPr/>
        </p:nvPicPr>
        <p:blipFill>
          <a:blip r:embed="rId8"/>
          <a:stretch>
            <a:fillRect/>
          </a:stretch>
        </p:blipFill>
        <p:spPr>
          <a:xfrm>
            <a:off x="1196035" y="3591763"/>
            <a:ext cx="566928" cy="566928"/>
          </a:xfrm>
          <a:prstGeom prst="rect">
            <a:avLst/>
          </a:prstGeom>
        </p:spPr>
      </p:pic>
      <p:sp>
        <p:nvSpPr>
          <p:cNvPr id="17" name="TextBox 16"/>
          <p:cNvSpPr txBox="1"/>
          <p:nvPr/>
        </p:nvSpPr>
        <p:spPr>
          <a:xfrm>
            <a:off x="1196035" y="4167835"/>
            <a:ext cx="640080" cy="146304"/>
          </a:xfrm>
          <a:prstGeom prst="rect">
            <a:avLst/>
          </a:prstGeom>
          <a:noFill/>
        </p:spPr>
        <p:txBody>
          <a:bodyPr wrap="none">
            <a:spAutoFit/>
          </a:bodyPr>
          <a:lstStyle/>
          <a:p>
            <a:pPr algn="ctr"/>
            <a:r>
              <a:rPr sz="600">
                <a:solidFill>
                  <a:srgbClr val="B9A488"/>
                </a:solidFill>
              </a:rPr>
              <a:t>mime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2. trader-beasts</a:t>
            </a:r>
            <a:r>
              <a:rPr sz="1100">
                <a:solidFill>
                  <a:srgbClr val="B9A488"/>
                </a:solidFill>
              </a:rPr>
              <a:t>   1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2. trader-beasts (1 explicit, 0 inferred)</a:t>
            </a:r>
          </a:p>
        </p:txBody>
      </p:sp>
      <p:pic>
        <p:nvPicPr>
          <p:cNvPr id="4" name="behemoth" descr="behemoth (Behemoth)&#10;drawSize 6.0 · explicit&#10;“&quot;huuuge trader pack animal&quot;”"/>
          <p:cNvPicPr>
            <a:picLocks noChangeAspect="1"/>
          </p:cNvPicPr>
          <p:nvPr/>
        </p:nvPicPr>
        <p:blipFill>
          <a:blip r:embed="rId2"/>
          <a:stretch>
            <a:fillRect/>
          </a:stretch>
        </p:blipFill>
        <p:spPr>
          <a:xfrm>
            <a:off x="274320" y="932688"/>
            <a:ext cx="2194560" cy="2194560"/>
          </a:xfrm>
          <a:prstGeom prst="rect">
            <a:avLst/>
          </a:prstGeom>
        </p:spPr>
      </p:pic>
      <p:sp>
        <p:nvSpPr>
          <p:cNvPr id="5" name="TextBox 4"/>
          <p:cNvSpPr txBox="1"/>
          <p:nvPr/>
        </p:nvSpPr>
        <p:spPr>
          <a:xfrm>
            <a:off x="274320" y="3136391"/>
            <a:ext cx="2194560" cy="146304"/>
          </a:xfrm>
          <a:prstGeom prst="rect">
            <a:avLst/>
          </a:prstGeom>
          <a:noFill/>
        </p:spPr>
        <p:txBody>
          <a:bodyPr wrap="none">
            <a:spAutoFit/>
          </a:bodyPr>
          <a:lstStyle/>
          <a:p>
            <a:pPr algn="ctr"/>
            <a:r>
              <a:rPr sz="600">
                <a:solidFill>
                  <a:srgbClr val="B9A488"/>
                </a:solidFill>
              </a:rPr>
              <a:t>behemoth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3. fliers</a:t>
            </a:r>
            <a:r>
              <a:rPr sz="1100">
                <a:solidFill>
                  <a:srgbClr val="B9A488"/>
                </a:solidFill>
              </a:rPr>
              <a:t>   27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3. fliers (38: 4 explicit, 34 inferred)</a:t>
            </a:r>
          </a:p>
        </p:txBody>
      </p:sp>
      <p:pic>
        <p:nvPicPr>
          <p:cNvPr id="4" name="aiwha" descr="aiwha (Aiwha)&#10;drawSize 3.0 · explicit&#10;“&quot;HUGE flyer, could appear anywhere, mountable...&quot;”"/>
          <p:cNvPicPr>
            <a:picLocks noChangeAspect="1"/>
          </p:cNvPicPr>
          <p:nvPr/>
        </p:nvPicPr>
        <p:blipFill>
          <a:blip r:embed="rId2"/>
          <a:stretch>
            <a:fillRect/>
          </a:stretch>
        </p:blipFill>
        <p:spPr>
          <a:xfrm>
            <a:off x="274320" y="932688"/>
            <a:ext cx="1700784" cy="1700784"/>
          </a:xfrm>
          <a:prstGeom prst="rect">
            <a:avLst/>
          </a:prstGeom>
        </p:spPr>
      </p:pic>
      <p:sp>
        <p:nvSpPr>
          <p:cNvPr id="5" name="TextBox 4"/>
          <p:cNvSpPr txBox="1"/>
          <p:nvPr/>
        </p:nvSpPr>
        <p:spPr>
          <a:xfrm>
            <a:off x="274320" y="2642615"/>
            <a:ext cx="1700784" cy="146304"/>
          </a:xfrm>
          <a:prstGeom prst="rect">
            <a:avLst/>
          </a:prstGeom>
          <a:noFill/>
        </p:spPr>
        <p:txBody>
          <a:bodyPr wrap="none">
            <a:spAutoFit/>
          </a:bodyPr>
          <a:lstStyle/>
          <a:p>
            <a:pPr algn="ctr"/>
            <a:r>
              <a:rPr sz="600">
                <a:solidFill>
                  <a:srgbClr val="B9A488"/>
                </a:solidFill>
              </a:rPr>
              <a:t>aiwha</a:t>
            </a:r>
          </a:p>
        </p:txBody>
      </p:sp>
      <p:pic>
        <p:nvPicPr>
          <p:cNvPr id="6" name="megabat" descr="megabat (BMT_Megabat)&#10;drawSize 2.200000047683716 · inferred&#10;“(no note)”"/>
          <p:cNvPicPr>
            <a:picLocks noChangeAspect="1"/>
          </p:cNvPicPr>
          <p:nvPr/>
        </p:nvPicPr>
        <p:blipFill>
          <a:blip r:embed="rId3"/>
          <a:stretch>
            <a:fillRect/>
          </a:stretch>
        </p:blipFill>
        <p:spPr>
          <a:xfrm>
            <a:off x="2103120" y="1386230"/>
            <a:ext cx="1247241" cy="1247241"/>
          </a:xfrm>
          <a:prstGeom prst="rect">
            <a:avLst/>
          </a:prstGeom>
        </p:spPr>
      </p:pic>
      <p:sp>
        <p:nvSpPr>
          <p:cNvPr id="7" name="TextBox 6"/>
          <p:cNvSpPr txBox="1"/>
          <p:nvPr/>
        </p:nvSpPr>
        <p:spPr>
          <a:xfrm>
            <a:off x="2103120" y="2642615"/>
            <a:ext cx="1247241" cy="146304"/>
          </a:xfrm>
          <a:prstGeom prst="rect">
            <a:avLst/>
          </a:prstGeom>
          <a:noFill/>
        </p:spPr>
        <p:txBody>
          <a:bodyPr wrap="none">
            <a:spAutoFit/>
          </a:bodyPr>
          <a:lstStyle/>
          <a:p>
            <a:pPr algn="ctr"/>
            <a:r>
              <a:rPr sz="600">
                <a:solidFill>
                  <a:srgbClr val="B9A488"/>
                </a:solidFill>
              </a:rPr>
              <a:t>megabat</a:t>
            </a:r>
          </a:p>
        </p:txBody>
      </p:sp>
      <p:pic>
        <p:nvPicPr>
          <p:cNvPr id="8" name="gigalocust" descr="gigalocust (VFEI2_Gigalocust)&#10;drawSize 2.200000047683716 · inferred&#10;“(no note)”"/>
          <p:cNvPicPr>
            <a:picLocks noChangeAspect="1"/>
          </p:cNvPicPr>
          <p:nvPr/>
        </p:nvPicPr>
        <p:blipFill>
          <a:blip r:embed="rId4"/>
          <a:stretch>
            <a:fillRect/>
          </a:stretch>
        </p:blipFill>
        <p:spPr>
          <a:xfrm>
            <a:off x="3478377" y="1386230"/>
            <a:ext cx="1247241" cy="1247241"/>
          </a:xfrm>
          <a:prstGeom prst="rect">
            <a:avLst/>
          </a:prstGeom>
        </p:spPr>
      </p:pic>
      <p:sp>
        <p:nvSpPr>
          <p:cNvPr id="9" name="TextBox 8"/>
          <p:cNvSpPr txBox="1"/>
          <p:nvPr/>
        </p:nvSpPr>
        <p:spPr>
          <a:xfrm>
            <a:off x="3478377" y="2642615"/>
            <a:ext cx="1247241" cy="146304"/>
          </a:xfrm>
          <a:prstGeom prst="rect">
            <a:avLst/>
          </a:prstGeom>
          <a:noFill/>
        </p:spPr>
        <p:txBody>
          <a:bodyPr wrap="none">
            <a:spAutoFit/>
          </a:bodyPr>
          <a:lstStyle/>
          <a:p>
            <a:pPr algn="ctr"/>
            <a:r>
              <a:rPr sz="600">
                <a:solidFill>
                  <a:srgbClr val="B9A488"/>
                </a:solidFill>
              </a:rPr>
              <a:t>gigalocust</a:t>
            </a:r>
          </a:p>
        </p:txBody>
      </p:sp>
      <p:pic>
        <p:nvPicPr>
          <p:cNvPr id="10" name="hawk-bat" descr="hawk-bat (Hawkbat)&#10;drawSize 2.0 · inferred&#10;“(no note)”"/>
          <p:cNvPicPr>
            <a:picLocks noChangeAspect="1"/>
          </p:cNvPicPr>
          <p:nvPr/>
        </p:nvPicPr>
        <p:blipFill>
          <a:blip r:embed="rId5"/>
          <a:stretch>
            <a:fillRect/>
          </a:stretch>
        </p:blipFill>
        <p:spPr>
          <a:xfrm>
            <a:off x="4853635" y="1499616"/>
            <a:ext cx="1133856" cy="1133856"/>
          </a:xfrm>
          <a:prstGeom prst="rect">
            <a:avLst/>
          </a:prstGeom>
        </p:spPr>
      </p:pic>
      <p:sp>
        <p:nvSpPr>
          <p:cNvPr id="11" name="TextBox 10"/>
          <p:cNvSpPr txBox="1"/>
          <p:nvPr/>
        </p:nvSpPr>
        <p:spPr>
          <a:xfrm>
            <a:off x="4853635" y="2642615"/>
            <a:ext cx="1133856" cy="146304"/>
          </a:xfrm>
          <a:prstGeom prst="rect">
            <a:avLst/>
          </a:prstGeom>
          <a:noFill/>
        </p:spPr>
        <p:txBody>
          <a:bodyPr wrap="none">
            <a:spAutoFit/>
          </a:bodyPr>
          <a:lstStyle/>
          <a:p>
            <a:pPr algn="ctr"/>
            <a:r>
              <a:rPr sz="600">
                <a:solidFill>
                  <a:srgbClr val="B9A488"/>
                </a:solidFill>
              </a:rPr>
              <a:t>hawk-bat</a:t>
            </a:r>
          </a:p>
        </p:txBody>
      </p:sp>
      <p:pic>
        <p:nvPicPr>
          <p:cNvPr id="12" name="megawasp" descr="megawasp (VFEI2_Megawasp)&#10;drawSize 1.350000023841858 · inferred&#10;“(no note)”"/>
          <p:cNvPicPr>
            <a:picLocks noChangeAspect="1"/>
          </p:cNvPicPr>
          <p:nvPr/>
        </p:nvPicPr>
        <p:blipFill>
          <a:blip r:embed="rId6"/>
          <a:stretch>
            <a:fillRect/>
          </a:stretch>
        </p:blipFill>
        <p:spPr>
          <a:xfrm>
            <a:off x="6115507" y="1868119"/>
            <a:ext cx="765352" cy="765352"/>
          </a:xfrm>
          <a:prstGeom prst="rect">
            <a:avLst/>
          </a:prstGeom>
        </p:spPr>
      </p:pic>
      <p:sp>
        <p:nvSpPr>
          <p:cNvPr id="13" name="TextBox 12"/>
          <p:cNvSpPr txBox="1"/>
          <p:nvPr/>
        </p:nvSpPr>
        <p:spPr>
          <a:xfrm>
            <a:off x="6115507" y="2642615"/>
            <a:ext cx="765352" cy="146304"/>
          </a:xfrm>
          <a:prstGeom prst="rect">
            <a:avLst/>
          </a:prstGeom>
          <a:noFill/>
        </p:spPr>
        <p:txBody>
          <a:bodyPr wrap="none">
            <a:spAutoFit/>
          </a:bodyPr>
          <a:lstStyle/>
          <a:p>
            <a:pPr algn="ctr"/>
            <a:r>
              <a:rPr sz="600">
                <a:solidFill>
                  <a:srgbClr val="B9A488"/>
                </a:solidFill>
              </a:rPr>
              <a:t>megawasp</a:t>
            </a:r>
          </a:p>
        </p:txBody>
      </p:sp>
      <p:pic>
        <p:nvPicPr>
          <p:cNvPr id="14" name="woolly bat" descr="woolly bat (BMT_Woollybat)&#10;drawSize 1.2000000476837158 · inferred&#10;“(no note)”"/>
          <p:cNvPicPr>
            <a:picLocks noChangeAspect="1"/>
          </p:cNvPicPr>
          <p:nvPr/>
        </p:nvPicPr>
        <p:blipFill>
          <a:blip r:embed="rId7"/>
          <a:stretch>
            <a:fillRect/>
          </a:stretch>
        </p:blipFill>
        <p:spPr>
          <a:xfrm>
            <a:off x="7008876" y="1953158"/>
            <a:ext cx="680313" cy="680313"/>
          </a:xfrm>
          <a:prstGeom prst="rect">
            <a:avLst/>
          </a:prstGeom>
        </p:spPr>
      </p:pic>
      <p:sp>
        <p:nvSpPr>
          <p:cNvPr id="15" name="TextBox 14"/>
          <p:cNvSpPr txBox="1"/>
          <p:nvPr/>
        </p:nvSpPr>
        <p:spPr>
          <a:xfrm>
            <a:off x="7008876" y="2642615"/>
            <a:ext cx="680313" cy="146304"/>
          </a:xfrm>
          <a:prstGeom prst="rect">
            <a:avLst/>
          </a:prstGeom>
          <a:noFill/>
        </p:spPr>
        <p:txBody>
          <a:bodyPr wrap="none">
            <a:spAutoFit/>
          </a:bodyPr>
          <a:lstStyle/>
          <a:p>
            <a:pPr algn="ctr"/>
            <a:r>
              <a:rPr sz="600">
                <a:solidFill>
                  <a:srgbClr val="B9A488"/>
                </a:solidFill>
              </a:rPr>
              <a:t>woolly bat</a:t>
            </a:r>
          </a:p>
        </p:txBody>
      </p:sp>
      <p:sp>
        <p:nvSpPr>
          <p:cNvPr id="16" name="flesh flies" descr="flesh flies (GR_FleshFlies)&#10;drawSize 1.0 · inferred&#10;“(no note)”&#10;[no cached sprite]"/>
          <p:cNvSpPr/>
          <p:nvPr/>
        </p:nvSpPr>
        <p:spPr>
          <a:xfrm>
            <a:off x="7817205" y="2066543"/>
            <a:ext cx="640080" cy="566928"/>
          </a:xfrm>
          <a:prstGeom prst="roundRect">
            <a:avLst/>
          </a:prstGeom>
          <a:solidFill>
            <a:srgbClr val="2E2318"/>
          </a:solidFill>
          <a:ln w="6350">
            <a:solidFill>
              <a:srgbClr val="B9A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a:solidFill>
                  <a:srgbClr val="B9A488"/>
                </a:solidFill>
              </a:rPr>
              <a:t>flesh flies</a:t>
            </a:r>
          </a:p>
        </p:txBody>
      </p:sp>
      <p:sp>
        <p:nvSpPr>
          <p:cNvPr id="17" name="TextBox 16"/>
          <p:cNvSpPr txBox="1"/>
          <p:nvPr/>
        </p:nvSpPr>
        <p:spPr>
          <a:xfrm>
            <a:off x="7817205" y="2642615"/>
            <a:ext cx="640080" cy="146304"/>
          </a:xfrm>
          <a:prstGeom prst="rect">
            <a:avLst/>
          </a:prstGeom>
          <a:noFill/>
        </p:spPr>
        <p:txBody>
          <a:bodyPr wrap="none">
            <a:spAutoFit/>
          </a:bodyPr>
          <a:lstStyle/>
          <a:p>
            <a:pPr algn="ctr"/>
            <a:r>
              <a:rPr sz="600">
                <a:solidFill>
                  <a:srgbClr val="B9A488"/>
                </a:solidFill>
              </a:rPr>
              <a:t>flesh flies</a:t>
            </a:r>
          </a:p>
        </p:txBody>
      </p:sp>
      <p:pic>
        <p:nvPicPr>
          <p:cNvPr id="18" name="fire wasp" descr="fire wasp (AA_FireWasp)&#10;drawSize 0.7900000214576721 · inferred&#10;“&quot;I like this a lot&quot;”"/>
          <p:cNvPicPr>
            <a:picLocks noChangeAspect="1"/>
          </p:cNvPicPr>
          <p:nvPr/>
        </p:nvPicPr>
        <p:blipFill>
          <a:blip r:embed="rId8"/>
          <a:stretch>
            <a:fillRect/>
          </a:stretch>
        </p:blipFill>
        <p:spPr>
          <a:xfrm>
            <a:off x="8512149" y="2185598"/>
            <a:ext cx="447873" cy="447873"/>
          </a:xfrm>
          <a:prstGeom prst="rect">
            <a:avLst/>
          </a:prstGeom>
        </p:spPr>
      </p:pic>
      <p:sp>
        <p:nvSpPr>
          <p:cNvPr id="19" name="TextBox 18"/>
          <p:cNvSpPr txBox="1"/>
          <p:nvPr/>
        </p:nvSpPr>
        <p:spPr>
          <a:xfrm>
            <a:off x="8512149" y="2642615"/>
            <a:ext cx="640080" cy="146304"/>
          </a:xfrm>
          <a:prstGeom prst="rect">
            <a:avLst/>
          </a:prstGeom>
          <a:noFill/>
        </p:spPr>
        <p:txBody>
          <a:bodyPr wrap="none">
            <a:spAutoFit/>
          </a:bodyPr>
          <a:lstStyle/>
          <a:p>
            <a:pPr algn="ctr"/>
            <a:r>
              <a:rPr sz="600">
                <a:solidFill>
                  <a:srgbClr val="B9A488"/>
                </a:solidFill>
              </a:rPr>
              <a:t>fire wasp</a:t>
            </a:r>
          </a:p>
        </p:txBody>
      </p:sp>
      <p:pic>
        <p:nvPicPr>
          <p:cNvPr id="20" name="smog moth" descr="smog moth (BMT_SmogMoth)&#10;drawSize 0.7699999809265137 · explicit&#10;“&quot;Neat flier in the Rot&quot;”"/>
          <p:cNvPicPr>
            <a:picLocks noChangeAspect="1"/>
          </p:cNvPicPr>
          <p:nvPr/>
        </p:nvPicPr>
        <p:blipFill>
          <a:blip r:embed="rId9"/>
          <a:stretch>
            <a:fillRect/>
          </a:stretch>
        </p:blipFill>
        <p:spPr>
          <a:xfrm>
            <a:off x="9088038" y="2196937"/>
            <a:ext cx="436534" cy="436534"/>
          </a:xfrm>
          <a:prstGeom prst="rect">
            <a:avLst/>
          </a:prstGeom>
        </p:spPr>
      </p:pic>
      <p:sp>
        <p:nvSpPr>
          <p:cNvPr id="21" name="TextBox 20"/>
          <p:cNvSpPr txBox="1"/>
          <p:nvPr/>
        </p:nvSpPr>
        <p:spPr>
          <a:xfrm>
            <a:off x="9088038" y="2642615"/>
            <a:ext cx="640080" cy="146304"/>
          </a:xfrm>
          <a:prstGeom prst="rect">
            <a:avLst/>
          </a:prstGeom>
          <a:noFill/>
        </p:spPr>
        <p:txBody>
          <a:bodyPr wrap="none">
            <a:spAutoFit/>
          </a:bodyPr>
          <a:lstStyle/>
          <a:p>
            <a:pPr algn="ctr"/>
            <a:r>
              <a:rPr sz="600">
                <a:solidFill>
                  <a:srgbClr val="B9A488"/>
                </a:solidFill>
              </a:rPr>
              <a:t>smog moth</a:t>
            </a:r>
          </a:p>
        </p:txBody>
      </p:sp>
      <p:pic>
        <p:nvPicPr>
          <p:cNvPr id="22" name="bloodrop moth" descr="bloodrop moth (BMT_BloodropMoth)&#10;drawSize 0.7699999809265137 · inferred&#10;“(no note)”"/>
          <p:cNvPicPr>
            <a:picLocks noChangeAspect="1"/>
          </p:cNvPicPr>
          <p:nvPr/>
        </p:nvPicPr>
        <p:blipFill>
          <a:blip r:embed="rId10"/>
          <a:stretch>
            <a:fillRect/>
          </a:stretch>
        </p:blipFill>
        <p:spPr>
          <a:xfrm>
            <a:off x="9652589" y="2196937"/>
            <a:ext cx="436534" cy="436534"/>
          </a:xfrm>
          <a:prstGeom prst="rect">
            <a:avLst/>
          </a:prstGeom>
        </p:spPr>
      </p:pic>
      <p:sp>
        <p:nvSpPr>
          <p:cNvPr id="23" name="TextBox 22"/>
          <p:cNvSpPr txBox="1"/>
          <p:nvPr/>
        </p:nvSpPr>
        <p:spPr>
          <a:xfrm>
            <a:off x="9652589" y="2642615"/>
            <a:ext cx="640080" cy="146304"/>
          </a:xfrm>
          <a:prstGeom prst="rect">
            <a:avLst/>
          </a:prstGeom>
          <a:noFill/>
        </p:spPr>
        <p:txBody>
          <a:bodyPr wrap="none">
            <a:spAutoFit/>
          </a:bodyPr>
          <a:lstStyle/>
          <a:p>
            <a:pPr algn="ctr"/>
            <a:r>
              <a:rPr sz="600">
                <a:solidFill>
                  <a:srgbClr val="B9A488"/>
                </a:solidFill>
              </a:rPr>
              <a:t>bloodrop moth</a:t>
            </a:r>
          </a:p>
        </p:txBody>
      </p:sp>
      <p:pic>
        <p:nvPicPr>
          <p:cNvPr id="24" name="facet moth" descr="facet moth (BMT_FacetMoth)&#10;drawSize 0.7699999809265137 · inferred&#10;“&quot;brightly colored...jungle&quot; / &quot;crystal caverns&quot; / (none)”"/>
          <p:cNvPicPr>
            <a:picLocks noChangeAspect="1"/>
          </p:cNvPicPr>
          <p:nvPr/>
        </p:nvPicPr>
        <p:blipFill>
          <a:blip r:embed="rId11"/>
          <a:stretch>
            <a:fillRect/>
          </a:stretch>
        </p:blipFill>
        <p:spPr>
          <a:xfrm>
            <a:off x="10217139" y="2196937"/>
            <a:ext cx="436534" cy="436534"/>
          </a:xfrm>
          <a:prstGeom prst="rect">
            <a:avLst/>
          </a:prstGeom>
        </p:spPr>
      </p:pic>
      <p:sp>
        <p:nvSpPr>
          <p:cNvPr id="25" name="TextBox 24"/>
          <p:cNvSpPr txBox="1"/>
          <p:nvPr/>
        </p:nvSpPr>
        <p:spPr>
          <a:xfrm>
            <a:off x="10217139" y="2642615"/>
            <a:ext cx="640080" cy="146304"/>
          </a:xfrm>
          <a:prstGeom prst="rect">
            <a:avLst/>
          </a:prstGeom>
          <a:noFill/>
        </p:spPr>
        <p:txBody>
          <a:bodyPr wrap="none">
            <a:spAutoFit/>
          </a:bodyPr>
          <a:lstStyle/>
          <a:p>
            <a:pPr algn="ctr"/>
            <a:r>
              <a:rPr sz="600">
                <a:solidFill>
                  <a:srgbClr val="B9A488"/>
                </a:solidFill>
              </a:rPr>
              <a:t>facet moth</a:t>
            </a:r>
          </a:p>
        </p:txBody>
      </p:sp>
      <p:pic>
        <p:nvPicPr>
          <p:cNvPr id="26" name="angel moth" descr="angel moth (AA_AngelMoth)&#10;drawSize 0.75 · inferred&#10;“&quot;Rot&quot; / &quot;Wildsteam biomes&quot;”"/>
          <p:cNvPicPr>
            <a:picLocks noChangeAspect="1"/>
          </p:cNvPicPr>
          <p:nvPr/>
        </p:nvPicPr>
        <p:blipFill>
          <a:blip r:embed="rId12"/>
          <a:stretch>
            <a:fillRect/>
          </a:stretch>
        </p:blipFill>
        <p:spPr>
          <a:xfrm>
            <a:off x="10781690" y="2208276"/>
            <a:ext cx="425196" cy="425196"/>
          </a:xfrm>
          <a:prstGeom prst="rect">
            <a:avLst/>
          </a:prstGeom>
        </p:spPr>
      </p:pic>
      <p:sp>
        <p:nvSpPr>
          <p:cNvPr id="27" name="TextBox 26"/>
          <p:cNvSpPr txBox="1"/>
          <p:nvPr/>
        </p:nvSpPr>
        <p:spPr>
          <a:xfrm>
            <a:off x="10781690" y="2642615"/>
            <a:ext cx="640080" cy="146304"/>
          </a:xfrm>
          <a:prstGeom prst="rect">
            <a:avLst/>
          </a:prstGeom>
          <a:noFill/>
        </p:spPr>
        <p:txBody>
          <a:bodyPr wrap="none">
            <a:spAutoFit/>
          </a:bodyPr>
          <a:lstStyle/>
          <a:p>
            <a:pPr algn="ctr"/>
            <a:r>
              <a:rPr sz="600">
                <a:solidFill>
                  <a:srgbClr val="B9A488"/>
                </a:solidFill>
              </a:rPr>
              <a:t>angel moth</a:t>
            </a:r>
          </a:p>
        </p:txBody>
      </p:sp>
      <p:pic>
        <p:nvPicPr>
          <p:cNvPr id="28" name="Empress butterfly" descr="Empress butterfly (AA_EmpressButterfly)&#10;drawSize 0.75 · inferred&#10;“&quot;Wildsteam areas&quot; / &quot;Wildsteam biomes&quot;”"/>
          <p:cNvPicPr>
            <a:picLocks noChangeAspect="1"/>
          </p:cNvPicPr>
          <p:nvPr/>
        </p:nvPicPr>
        <p:blipFill>
          <a:blip r:embed="rId13"/>
          <a:stretch>
            <a:fillRect/>
          </a:stretch>
        </p:blipFill>
        <p:spPr>
          <a:xfrm>
            <a:off x="11334902" y="2208276"/>
            <a:ext cx="425196" cy="425196"/>
          </a:xfrm>
          <a:prstGeom prst="rect">
            <a:avLst/>
          </a:prstGeom>
        </p:spPr>
      </p:pic>
      <p:sp>
        <p:nvSpPr>
          <p:cNvPr id="29" name="TextBox 28"/>
          <p:cNvSpPr txBox="1"/>
          <p:nvPr/>
        </p:nvSpPr>
        <p:spPr>
          <a:xfrm>
            <a:off x="11334902" y="2642615"/>
            <a:ext cx="640080" cy="146304"/>
          </a:xfrm>
          <a:prstGeom prst="rect">
            <a:avLst/>
          </a:prstGeom>
          <a:noFill/>
        </p:spPr>
        <p:txBody>
          <a:bodyPr wrap="none">
            <a:spAutoFit/>
          </a:bodyPr>
          <a:lstStyle/>
          <a:p>
            <a:pPr algn="ctr"/>
            <a:r>
              <a:rPr sz="600">
                <a:solidFill>
                  <a:srgbClr val="B9A488"/>
                </a:solidFill>
              </a:rPr>
              <a:t>Empress butterfl</a:t>
            </a:r>
          </a:p>
        </p:txBody>
      </p:sp>
      <p:pic>
        <p:nvPicPr>
          <p:cNvPr id="30" name="bogwing" descr="bogwing (Bogwing)&#10;drawSize 0.699999988079071 · explicit&#10;“&quot;miasma flyer&quot;”"/>
          <p:cNvPicPr>
            <a:picLocks noChangeAspect="1"/>
          </p:cNvPicPr>
          <p:nvPr/>
        </p:nvPicPr>
        <p:blipFill>
          <a:blip r:embed="rId14"/>
          <a:stretch>
            <a:fillRect/>
          </a:stretch>
        </p:blipFill>
        <p:spPr>
          <a:xfrm>
            <a:off x="274320" y="2871216"/>
            <a:ext cx="396849" cy="396849"/>
          </a:xfrm>
          <a:prstGeom prst="rect">
            <a:avLst/>
          </a:prstGeom>
        </p:spPr>
      </p:pic>
      <p:sp>
        <p:nvSpPr>
          <p:cNvPr id="31" name="TextBox 30"/>
          <p:cNvSpPr txBox="1"/>
          <p:nvPr/>
        </p:nvSpPr>
        <p:spPr>
          <a:xfrm>
            <a:off x="274320" y="3277209"/>
            <a:ext cx="640080" cy="146304"/>
          </a:xfrm>
          <a:prstGeom prst="rect">
            <a:avLst/>
          </a:prstGeom>
          <a:noFill/>
        </p:spPr>
        <p:txBody>
          <a:bodyPr wrap="none">
            <a:spAutoFit/>
          </a:bodyPr>
          <a:lstStyle/>
          <a:p>
            <a:pPr algn="ctr"/>
            <a:r>
              <a:rPr sz="600">
                <a:solidFill>
                  <a:srgbClr val="B9A488"/>
                </a:solidFill>
              </a:rPr>
              <a:t>bogwing</a:t>
            </a:r>
          </a:p>
        </p:txBody>
      </p:sp>
      <p:pic>
        <p:nvPicPr>
          <p:cNvPr id="32" name="locust" descr="locust (Locust)&#10;drawSize 0.6000000238418579 · inferred&#10;“(no note)”"/>
          <p:cNvPicPr>
            <a:picLocks noChangeAspect="1"/>
          </p:cNvPicPr>
          <p:nvPr/>
        </p:nvPicPr>
        <p:blipFill>
          <a:blip r:embed="rId15"/>
          <a:stretch>
            <a:fillRect/>
          </a:stretch>
        </p:blipFill>
        <p:spPr>
          <a:xfrm>
            <a:off x="799185" y="2927908"/>
            <a:ext cx="340156" cy="340156"/>
          </a:xfrm>
          <a:prstGeom prst="rect">
            <a:avLst/>
          </a:prstGeom>
        </p:spPr>
      </p:pic>
      <p:sp>
        <p:nvSpPr>
          <p:cNvPr id="33" name="TextBox 32"/>
          <p:cNvSpPr txBox="1"/>
          <p:nvPr/>
        </p:nvSpPr>
        <p:spPr>
          <a:xfrm>
            <a:off x="799185" y="3277209"/>
            <a:ext cx="640080" cy="146304"/>
          </a:xfrm>
          <a:prstGeom prst="rect">
            <a:avLst/>
          </a:prstGeom>
          <a:noFill/>
        </p:spPr>
        <p:txBody>
          <a:bodyPr wrap="none">
            <a:spAutoFit/>
          </a:bodyPr>
          <a:lstStyle/>
          <a:p>
            <a:pPr algn="ctr"/>
            <a:r>
              <a:rPr sz="600">
                <a:solidFill>
                  <a:srgbClr val="B9A488"/>
                </a:solidFill>
              </a:rPr>
              <a:t>locust</a:t>
            </a:r>
          </a:p>
        </p:txBody>
      </p:sp>
      <p:pic>
        <p:nvPicPr>
          <p:cNvPr id="34" name="vulture" descr="vulture (Vulture)&#10;drawSize 0.6000000238418579 · inferred&#10;“(no note)”"/>
          <p:cNvPicPr>
            <a:picLocks noChangeAspect="1"/>
          </p:cNvPicPr>
          <p:nvPr/>
        </p:nvPicPr>
        <p:blipFill>
          <a:blip r:embed="rId16"/>
          <a:stretch>
            <a:fillRect/>
          </a:stretch>
        </p:blipFill>
        <p:spPr>
          <a:xfrm>
            <a:off x="1267358" y="2927908"/>
            <a:ext cx="340156" cy="340156"/>
          </a:xfrm>
          <a:prstGeom prst="rect">
            <a:avLst/>
          </a:prstGeom>
        </p:spPr>
      </p:pic>
      <p:sp>
        <p:nvSpPr>
          <p:cNvPr id="35" name="TextBox 34"/>
          <p:cNvSpPr txBox="1"/>
          <p:nvPr/>
        </p:nvSpPr>
        <p:spPr>
          <a:xfrm>
            <a:off x="1267358" y="3277209"/>
            <a:ext cx="640080" cy="146304"/>
          </a:xfrm>
          <a:prstGeom prst="rect">
            <a:avLst/>
          </a:prstGeom>
          <a:noFill/>
        </p:spPr>
        <p:txBody>
          <a:bodyPr wrap="none">
            <a:spAutoFit/>
          </a:bodyPr>
          <a:lstStyle/>
          <a:p>
            <a:pPr algn="ctr"/>
            <a:r>
              <a:rPr sz="600">
                <a:solidFill>
                  <a:srgbClr val="B9A488"/>
                </a:solidFill>
              </a:rPr>
              <a:t>vulture</a:t>
            </a:r>
          </a:p>
        </p:txBody>
      </p:sp>
      <p:pic>
        <p:nvPicPr>
          <p:cNvPr id="36" name="smog caterpillar" descr="smog caterpillar (BMT_SmogMothLarvae)&#10;drawSize 0.5 · inferred&#10;“(no note)”"/>
          <p:cNvPicPr>
            <a:picLocks noChangeAspect="1"/>
          </p:cNvPicPr>
          <p:nvPr/>
        </p:nvPicPr>
        <p:blipFill>
          <a:blip r:embed="rId17"/>
          <a:stretch>
            <a:fillRect/>
          </a:stretch>
        </p:blipFill>
        <p:spPr>
          <a:xfrm>
            <a:off x="1735531" y="2975457"/>
            <a:ext cx="292608" cy="292608"/>
          </a:xfrm>
          <a:prstGeom prst="rect">
            <a:avLst/>
          </a:prstGeom>
        </p:spPr>
      </p:pic>
      <p:sp>
        <p:nvSpPr>
          <p:cNvPr id="37" name="TextBox 36"/>
          <p:cNvSpPr txBox="1"/>
          <p:nvPr/>
        </p:nvSpPr>
        <p:spPr>
          <a:xfrm>
            <a:off x="1735531" y="3277209"/>
            <a:ext cx="640080" cy="146304"/>
          </a:xfrm>
          <a:prstGeom prst="rect">
            <a:avLst/>
          </a:prstGeom>
          <a:noFill/>
        </p:spPr>
        <p:txBody>
          <a:bodyPr wrap="none">
            <a:spAutoFit/>
          </a:bodyPr>
          <a:lstStyle/>
          <a:p>
            <a:pPr algn="ctr"/>
            <a:r>
              <a:rPr sz="600">
                <a:solidFill>
                  <a:srgbClr val="B9A488"/>
                </a:solidFill>
              </a:rPr>
              <a:t>smog caterpillar</a:t>
            </a:r>
          </a:p>
        </p:txBody>
      </p:sp>
      <p:pic>
        <p:nvPicPr>
          <p:cNvPr id="38" name="convor" descr="convor (Convor)&#10;drawSize 0.4000000059604645 · inferred&#10;“(no note)”"/>
          <p:cNvPicPr>
            <a:picLocks noChangeAspect="1"/>
          </p:cNvPicPr>
          <p:nvPr/>
        </p:nvPicPr>
        <p:blipFill>
          <a:blip r:embed="rId18"/>
          <a:stretch>
            <a:fillRect/>
          </a:stretch>
        </p:blipFill>
        <p:spPr>
          <a:xfrm>
            <a:off x="2156155" y="2975457"/>
            <a:ext cx="292608" cy="292608"/>
          </a:xfrm>
          <a:prstGeom prst="rect">
            <a:avLst/>
          </a:prstGeom>
        </p:spPr>
      </p:pic>
      <p:sp>
        <p:nvSpPr>
          <p:cNvPr id="39" name="TextBox 38"/>
          <p:cNvSpPr txBox="1"/>
          <p:nvPr/>
        </p:nvSpPr>
        <p:spPr>
          <a:xfrm>
            <a:off x="2156155" y="3277209"/>
            <a:ext cx="640080" cy="146304"/>
          </a:xfrm>
          <a:prstGeom prst="rect">
            <a:avLst/>
          </a:prstGeom>
          <a:noFill/>
        </p:spPr>
        <p:txBody>
          <a:bodyPr wrap="none">
            <a:spAutoFit/>
          </a:bodyPr>
          <a:lstStyle/>
          <a:p>
            <a:pPr algn="ctr"/>
            <a:r>
              <a:rPr sz="600">
                <a:solidFill>
                  <a:srgbClr val="B9A488"/>
                </a:solidFill>
              </a:rPr>
              <a:t>convor</a:t>
            </a:r>
          </a:p>
        </p:txBody>
      </p:sp>
      <p:pic>
        <p:nvPicPr>
          <p:cNvPr id="40" name="famine locust" descr="famine locust (BMT_FamineLocust)&#10;drawSize 0.3199999928474426 · inferred&#10;“(no note)”"/>
          <p:cNvPicPr>
            <a:picLocks noChangeAspect="1"/>
          </p:cNvPicPr>
          <p:nvPr/>
        </p:nvPicPr>
        <p:blipFill>
          <a:blip r:embed="rId19"/>
          <a:stretch>
            <a:fillRect/>
          </a:stretch>
        </p:blipFill>
        <p:spPr>
          <a:xfrm>
            <a:off x="2576779" y="2975457"/>
            <a:ext cx="292608" cy="292608"/>
          </a:xfrm>
          <a:prstGeom prst="rect">
            <a:avLst/>
          </a:prstGeom>
        </p:spPr>
      </p:pic>
      <p:sp>
        <p:nvSpPr>
          <p:cNvPr id="41" name="TextBox 40"/>
          <p:cNvSpPr txBox="1"/>
          <p:nvPr/>
        </p:nvSpPr>
        <p:spPr>
          <a:xfrm>
            <a:off x="2576779" y="3277209"/>
            <a:ext cx="640080" cy="146304"/>
          </a:xfrm>
          <a:prstGeom prst="rect">
            <a:avLst/>
          </a:prstGeom>
          <a:noFill/>
        </p:spPr>
        <p:txBody>
          <a:bodyPr wrap="none">
            <a:spAutoFit/>
          </a:bodyPr>
          <a:lstStyle/>
          <a:p>
            <a:pPr algn="ctr"/>
            <a:r>
              <a:rPr sz="600">
                <a:solidFill>
                  <a:srgbClr val="B9A488"/>
                </a:solidFill>
              </a:rPr>
              <a:t>famine locust</a:t>
            </a:r>
          </a:p>
        </p:txBody>
      </p:sp>
      <p:pic>
        <p:nvPicPr>
          <p:cNvPr id="42" name="arcturan sky eel" descr="arcturan sky eel (AA_Skyeel)&#10;drawSize 0.25 · explicit&#10;“&quot;Electrostatic flyer over Propane Lakes&quot;”"/>
          <p:cNvPicPr>
            <a:picLocks noChangeAspect="1"/>
          </p:cNvPicPr>
          <p:nvPr/>
        </p:nvPicPr>
        <p:blipFill>
          <a:blip r:embed="rId20"/>
          <a:stretch>
            <a:fillRect/>
          </a:stretch>
        </p:blipFill>
        <p:spPr>
          <a:xfrm>
            <a:off x="2997403" y="2975457"/>
            <a:ext cx="292608" cy="292608"/>
          </a:xfrm>
          <a:prstGeom prst="rect">
            <a:avLst/>
          </a:prstGeom>
        </p:spPr>
      </p:pic>
      <p:sp>
        <p:nvSpPr>
          <p:cNvPr id="43" name="TextBox 42"/>
          <p:cNvSpPr txBox="1"/>
          <p:nvPr/>
        </p:nvSpPr>
        <p:spPr>
          <a:xfrm>
            <a:off x="2997403" y="3277209"/>
            <a:ext cx="640080" cy="146304"/>
          </a:xfrm>
          <a:prstGeom prst="rect">
            <a:avLst/>
          </a:prstGeom>
          <a:noFill/>
        </p:spPr>
        <p:txBody>
          <a:bodyPr wrap="none">
            <a:spAutoFit/>
          </a:bodyPr>
          <a:lstStyle/>
          <a:p>
            <a:pPr algn="ctr"/>
            <a:r>
              <a:rPr sz="600">
                <a:solidFill>
                  <a:srgbClr val="B9A488"/>
                </a:solidFill>
              </a:rPr>
              <a:t>arcturan sky eel</a:t>
            </a:r>
          </a:p>
        </p:txBody>
      </p:sp>
      <p:pic>
        <p:nvPicPr>
          <p:cNvPr id="44" name="bioluminescent bat" descr="bioluminescent bat (BMT_GlowBat)&#10;drawSize 0.25 · inferred&#10;“(no note)”"/>
          <p:cNvPicPr>
            <a:picLocks noChangeAspect="1"/>
          </p:cNvPicPr>
          <p:nvPr/>
        </p:nvPicPr>
        <p:blipFill>
          <a:blip r:embed="rId21"/>
          <a:stretch>
            <a:fillRect/>
          </a:stretch>
        </p:blipFill>
        <p:spPr>
          <a:xfrm>
            <a:off x="3418027" y="2975457"/>
            <a:ext cx="292608" cy="292608"/>
          </a:xfrm>
          <a:prstGeom prst="rect">
            <a:avLst/>
          </a:prstGeom>
        </p:spPr>
      </p:pic>
      <p:sp>
        <p:nvSpPr>
          <p:cNvPr id="45" name="TextBox 44"/>
          <p:cNvSpPr txBox="1"/>
          <p:nvPr/>
        </p:nvSpPr>
        <p:spPr>
          <a:xfrm>
            <a:off x="3418027" y="3277209"/>
            <a:ext cx="640080" cy="146304"/>
          </a:xfrm>
          <a:prstGeom prst="rect">
            <a:avLst/>
          </a:prstGeom>
          <a:noFill/>
        </p:spPr>
        <p:txBody>
          <a:bodyPr wrap="none">
            <a:spAutoFit/>
          </a:bodyPr>
          <a:lstStyle/>
          <a:p>
            <a:pPr algn="ctr"/>
            <a:r>
              <a:rPr sz="600">
                <a:solidFill>
                  <a:srgbClr val="B9A488"/>
                </a:solidFill>
              </a:rPr>
              <a:t>bioluminescent b</a:t>
            </a:r>
          </a:p>
        </p:txBody>
      </p:sp>
      <p:pic>
        <p:nvPicPr>
          <p:cNvPr id="46" name="wasp" descr="wasp (Drone_Wasp)&#10;drawSize 0.25 · inferred&#10;“(no note)”"/>
          <p:cNvPicPr>
            <a:picLocks noChangeAspect="1"/>
          </p:cNvPicPr>
          <p:nvPr/>
        </p:nvPicPr>
        <p:blipFill>
          <a:blip r:embed="rId22"/>
          <a:stretch>
            <a:fillRect/>
          </a:stretch>
        </p:blipFill>
        <p:spPr>
          <a:xfrm>
            <a:off x="3838651" y="2975457"/>
            <a:ext cx="292608" cy="292608"/>
          </a:xfrm>
          <a:prstGeom prst="rect">
            <a:avLst/>
          </a:prstGeom>
        </p:spPr>
      </p:pic>
      <p:sp>
        <p:nvSpPr>
          <p:cNvPr id="47" name="TextBox 46"/>
          <p:cNvSpPr txBox="1"/>
          <p:nvPr/>
        </p:nvSpPr>
        <p:spPr>
          <a:xfrm>
            <a:off x="3838651" y="3277209"/>
            <a:ext cx="640080" cy="146304"/>
          </a:xfrm>
          <a:prstGeom prst="rect">
            <a:avLst/>
          </a:prstGeom>
          <a:noFill/>
        </p:spPr>
        <p:txBody>
          <a:bodyPr wrap="none">
            <a:spAutoFit/>
          </a:bodyPr>
          <a:lstStyle/>
          <a:p>
            <a:pPr algn="ctr"/>
            <a:r>
              <a:rPr sz="600">
                <a:solidFill>
                  <a:srgbClr val="B9A488"/>
                </a:solidFill>
              </a:rPr>
              <a:t>wasp</a:t>
            </a:r>
          </a:p>
        </p:txBody>
      </p:sp>
      <p:pic>
        <p:nvPicPr>
          <p:cNvPr id="48" name="infected aerofleet" descr="infected aerofleet (AA_InfectedAerofleet)&#10;drawSize 0.20000000298023224 · inferred&#10;“(no note)”"/>
          <p:cNvPicPr>
            <a:picLocks noChangeAspect="1"/>
          </p:cNvPicPr>
          <p:nvPr/>
        </p:nvPicPr>
        <p:blipFill>
          <a:blip r:embed="rId23"/>
          <a:stretch>
            <a:fillRect/>
          </a:stretch>
        </p:blipFill>
        <p:spPr>
          <a:xfrm>
            <a:off x="4259275" y="2975457"/>
            <a:ext cx="292608" cy="292608"/>
          </a:xfrm>
          <a:prstGeom prst="rect">
            <a:avLst/>
          </a:prstGeom>
        </p:spPr>
      </p:pic>
      <p:sp>
        <p:nvSpPr>
          <p:cNvPr id="49" name="TextBox 48"/>
          <p:cNvSpPr txBox="1"/>
          <p:nvPr/>
        </p:nvSpPr>
        <p:spPr>
          <a:xfrm>
            <a:off x="4259275" y="3277209"/>
            <a:ext cx="640080" cy="146304"/>
          </a:xfrm>
          <a:prstGeom prst="rect">
            <a:avLst/>
          </a:prstGeom>
          <a:noFill/>
        </p:spPr>
        <p:txBody>
          <a:bodyPr wrap="none">
            <a:spAutoFit/>
          </a:bodyPr>
          <a:lstStyle/>
          <a:p>
            <a:pPr algn="ctr"/>
            <a:r>
              <a:rPr sz="600">
                <a:solidFill>
                  <a:srgbClr val="B9A488"/>
                </a:solidFill>
              </a:rPr>
              <a:t>infected aerofle</a:t>
            </a:r>
          </a:p>
        </p:txBody>
      </p:sp>
      <p:pic>
        <p:nvPicPr>
          <p:cNvPr id="50" name="aerofleet" descr="aerofleet (AA_Aerofleet)&#10;drawSize 0.20000000298023224 · inferred&#10;“(no note)”"/>
          <p:cNvPicPr>
            <a:picLocks noChangeAspect="1"/>
          </p:cNvPicPr>
          <p:nvPr/>
        </p:nvPicPr>
        <p:blipFill>
          <a:blip r:embed="rId24"/>
          <a:stretch>
            <a:fillRect/>
          </a:stretch>
        </p:blipFill>
        <p:spPr>
          <a:xfrm>
            <a:off x="4679899" y="2975457"/>
            <a:ext cx="292608" cy="292608"/>
          </a:xfrm>
          <a:prstGeom prst="rect">
            <a:avLst/>
          </a:prstGeom>
        </p:spPr>
      </p:pic>
      <p:sp>
        <p:nvSpPr>
          <p:cNvPr id="51" name="TextBox 50"/>
          <p:cNvSpPr txBox="1"/>
          <p:nvPr/>
        </p:nvSpPr>
        <p:spPr>
          <a:xfrm>
            <a:off x="4679899" y="3277209"/>
            <a:ext cx="640080" cy="146304"/>
          </a:xfrm>
          <a:prstGeom prst="rect">
            <a:avLst/>
          </a:prstGeom>
          <a:noFill/>
        </p:spPr>
        <p:txBody>
          <a:bodyPr wrap="none">
            <a:spAutoFit/>
          </a:bodyPr>
          <a:lstStyle/>
          <a:p>
            <a:pPr algn="ctr"/>
            <a:r>
              <a:rPr sz="600">
                <a:solidFill>
                  <a:srgbClr val="B9A488"/>
                </a:solidFill>
              </a:rPr>
              <a:t>aerofleet</a:t>
            </a:r>
          </a:p>
        </p:txBody>
      </p:sp>
      <p:pic>
        <p:nvPicPr>
          <p:cNvPr id="52" name="butterfly" descr="butterfly (PoisonButterfly)&#10;drawSize 0.20000000298023224 · inferred&#10;“&quot;Maybe a pet for beauty?&quot;”"/>
          <p:cNvPicPr>
            <a:picLocks noChangeAspect="1"/>
          </p:cNvPicPr>
          <p:nvPr/>
        </p:nvPicPr>
        <p:blipFill>
          <a:blip r:embed="rId25"/>
          <a:stretch>
            <a:fillRect/>
          </a:stretch>
        </p:blipFill>
        <p:spPr>
          <a:xfrm>
            <a:off x="5100523" y="2975457"/>
            <a:ext cx="292608" cy="292608"/>
          </a:xfrm>
          <a:prstGeom prst="rect">
            <a:avLst/>
          </a:prstGeom>
        </p:spPr>
      </p:pic>
      <p:sp>
        <p:nvSpPr>
          <p:cNvPr id="53" name="TextBox 52"/>
          <p:cNvSpPr txBox="1"/>
          <p:nvPr/>
        </p:nvSpPr>
        <p:spPr>
          <a:xfrm>
            <a:off x="5100523" y="3277209"/>
            <a:ext cx="640080" cy="146304"/>
          </a:xfrm>
          <a:prstGeom prst="rect">
            <a:avLst/>
          </a:prstGeom>
          <a:noFill/>
        </p:spPr>
        <p:txBody>
          <a:bodyPr wrap="none">
            <a:spAutoFit/>
          </a:bodyPr>
          <a:lstStyle/>
          <a:p>
            <a:pPr algn="ctr"/>
            <a:r>
              <a:rPr sz="600">
                <a:solidFill>
                  <a:srgbClr val="B9A488"/>
                </a:solidFill>
              </a:rPr>
              <a:t>butterfly</a:t>
            </a:r>
          </a:p>
        </p:txBody>
      </p:sp>
      <p:pic>
        <p:nvPicPr>
          <p:cNvPr id="54" name="locusts" descr="locusts (AA_Locusts)&#10;drawSize 0.009999999776482582 · inferred&#10;“&quot;...huge numbers...event&quot;”"/>
          <p:cNvPicPr>
            <a:picLocks noChangeAspect="1"/>
          </p:cNvPicPr>
          <p:nvPr/>
        </p:nvPicPr>
        <p:blipFill>
          <a:blip r:embed="rId26"/>
          <a:stretch>
            <a:fillRect/>
          </a:stretch>
        </p:blipFill>
        <p:spPr>
          <a:xfrm>
            <a:off x="5521147" y="2975457"/>
            <a:ext cx="292608" cy="292608"/>
          </a:xfrm>
          <a:prstGeom prst="rect">
            <a:avLst/>
          </a:prstGeom>
        </p:spPr>
      </p:pic>
      <p:sp>
        <p:nvSpPr>
          <p:cNvPr id="55" name="TextBox 54"/>
          <p:cNvSpPr txBox="1"/>
          <p:nvPr/>
        </p:nvSpPr>
        <p:spPr>
          <a:xfrm>
            <a:off x="5521147" y="3277209"/>
            <a:ext cx="640080" cy="146304"/>
          </a:xfrm>
          <a:prstGeom prst="rect">
            <a:avLst/>
          </a:prstGeom>
          <a:noFill/>
        </p:spPr>
        <p:txBody>
          <a:bodyPr wrap="none">
            <a:spAutoFit/>
          </a:bodyPr>
          <a:lstStyle/>
          <a:p>
            <a:pPr algn="ctr"/>
            <a:r>
              <a:rPr sz="600">
                <a:solidFill>
                  <a:srgbClr val="B9A488"/>
                </a:solidFill>
              </a:rPr>
              <a:t>locusts</a:t>
            </a:r>
          </a:p>
        </p:txBody>
      </p:sp>
      <p:pic>
        <p:nvPicPr>
          <p:cNvPr id="56" name="small butterflies" descr="small butterflies (AA_SmallButterfly)&#10;drawSize 0.009999999776482582 · inferred&#10;“&quot;flits around the arid shrubland&quot;”"/>
          <p:cNvPicPr>
            <a:picLocks noChangeAspect="1"/>
          </p:cNvPicPr>
          <p:nvPr/>
        </p:nvPicPr>
        <p:blipFill>
          <a:blip r:embed="rId27"/>
          <a:stretch>
            <a:fillRect/>
          </a:stretch>
        </p:blipFill>
        <p:spPr>
          <a:xfrm>
            <a:off x="5941771" y="2975457"/>
            <a:ext cx="292608" cy="292608"/>
          </a:xfrm>
          <a:prstGeom prst="rect">
            <a:avLst/>
          </a:prstGeom>
        </p:spPr>
      </p:pic>
      <p:sp>
        <p:nvSpPr>
          <p:cNvPr id="57" name="TextBox 56"/>
          <p:cNvSpPr txBox="1"/>
          <p:nvPr/>
        </p:nvSpPr>
        <p:spPr>
          <a:xfrm>
            <a:off x="5941771" y="3277209"/>
            <a:ext cx="640080" cy="146304"/>
          </a:xfrm>
          <a:prstGeom prst="rect">
            <a:avLst/>
          </a:prstGeom>
          <a:noFill/>
        </p:spPr>
        <p:txBody>
          <a:bodyPr wrap="none">
            <a:spAutoFit/>
          </a:bodyPr>
          <a:lstStyle/>
          <a:p>
            <a:pPr algn="ctr"/>
            <a:r>
              <a:rPr sz="600">
                <a:solidFill>
                  <a:srgbClr val="B9A488"/>
                </a:solidFill>
              </a:rPr>
              <a:t>small butterflie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5. event-only</a:t>
            </a:r>
            <a:r>
              <a:rPr sz="1100">
                <a:solidFill>
                  <a:srgbClr val="B9A488"/>
                </a:solidFill>
              </a:rPr>
              <a:t>   4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5. event-only (4 explicit, 0 inferred)</a:t>
            </a:r>
          </a:p>
        </p:txBody>
      </p:sp>
      <p:pic>
        <p:nvPicPr>
          <p:cNvPr id="4" name="giant ant" descr="giant ant (GiantAnt_Race)&#10;drawSize 2.0 · explicit&#10;“&quot;Only the raiding events in the greentide jungles...&quot;”"/>
          <p:cNvPicPr>
            <a:picLocks noChangeAspect="1"/>
          </p:cNvPicPr>
          <p:nvPr/>
        </p:nvPicPr>
        <p:blipFill>
          <a:blip r:embed="rId2"/>
          <a:stretch>
            <a:fillRect/>
          </a:stretch>
        </p:blipFill>
        <p:spPr>
          <a:xfrm>
            <a:off x="274320" y="932687"/>
            <a:ext cx="1133856" cy="1133856"/>
          </a:xfrm>
          <a:prstGeom prst="rect">
            <a:avLst/>
          </a:prstGeom>
        </p:spPr>
      </p:pic>
      <p:sp>
        <p:nvSpPr>
          <p:cNvPr id="5" name="TextBox 4"/>
          <p:cNvSpPr txBox="1"/>
          <p:nvPr/>
        </p:nvSpPr>
        <p:spPr>
          <a:xfrm>
            <a:off x="274320" y="2075687"/>
            <a:ext cx="1133856" cy="146304"/>
          </a:xfrm>
          <a:prstGeom prst="rect">
            <a:avLst/>
          </a:prstGeom>
          <a:noFill/>
        </p:spPr>
        <p:txBody>
          <a:bodyPr wrap="none">
            <a:spAutoFit/>
          </a:bodyPr>
          <a:lstStyle/>
          <a:p>
            <a:pPr algn="ctr"/>
            <a:r>
              <a:rPr sz="600">
                <a:solidFill>
                  <a:srgbClr val="B9A488"/>
                </a:solidFill>
              </a:rPr>
              <a:t>giant ant</a:t>
            </a:r>
          </a:p>
        </p:txBody>
      </p:sp>
      <p:pic>
        <p:nvPicPr>
          <p:cNvPr id="6" name="maalraas" descr="maalraas (Maalraas)&#10;drawSize 2.0 · explicit&#10;“&quot;...ability to cloak and hunt, dangerous event&quot;”"/>
          <p:cNvPicPr>
            <a:picLocks noChangeAspect="1"/>
          </p:cNvPicPr>
          <p:nvPr/>
        </p:nvPicPr>
        <p:blipFill>
          <a:blip r:embed="rId3"/>
          <a:stretch>
            <a:fillRect/>
          </a:stretch>
        </p:blipFill>
        <p:spPr>
          <a:xfrm>
            <a:off x="1536192" y="932687"/>
            <a:ext cx="1133856" cy="1133856"/>
          </a:xfrm>
          <a:prstGeom prst="rect">
            <a:avLst/>
          </a:prstGeom>
        </p:spPr>
      </p:pic>
      <p:sp>
        <p:nvSpPr>
          <p:cNvPr id="7" name="TextBox 6"/>
          <p:cNvSpPr txBox="1"/>
          <p:nvPr/>
        </p:nvSpPr>
        <p:spPr>
          <a:xfrm>
            <a:off x="1536192" y="2075687"/>
            <a:ext cx="1133856" cy="146304"/>
          </a:xfrm>
          <a:prstGeom prst="rect">
            <a:avLst/>
          </a:prstGeom>
          <a:noFill/>
        </p:spPr>
        <p:txBody>
          <a:bodyPr wrap="none">
            <a:spAutoFit/>
          </a:bodyPr>
          <a:lstStyle/>
          <a:p>
            <a:pPr algn="ctr"/>
            <a:r>
              <a:rPr sz="600">
                <a:solidFill>
                  <a:srgbClr val="B9A488"/>
                </a:solidFill>
              </a:rPr>
              <a:t>maalraas</a:t>
            </a:r>
          </a:p>
        </p:txBody>
      </p:sp>
      <p:pic>
        <p:nvPicPr>
          <p:cNvPr id="8" name="stintaril" descr="stintaril (Stintaril)&#10;drawSize 0.5 · explicit&#10;“&quot;...attempting to infest the player's ship in events&quot;”"/>
          <p:cNvPicPr>
            <a:picLocks noChangeAspect="1"/>
          </p:cNvPicPr>
          <p:nvPr/>
        </p:nvPicPr>
        <p:blipFill>
          <a:blip r:embed="rId4"/>
          <a:stretch>
            <a:fillRect/>
          </a:stretch>
        </p:blipFill>
        <p:spPr>
          <a:xfrm>
            <a:off x="2798063" y="1773935"/>
            <a:ext cx="292608" cy="292608"/>
          </a:xfrm>
          <a:prstGeom prst="rect">
            <a:avLst/>
          </a:prstGeom>
        </p:spPr>
      </p:pic>
      <p:sp>
        <p:nvSpPr>
          <p:cNvPr id="9" name="TextBox 8"/>
          <p:cNvSpPr txBox="1"/>
          <p:nvPr/>
        </p:nvSpPr>
        <p:spPr>
          <a:xfrm>
            <a:off x="2798063" y="2075687"/>
            <a:ext cx="640080" cy="146304"/>
          </a:xfrm>
          <a:prstGeom prst="rect">
            <a:avLst/>
          </a:prstGeom>
          <a:noFill/>
        </p:spPr>
        <p:txBody>
          <a:bodyPr wrap="none">
            <a:spAutoFit/>
          </a:bodyPr>
          <a:lstStyle/>
          <a:p>
            <a:pPr algn="ctr"/>
            <a:r>
              <a:rPr sz="600">
                <a:solidFill>
                  <a:srgbClr val="B9A488"/>
                </a:solidFill>
              </a:rPr>
              <a:t>stintaril</a:t>
            </a:r>
          </a:p>
        </p:txBody>
      </p:sp>
      <p:pic>
        <p:nvPicPr>
          <p:cNvPr id="10" name="locusts" descr="locusts (AA_Locusts)&#10;drawSize 0.009999999776482582 · explicit&#10;“&quot;...eats plants ravenously and won't stop, event&quot;”"/>
          <p:cNvPicPr>
            <a:picLocks noChangeAspect="1"/>
          </p:cNvPicPr>
          <p:nvPr/>
        </p:nvPicPr>
        <p:blipFill>
          <a:blip r:embed="rId5"/>
          <a:stretch>
            <a:fillRect/>
          </a:stretch>
        </p:blipFill>
        <p:spPr>
          <a:xfrm>
            <a:off x="3218687" y="1773935"/>
            <a:ext cx="292608" cy="292608"/>
          </a:xfrm>
          <a:prstGeom prst="rect">
            <a:avLst/>
          </a:prstGeom>
        </p:spPr>
      </p:pic>
      <p:sp>
        <p:nvSpPr>
          <p:cNvPr id="11" name="TextBox 10"/>
          <p:cNvSpPr txBox="1"/>
          <p:nvPr/>
        </p:nvSpPr>
        <p:spPr>
          <a:xfrm>
            <a:off x="3218687" y="2075687"/>
            <a:ext cx="640080" cy="146304"/>
          </a:xfrm>
          <a:prstGeom prst="rect">
            <a:avLst/>
          </a:prstGeom>
          <a:noFill/>
        </p:spPr>
        <p:txBody>
          <a:bodyPr wrap="none">
            <a:spAutoFit/>
          </a:bodyPr>
          <a:lstStyle/>
          <a:p>
            <a:pPr algn="ctr"/>
            <a:r>
              <a:rPr sz="600">
                <a:solidFill>
                  <a:srgbClr val="B9A488"/>
                </a:solidFill>
              </a:rPr>
              <a:t>locusts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6. mounts-and-work-beasts</a:t>
            </a:r>
            <a:r>
              <a:rPr sz="1100">
                <a:solidFill>
                  <a:srgbClr val="B9A488"/>
                </a:solidFill>
              </a:rPr>
              <a:t>   3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6. mounts-and-work-beasts (3 explicit, 0 inferred)</a:t>
            </a:r>
          </a:p>
        </p:txBody>
      </p:sp>
      <p:pic>
        <p:nvPicPr>
          <p:cNvPr id="4" name="behemoth" descr="behemoth (Behemoth)&#10;drawSize 6.0 · explicit&#10;“&quot;huuuge trader pack animal&quot;”"/>
          <p:cNvPicPr>
            <a:picLocks noChangeAspect="1"/>
          </p:cNvPicPr>
          <p:nvPr/>
        </p:nvPicPr>
        <p:blipFill>
          <a:blip r:embed="rId2"/>
          <a:stretch>
            <a:fillRect/>
          </a:stretch>
        </p:blipFill>
        <p:spPr>
          <a:xfrm>
            <a:off x="274320" y="932688"/>
            <a:ext cx="2194560" cy="2194560"/>
          </a:xfrm>
          <a:prstGeom prst="rect">
            <a:avLst/>
          </a:prstGeom>
        </p:spPr>
      </p:pic>
      <p:sp>
        <p:nvSpPr>
          <p:cNvPr id="5" name="TextBox 4"/>
          <p:cNvSpPr txBox="1"/>
          <p:nvPr/>
        </p:nvSpPr>
        <p:spPr>
          <a:xfrm>
            <a:off x="274320" y="3136391"/>
            <a:ext cx="2194560" cy="146304"/>
          </a:xfrm>
          <a:prstGeom prst="rect">
            <a:avLst/>
          </a:prstGeom>
          <a:noFill/>
        </p:spPr>
        <p:txBody>
          <a:bodyPr wrap="none">
            <a:spAutoFit/>
          </a:bodyPr>
          <a:lstStyle/>
          <a:p>
            <a:pPr algn="ctr"/>
            <a:r>
              <a:rPr sz="600">
                <a:solidFill>
                  <a:srgbClr val="B9A488"/>
                </a:solidFill>
              </a:rPr>
              <a:t>behemoth</a:t>
            </a:r>
          </a:p>
        </p:txBody>
      </p:sp>
      <p:pic>
        <p:nvPicPr>
          <p:cNvPr id="6" name="aiwha" descr="aiwha (Aiwha)&#10;drawSize 3.0 · explicit&#10;“&quot;...mountable, air, sea, land...&quot;”"/>
          <p:cNvPicPr>
            <a:picLocks noChangeAspect="1"/>
          </p:cNvPicPr>
          <p:nvPr/>
        </p:nvPicPr>
        <p:blipFill>
          <a:blip r:embed="rId3"/>
          <a:stretch>
            <a:fillRect/>
          </a:stretch>
        </p:blipFill>
        <p:spPr>
          <a:xfrm>
            <a:off x="2596896" y="1426464"/>
            <a:ext cx="1700784" cy="1700784"/>
          </a:xfrm>
          <a:prstGeom prst="rect">
            <a:avLst/>
          </a:prstGeom>
        </p:spPr>
      </p:pic>
      <p:sp>
        <p:nvSpPr>
          <p:cNvPr id="7" name="TextBox 6"/>
          <p:cNvSpPr txBox="1"/>
          <p:nvPr/>
        </p:nvSpPr>
        <p:spPr>
          <a:xfrm>
            <a:off x="2596896" y="3136391"/>
            <a:ext cx="1700784" cy="146304"/>
          </a:xfrm>
          <a:prstGeom prst="rect">
            <a:avLst/>
          </a:prstGeom>
          <a:noFill/>
        </p:spPr>
        <p:txBody>
          <a:bodyPr wrap="none">
            <a:spAutoFit/>
          </a:bodyPr>
          <a:lstStyle/>
          <a:p>
            <a:pPr algn="ctr"/>
            <a:r>
              <a:rPr sz="600">
                <a:solidFill>
                  <a:srgbClr val="B9A488"/>
                </a:solidFill>
              </a:rPr>
              <a:t>aiwha</a:t>
            </a:r>
          </a:p>
        </p:txBody>
      </p:sp>
      <p:pic>
        <p:nvPicPr>
          <p:cNvPr id="8" name="insectomorph" descr="insectomorph (Insectomorph)&#10;drawSize 2.0 · explicit&#10;“&quot;ridable mount associated with the Drug...&quot;”"/>
          <p:cNvPicPr>
            <a:picLocks noChangeAspect="1"/>
          </p:cNvPicPr>
          <p:nvPr/>
        </p:nvPicPr>
        <p:blipFill>
          <a:blip r:embed="rId4"/>
          <a:stretch>
            <a:fillRect/>
          </a:stretch>
        </p:blipFill>
        <p:spPr>
          <a:xfrm>
            <a:off x="4425696" y="1993391"/>
            <a:ext cx="1133856" cy="1133856"/>
          </a:xfrm>
          <a:prstGeom prst="rect">
            <a:avLst/>
          </a:prstGeom>
        </p:spPr>
      </p:pic>
      <p:sp>
        <p:nvSpPr>
          <p:cNvPr id="9" name="TextBox 8"/>
          <p:cNvSpPr txBox="1"/>
          <p:nvPr/>
        </p:nvSpPr>
        <p:spPr>
          <a:xfrm>
            <a:off x="4425696" y="3136391"/>
            <a:ext cx="1133856" cy="146304"/>
          </a:xfrm>
          <a:prstGeom prst="rect">
            <a:avLst/>
          </a:prstGeom>
          <a:noFill/>
        </p:spPr>
        <p:txBody>
          <a:bodyPr wrap="none">
            <a:spAutoFit/>
          </a:bodyPr>
          <a:lstStyle/>
          <a:p>
            <a:pPr algn="ctr"/>
            <a:r>
              <a:rPr sz="600">
                <a:solidFill>
                  <a:srgbClr val="B9A488"/>
                </a:solidFill>
              </a:rPr>
              <a:t>insectomorph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8. reserve-pool</a:t>
            </a:r>
            <a:r>
              <a:rPr sz="1100">
                <a:solidFill>
                  <a:srgbClr val="B9A488"/>
                </a:solidFill>
              </a:rPr>
              <a:t>   1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8. reserve-pool (1 explicit, 0 inferred)</a:t>
            </a:r>
          </a:p>
        </p:txBody>
      </p:sp>
      <p:pic>
        <p:nvPicPr>
          <p:cNvPr id="4" name="butterfly" descr="butterfly (PoisonButterfly)&#10;drawSize 0.20000000298023224 · explicit&#10;“&quot;Maybe a pet for beauty?&quot;”"/>
          <p:cNvPicPr>
            <a:picLocks noChangeAspect="1"/>
          </p:cNvPicPr>
          <p:nvPr/>
        </p:nvPicPr>
        <p:blipFill>
          <a:blip r:embed="rId2"/>
          <a:stretch>
            <a:fillRect/>
          </a:stretch>
        </p:blipFill>
        <p:spPr>
          <a:xfrm>
            <a:off x="274320" y="932688"/>
            <a:ext cx="292608" cy="292608"/>
          </a:xfrm>
          <a:prstGeom prst="rect">
            <a:avLst/>
          </a:prstGeom>
        </p:spPr>
      </p:pic>
      <p:sp>
        <p:nvSpPr>
          <p:cNvPr id="5" name="TextBox 4"/>
          <p:cNvSpPr txBox="1"/>
          <p:nvPr/>
        </p:nvSpPr>
        <p:spPr>
          <a:xfrm>
            <a:off x="274320" y="1234440"/>
            <a:ext cx="640080" cy="146304"/>
          </a:xfrm>
          <a:prstGeom prst="rect">
            <a:avLst/>
          </a:prstGeom>
          <a:noFill/>
        </p:spPr>
        <p:txBody>
          <a:bodyPr wrap="none">
            <a:spAutoFit/>
          </a:bodyPr>
          <a:lstStyle/>
          <a:p>
            <a:pPr algn="ctr"/>
            <a:r>
              <a:rPr sz="600">
                <a:solidFill>
                  <a:srgbClr val="B9A488"/>
                </a:solidFill>
              </a:rPr>
              <a:t>butterfly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9. boom family — CUT</a:t>
            </a:r>
            <a:r>
              <a:rPr sz="1100">
                <a:solidFill>
                  <a:srgbClr val="B9A488"/>
                </a:solidFill>
              </a:rPr>
              <a:t>   11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9. boom family — CUT (15 of 15, ruling not row-derived)</a:t>
            </a:r>
          </a:p>
        </p:txBody>
      </p:sp>
      <p:pic>
        <p:nvPicPr>
          <p:cNvPr id="4" name="boomabear" descr="boomabear (GR_Boomabear)&#10;drawSize 2.5 · (none)&#10;“out”"/>
          <p:cNvPicPr>
            <a:picLocks noChangeAspect="1"/>
          </p:cNvPicPr>
          <p:nvPr/>
        </p:nvPicPr>
        <p:blipFill>
          <a:blip r:embed="rId2"/>
          <a:stretch>
            <a:fillRect/>
          </a:stretch>
        </p:blipFill>
        <p:spPr>
          <a:xfrm>
            <a:off x="274320" y="932688"/>
            <a:ext cx="1417320" cy="1417320"/>
          </a:xfrm>
          <a:prstGeom prst="rect">
            <a:avLst/>
          </a:prstGeom>
        </p:spPr>
      </p:pic>
      <p:sp>
        <p:nvSpPr>
          <p:cNvPr id="5" name="TextBox 4"/>
          <p:cNvSpPr txBox="1"/>
          <p:nvPr/>
        </p:nvSpPr>
        <p:spPr>
          <a:xfrm>
            <a:off x="274320" y="2359152"/>
            <a:ext cx="1417320" cy="146304"/>
          </a:xfrm>
          <a:prstGeom prst="rect">
            <a:avLst/>
          </a:prstGeom>
          <a:noFill/>
        </p:spPr>
        <p:txBody>
          <a:bodyPr wrap="none">
            <a:spAutoFit/>
          </a:bodyPr>
          <a:lstStyle/>
          <a:p>
            <a:pPr algn="ctr"/>
            <a:r>
              <a:rPr sz="600">
                <a:solidFill>
                  <a:srgbClr val="B9A488"/>
                </a:solidFill>
              </a:rPr>
              <a:t>boomabear</a:t>
            </a:r>
          </a:p>
        </p:txBody>
      </p:sp>
      <p:pic>
        <p:nvPicPr>
          <p:cNvPr id="6" name="boomffalo" descr="boomffalo (GR_Boomffalo)&#10;drawSize 2.25 · (none)&#10;“out”"/>
          <p:cNvPicPr>
            <a:picLocks noChangeAspect="1"/>
          </p:cNvPicPr>
          <p:nvPr/>
        </p:nvPicPr>
        <p:blipFill>
          <a:blip r:embed="rId3"/>
          <a:stretch>
            <a:fillRect/>
          </a:stretch>
        </p:blipFill>
        <p:spPr>
          <a:xfrm>
            <a:off x="1819656" y="1074420"/>
            <a:ext cx="1275588" cy="1275588"/>
          </a:xfrm>
          <a:prstGeom prst="rect">
            <a:avLst/>
          </a:prstGeom>
        </p:spPr>
      </p:pic>
      <p:sp>
        <p:nvSpPr>
          <p:cNvPr id="7" name="TextBox 6"/>
          <p:cNvSpPr txBox="1"/>
          <p:nvPr/>
        </p:nvSpPr>
        <p:spPr>
          <a:xfrm>
            <a:off x="1819656" y="2359152"/>
            <a:ext cx="1275588" cy="146304"/>
          </a:xfrm>
          <a:prstGeom prst="rect">
            <a:avLst/>
          </a:prstGeom>
          <a:noFill/>
        </p:spPr>
        <p:txBody>
          <a:bodyPr wrap="none">
            <a:spAutoFit/>
          </a:bodyPr>
          <a:lstStyle/>
          <a:p>
            <a:pPr algn="ctr"/>
            <a:r>
              <a:rPr sz="600">
                <a:solidFill>
                  <a:srgbClr val="B9A488"/>
                </a:solidFill>
              </a:rPr>
              <a:t>boomffalo</a:t>
            </a:r>
          </a:p>
        </p:txBody>
      </p:sp>
      <p:pic>
        <p:nvPicPr>
          <p:cNvPr id="8" name="boomalope paragon" descr="boomalope paragon (GR_ParagonBoomalope)&#10;drawSize 2.200000047683716 · &quot;with the boom&quot;&#10;“in”"/>
          <p:cNvPicPr>
            <a:picLocks noChangeAspect="1"/>
          </p:cNvPicPr>
          <p:nvPr/>
        </p:nvPicPr>
        <p:blipFill>
          <a:blip r:embed="rId4"/>
          <a:stretch>
            <a:fillRect/>
          </a:stretch>
        </p:blipFill>
        <p:spPr>
          <a:xfrm>
            <a:off x="3223260" y="1102766"/>
            <a:ext cx="1247241" cy="1247241"/>
          </a:xfrm>
          <a:prstGeom prst="rect">
            <a:avLst/>
          </a:prstGeom>
        </p:spPr>
      </p:pic>
      <p:sp>
        <p:nvSpPr>
          <p:cNvPr id="9" name="TextBox 8"/>
          <p:cNvSpPr txBox="1"/>
          <p:nvPr/>
        </p:nvSpPr>
        <p:spPr>
          <a:xfrm>
            <a:off x="3223260" y="2359152"/>
            <a:ext cx="1247241" cy="146304"/>
          </a:xfrm>
          <a:prstGeom prst="rect">
            <a:avLst/>
          </a:prstGeom>
          <a:noFill/>
        </p:spPr>
        <p:txBody>
          <a:bodyPr wrap="none">
            <a:spAutoFit/>
          </a:bodyPr>
          <a:lstStyle/>
          <a:p>
            <a:pPr algn="ctr"/>
            <a:r>
              <a:rPr sz="600">
                <a:solidFill>
                  <a:srgbClr val="B9A488"/>
                </a:solidFill>
              </a:rPr>
              <a:t>boomalope parago</a:t>
            </a:r>
          </a:p>
        </p:txBody>
      </p:sp>
      <p:pic>
        <p:nvPicPr>
          <p:cNvPr id="10" name="boomalope" descr="boomalope (Boomalope)&#10;drawSize 2.0 · &quot;Convert to a twisted thing the Assailants make in their dungeons&quot;&#10;“move”"/>
          <p:cNvPicPr>
            <a:picLocks noChangeAspect="1"/>
          </p:cNvPicPr>
          <p:nvPr/>
        </p:nvPicPr>
        <p:blipFill>
          <a:blip r:embed="rId5"/>
          <a:stretch>
            <a:fillRect/>
          </a:stretch>
        </p:blipFill>
        <p:spPr>
          <a:xfrm>
            <a:off x="4598517" y="1216152"/>
            <a:ext cx="1133856" cy="1133856"/>
          </a:xfrm>
          <a:prstGeom prst="rect">
            <a:avLst/>
          </a:prstGeom>
        </p:spPr>
      </p:pic>
      <p:sp>
        <p:nvSpPr>
          <p:cNvPr id="11" name="TextBox 10"/>
          <p:cNvSpPr txBox="1"/>
          <p:nvPr/>
        </p:nvSpPr>
        <p:spPr>
          <a:xfrm>
            <a:off x="4598517" y="2359152"/>
            <a:ext cx="1133856" cy="146304"/>
          </a:xfrm>
          <a:prstGeom prst="rect">
            <a:avLst/>
          </a:prstGeom>
          <a:noFill/>
        </p:spPr>
        <p:txBody>
          <a:bodyPr wrap="none">
            <a:spAutoFit/>
          </a:bodyPr>
          <a:lstStyle/>
          <a:p>
            <a:pPr algn="ctr"/>
            <a:r>
              <a:rPr sz="600">
                <a:solidFill>
                  <a:srgbClr val="B9A488"/>
                </a:solidFill>
              </a:rPr>
              <a:t>boomalope</a:t>
            </a:r>
          </a:p>
        </p:txBody>
      </p:sp>
      <p:pic>
        <p:nvPicPr>
          <p:cNvPr id="12" name="boomalisk" descr="boomalisk (GR_Boomalisk)&#10;drawSize 2.0 · (none)&#10;“out”"/>
          <p:cNvPicPr>
            <a:picLocks noChangeAspect="1"/>
          </p:cNvPicPr>
          <p:nvPr/>
        </p:nvPicPr>
        <p:blipFill>
          <a:blip r:embed="rId6"/>
          <a:stretch>
            <a:fillRect/>
          </a:stretch>
        </p:blipFill>
        <p:spPr>
          <a:xfrm>
            <a:off x="5860389" y="1216152"/>
            <a:ext cx="1133856" cy="1133856"/>
          </a:xfrm>
          <a:prstGeom prst="rect">
            <a:avLst/>
          </a:prstGeom>
        </p:spPr>
      </p:pic>
      <p:sp>
        <p:nvSpPr>
          <p:cNvPr id="13" name="TextBox 12"/>
          <p:cNvSpPr txBox="1"/>
          <p:nvPr/>
        </p:nvSpPr>
        <p:spPr>
          <a:xfrm>
            <a:off x="5860389" y="2359152"/>
            <a:ext cx="1133856" cy="146304"/>
          </a:xfrm>
          <a:prstGeom prst="rect">
            <a:avLst/>
          </a:prstGeom>
          <a:noFill/>
        </p:spPr>
        <p:txBody>
          <a:bodyPr wrap="none">
            <a:spAutoFit/>
          </a:bodyPr>
          <a:lstStyle/>
          <a:p>
            <a:pPr algn="ctr"/>
            <a:r>
              <a:rPr sz="600">
                <a:solidFill>
                  <a:srgbClr val="B9A488"/>
                </a:solidFill>
              </a:rPr>
              <a:t>boomalisk</a:t>
            </a:r>
          </a:p>
        </p:txBody>
      </p:sp>
      <p:pic>
        <p:nvPicPr>
          <p:cNvPr id="14" name="bearalope" descr="bearalope (GR_Bearalope)&#10;drawSize 1.5 · &quot;follow the boom beasts&quot;&#10;“in”"/>
          <p:cNvPicPr>
            <a:picLocks noChangeAspect="1"/>
          </p:cNvPicPr>
          <p:nvPr/>
        </p:nvPicPr>
        <p:blipFill>
          <a:blip r:embed="rId7"/>
          <a:stretch>
            <a:fillRect/>
          </a:stretch>
        </p:blipFill>
        <p:spPr>
          <a:xfrm>
            <a:off x="7122261" y="1499616"/>
            <a:ext cx="850392" cy="850392"/>
          </a:xfrm>
          <a:prstGeom prst="rect">
            <a:avLst/>
          </a:prstGeom>
        </p:spPr>
      </p:pic>
      <p:sp>
        <p:nvSpPr>
          <p:cNvPr id="15" name="TextBox 14"/>
          <p:cNvSpPr txBox="1"/>
          <p:nvPr/>
        </p:nvSpPr>
        <p:spPr>
          <a:xfrm>
            <a:off x="7122261" y="2359152"/>
            <a:ext cx="850392" cy="146304"/>
          </a:xfrm>
          <a:prstGeom prst="rect">
            <a:avLst/>
          </a:prstGeom>
          <a:noFill/>
        </p:spPr>
        <p:txBody>
          <a:bodyPr wrap="none">
            <a:spAutoFit/>
          </a:bodyPr>
          <a:lstStyle/>
          <a:p>
            <a:pPr algn="ctr"/>
            <a:r>
              <a:rPr sz="600">
                <a:solidFill>
                  <a:srgbClr val="B9A488"/>
                </a:solidFill>
              </a:rPr>
              <a:t>bearalope</a:t>
            </a:r>
          </a:p>
        </p:txBody>
      </p:sp>
      <p:pic>
        <p:nvPicPr>
          <p:cNvPr id="16" name="boombeetle" descr="boombeetle (GR_Boombeetle)&#10;drawSize 1.5 · &quot;go with the boom&quot;&#10;“in”"/>
          <p:cNvPicPr>
            <a:picLocks noChangeAspect="1"/>
          </p:cNvPicPr>
          <p:nvPr/>
        </p:nvPicPr>
        <p:blipFill>
          <a:blip r:embed="rId8"/>
          <a:stretch>
            <a:fillRect/>
          </a:stretch>
        </p:blipFill>
        <p:spPr>
          <a:xfrm>
            <a:off x="8100669" y="1499616"/>
            <a:ext cx="850392" cy="850392"/>
          </a:xfrm>
          <a:prstGeom prst="rect">
            <a:avLst/>
          </a:prstGeom>
        </p:spPr>
      </p:pic>
      <p:sp>
        <p:nvSpPr>
          <p:cNvPr id="17" name="TextBox 16"/>
          <p:cNvSpPr txBox="1"/>
          <p:nvPr/>
        </p:nvSpPr>
        <p:spPr>
          <a:xfrm>
            <a:off x="8100669" y="2359152"/>
            <a:ext cx="850392" cy="146304"/>
          </a:xfrm>
          <a:prstGeom prst="rect">
            <a:avLst/>
          </a:prstGeom>
          <a:noFill/>
        </p:spPr>
        <p:txBody>
          <a:bodyPr wrap="none">
            <a:spAutoFit/>
          </a:bodyPr>
          <a:lstStyle/>
          <a:p>
            <a:pPr algn="ctr"/>
            <a:r>
              <a:rPr sz="600">
                <a:solidFill>
                  <a:srgbClr val="B9A488"/>
                </a:solidFill>
              </a:rPr>
              <a:t>boombeetle</a:t>
            </a:r>
          </a:p>
        </p:txBody>
      </p:sp>
      <p:pic>
        <p:nvPicPr>
          <p:cNvPr id="18" name="boomcat" descr="boomcat (GR_Boomcat)&#10;drawSize 1.5 · &quot;go with the boom&quot;&#10;“in”"/>
          <p:cNvPicPr>
            <a:picLocks noChangeAspect="1"/>
          </p:cNvPicPr>
          <p:nvPr/>
        </p:nvPicPr>
        <p:blipFill>
          <a:blip r:embed="rId9"/>
          <a:stretch>
            <a:fillRect/>
          </a:stretch>
        </p:blipFill>
        <p:spPr>
          <a:xfrm>
            <a:off x="9079077" y="1499616"/>
            <a:ext cx="850392" cy="850392"/>
          </a:xfrm>
          <a:prstGeom prst="rect">
            <a:avLst/>
          </a:prstGeom>
        </p:spPr>
      </p:pic>
      <p:sp>
        <p:nvSpPr>
          <p:cNvPr id="19" name="TextBox 18"/>
          <p:cNvSpPr txBox="1"/>
          <p:nvPr/>
        </p:nvSpPr>
        <p:spPr>
          <a:xfrm>
            <a:off x="9079077" y="2359152"/>
            <a:ext cx="850392" cy="146304"/>
          </a:xfrm>
          <a:prstGeom prst="rect">
            <a:avLst/>
          </a:prstGeom>
          <a:noFill/>
        </p:spPr>
        <p:txBody>
          <a:bodyPr wrap="none">
            <a:spAutoFit/>
          </a:bodyPr>
          <a:lstStyle/>
          <a:p>
            <a:pPr algn="ctr"/>
            <a:r>
              <a:rPr sz="600">
                <a:solidFill>
                  <a:srgbClr val="B9A488"/>
                </a:solidFill>
              </a:rPr>
              <a:t>boomcat</a:t>
            </a:r>
          </a:p>
        </p:txBody>
      </p:sp>
      <p:pic>
        <p:nvPicPr>
          <p:cNvPr id="20" name="boomsnake" descr="boomsnake (GR_Boomsnake)&#10;drawSize 1.5 · &quot;Pyrelands&quot;&#10;“move”"/>
          <p:cNvPicPr>
            <a:picLocks noChangeAspect="1"/>
          </p:cNvPicPr>
          <p:nvPr/>
        </p:nvPicPr>
        <p:blipFill>
          <a:blip r:embed="rId10"/>
          <a:stretch>
            <a:fillRect/>
          </a:stretch>
        </p:blipFill>
        <p:spPr>
          <a:xfrm>
            <a:off x="10057485" y="1499616"/>
            <a:ext cx="850392" cy="850392"/>
          </a:xfrm>
          <a:prstGeom prst="rect">
            <a:avLst/>
          </a:prstGeom>
        </p:spPr>
      </p:pic>
      <p:sp>
        <p:nvSpPr>
          <p:cNvPr id="21" name="TextBox 20"/>
          <p:cNvSpPr txBox="1"/>
          <p:nvPr/>
        </p:nvSpPr>
        <p:spPr>
          <a:xfrm>
            <a:off x="10057485" y="2359152"/>
            <a:ext cx="850392" cy="146304"/>
          </a:xfrm>
          <a:prstGeom prst="rect">
            <a:avLst/>
          </a:prstGeom>
          <a:noFill/>
        </p:spPr>
        <p:txBody>
          <a:bodyPr wrap="none">
            <a:spAutoFit/>
          </a:bodyPr>
          <a:lstStyle/>
          <a:p>
            <a:pPr algn="ctr"/>
            <a:r>
              <a:rPr sz="600">
                <a:solidFill>
                  <a:srgbClr val="B9A488"/>
                </a:solidFill>
              </a:rPr>
              <a:t>boomsnake</a:t>
            </a:r>
          </a:p>
        </p:txBody>
      </p:sp>
      <p:pic>
        <p:nvPicPr>
          <p:cNvPr id="22" name="boomrat" descr="boomrat (Boomrat)&#10;drawSize 0.20000000298023224 · (none)&#10;“out”"/>
          <p:cNvPicPr>
            <a:picLocks noChangeAspect="1"/>
          </p:cNvPicPr>
          <p:nvPr/>
        </p:nvPicPr>
        <p:blipFill>
          <a:blip r:embed="rId11"/>
          <a:stretch>
            <a:fillRect/>
          </a:stretch>
        </p:blipFill>
        <p:spPr>
          <a:xfrm>
            <a:off x="11035893" y="2057400"/>
            <a:ext cx="292608" cy="292608"/>
          </a:xfrm>
          <a:prstGeom prst="rect">
            <a:avLst/>
          </a:prstGeom>
        </p:spPr>
      </p:pic>
      <p:sp>
        <p:nvSpPr>
          <p:cNvPr id="23" name="TextBox 22"/>
          <p:cNvSpPr txBox="1"/>
          <p:nvPr/>
        </p:nvSpPr>
        <p:spPr>
          <a:xfrm>
            <a:off x="11035893" y="2359152"/>
            <a:ext cx="640080" cy="146304"/>
          </a:xfrm>
          <a:prstGeom prst="rect">
            <a:avLst/>
          </a:prstGeom>
          <a:noFill/>
        </p:spPr>
        <p:txBody>
          <a:bodyPr wrap="none">
            <a:spAutoFit/>
          </a:bodyPr>
          <a:lstStyle/>
          <a:p>
            <a:pPr algn="ctr"/>
            <a:r>
              <a:rPr sz="600">
                <a:solidFill>
                  <a:srgbClr val="B9A488"/>
                </a:solidFill>
              </a:rPr>
              <a:t>boomrat</a:t>
            </a:r>
          </a:p>
        </p:txBody>
      </p:sp>
      <p:pic>
        <p:nvPicPr>
          <p:cNvPr id="24" name="boomtick" descr="boomtick (VFEI2_Boomtick)&#10;drawSize 0.18000000715255737 · &quot;0.7 cells&quot;&#10;“in”"/>
          <p:cNvPicPr>
            <a:picLocks noChangeAspect="1"/>
          </p:cNvPicPr>
          <p:nvPr/>
        </p:nvPicPr>
        <p:blipFill>
          <a:blip r:embed="rId12"/>
          <a:stretch>
            <a:fillRect/>
          </a:stretch>
        </p:blipFill>
        <p:spPr>
          <a:xfrm>
            <a:off x="11456517" y="2057400"/>
            <a:ext cx="292608" cy="292608"/>
          </a:xfrm>
          <a:prstGeom prst="rect">
            <a:avLst/>
          </a:prstGeom>
        </p:spPr>
      </p:pic>
      <p:sp>
        <p:nvSpPr>
          <p:cNvPr id="25" name="TextBox 24"/>
          <p:cNvSpPr txBox="1"/>
          <p:nvPr/>
        </p:nvSpPr>
        <p:spPr>
          <a:xfrm>
            <a:off x="11456517" y="2359152"/>
            <a:ext cx="640080" cy="146304"/>
          </a:xfrm>
          <a:prstGeom prst="rect">
            <a:avLst/>
          </a:prstGeom>
          <a:noFill/>
        </p:spPr>
        <p:txBody>
          <a:bodyPr wrap="none">
            <a:spAutoFit/>
          </a:bodyPr>
          <a:lstStyle/>
          <a:p>
            <a:pPr algn="ctr"/>
            <a:r>
              <a:rPr sz="600">
                <a:solidFill>
                  <a:srgbClr val="B9A488"/>
                </a:solidFill>
              </a:rPr>
              <a:t>boomtick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21A12"/>
        </a:solidFill>
        <a:effectLst/>
      </p:bgPr>
    </p:bg>
    <p:spTree>
      <p:nvGrpSpPr>
        <p:cNvPr id="1" name=""/>
        <p:cNvGrpSpPr/>
        <p:nvPr/>
      </p:nvGrpSpPr>
      <p:grpSpPr/>
      <p:sp>
        <p:nvSpPr>
          <p:cNvPr id="2" name="TextBox 1"/>
          <p:cNvSpPr txBox="1"/>
          <p:nvPr/>
        </p:nvSpPr>
        <p:spPr>
          <a:xfrm>
            <a:off x="274320" y="164592"/>
            <a:ext cx="11612880" cy="640080"/>
          </a:xfrm>
          <a:prstGeom prst="rect">
            <a:avLst/>
          </a:prstGeom>
          <a:noFill/>
        </p:spPr>
        <p:txBody>
          <a:bodyPr wrap="none">
            <a:spAutoFit/>
          </a:bodyPr>
          <a:lstStyle/>
          <a:p>
            <a:r>
              <a:rPr sz="2200" b="1">
                <a:solidFill>
                  <a:srgbClr val="C98A3E"/>
                </a:solidFill>
              </a:rPr>
              <a:t>9. faction-territory fauna</a:t>
            </a:r>
            <a:r>
              <a:rPr sz="1100">
                <a:solidFill>
                  <a:srgbClr val="B9A488"/>
                </a:solidFill>
              </a:rPr>
              <a:t>   23 creatures · grouping sheet</a:t>
            </a:r>
          </a:p>
        </p:txBody>
      </p:sp>
      <p:sp>
        <p:nvSpPr>
          <p:cNvPr id="3" name="TextBox 2"/>
          <p:cNvSpPr txBox="1"/>
          <p:nvPr/>
        </p:nvSpPr>
        <p:spPr>
          <a:xfrm>
            <a:off x="274320" y="731520"/>
            <a:ext cx="5486400" cy="182880"/>
          </a:xfrm>
          <a:prstGeom prst="rect">
            <a:avLst/>
          </a:prstGeom>
          <a:noFill/>
        </p:spPr>
        <p:txBody>
          <a:bodyPr wrap="none">
            <a:spAutoFit/>
          </a:bodyPr>
          <a:lstStyle/>
          <a:p>
            <a:r>
              <a:rPr sz="800">
                <a:solidFill>
                  <a:srgbClr val="B9A488"/>
                </a:solidFill>
              </a:rPr>
              <a:t>9. faction-territory fauna (Hutt / Helix / Wildsteam / Moisture Farmers)</a:t>
            </a:r>
          </a:p>
        </p:txBody>
      </p:sp>
      <p:pic>
        <p:nvPicPr>
          <p:cNvPr id="4" name="Jungle Rancor" descr="Jungle Rancor (JungleRancor)&#10;drawSize 15.0 · Wildsteam&#10;“wildsteam jungle biom, tree breaker”"/>
          <p:cNvPicPr>
            <a:picLocks noChangeAspect="1"/>
          </p:cNvPicPr>
          <p:nvPr/>
        </p:nvPicPr>
        <p:blipFill>
          <a:blip r:embed="rId2"/>
          <a:stretch>
            <a:fillRect/>
          </a:stretch>
        </p:blipFill>
        <p:spPr>
          <a:xfrm>
            <a:off x="274320" y="932688"/>
            <a:ext cx="2194560" cy="2194560"/>
          </a:xfrm>
          <a:prstGeom prst="rect">
            <a:avLst/>
          </a:prstGeom>
        </p:spPr>
      </p:pic>
      <p:sp>
        <p:nvSpPr>
          <p:cNvPr id="5" name="TextBox 4"/>
          <p:cNvSpPr txBox="1"/>
          <p:nvPr/>
        </p:nvSpPr>
        <p:spPr>
          <a:xfrm>
            <a:off x="274320" y="3136391"/>
            <a:ext cx="2194560" cy="146304"/>
          </a:xfrm>
          <a:prstGeom prst="rect">
            <a:avLst/>
          </a:prstGeom>
          <a:noFill/>
        </p:spPr>
        <p:txBody>
          <a:bodyPr wrap="none">
            <a:spAutoFit/>
          </a:bodyPr>
          <a:lstStyle/>
          <a:p>
            <a:pPr algn="ctr"/>
            <a:r>
              <a:rPr sz="600">
                <a:solidFill>
                  <a:srgbClr val="B9A488"/>
                </a:solidFill>
              </a:rPr>
              <a:t>Jungle Rancor</a:t>
            </a:r>
          </a:p>
        </p:txBody>
      </p:sp>
      <p:pic>
        <p:nvPicPr>
          <p:cNvPr id="6" name="kell dragon" descr="kell dragon (KellDragon)&#10;drawSize 4.0 · Hutt&#10;“Hutt territories and area pits”"/>
          <p:cNvPicPr>
            <a:picLocks noChangeAspect="1"/>
          </p:cNvPicPr>
          <p:nvPr/>
        </p:nvPicPr>
        <p:blipFill>
          <a:blip r:embed="rId3"/>
          <a:stretch>
            <a:fillRect/>
          </a:stretch>
        </p:blipFill>
        <p:spPr>
          <a:xfrm>
            <a:off x="2596896" y="932688"/>
            <a:ext cx="2194560" cy="2194560"/>
          </a:xfrm>
          <a:prstGeom prst="rect">
            <a:avLst/>
          </a:prstGeom>
        </p:spPr>
      </p:pic>
      <p:sp>
        <p:nvSpPr>
          <p:cNvPr id="7" name="TextBox 6"/>
          <p:cNvSpPr txBox="1"/>
          <p:nvPr/>
        </p:nvSpPr>
        <p:spPr>
          <a:xfrm>
            <a:off x="2596896" y="3136391"/>
            <a:ext cx="2194560" cy="146304"/>
          </a:xfrm>
          <a:prstGeom prst="rect">
            <a:avLst/>
          </a:prstGeom>
          <a:noFill/>
        </p:spPr>
        <p:txBody>
          <a:bodyPr wrap="none">
            <a:spAutoFit/>
          </a:bodyPr>
          <a:lstStyle/>
          <a:p>
            <a:pPr algn="ctr"/>
            <a:r>
              <a:rPr sz="600">
                <a:solidFill>
                  <a:srgbClr val="B9A488"/>
                </a:solidFill>
              </a:rPr>
              <a:t>kell dragon</a:t>
            </a:r>
          </a:p>
        </p:txBody>
      </p:sp>
      <p:pic>
        <p:nvPicPr>
          <p:cNvPr id="8" name="acklay" descr="acklay (Acklay)&#10;drawSize 3.0 · Hutt&#10;“Hutt arena fodder and territories”"/>
          <p:cNvPicPr>
            <a:picLocks noChangeAspect="1"/>
          </p:cNvPicPr>
          <p:nvPr/>
        </p:nvPicPr>
        <p:blipFill>
          <a:blip r:embed="rId4"/>
          <a:stretch>
            <a:fillRect/>
          </a:stretch>
        </p:blipFill>
        <p:spPr>
          <a:xfrm>
            <a:off x="4919472" y="1426464"/>
            <a:ext cx="1700784" cy="1700784"/>
          </a:xfrm>
          <a:prstGeom prst="rect">
            <a:avLst/>
          </a:prstGeom>
        </p:spPr>
      </p:pic>
      <p:sp>
        <p:nvSpPr>
          <p:cNvPr id="9" name="TextBox 8"/>
          <p:cNvSpPr txBox="1"/>
          <p:nvPr/>
        </p:nvSpPr>
        <p:spPr>
          <a:xfrm>
            <a:off x="4919472" y="3136391"/>
            <a:ext cx="1700784" cy="146304"/>
          </a:xfrm>
          <a:prstGeom prst="rect">
            <a:avLst/>
          </a:prstGeom>
          <a:noFill/>
        </p:spPr>
        <p:txBody>
          <a:bodyPr wrap="none">
            <a:spAutoFit/>
          </a:bodyPr>
          <a:lstStyle/>
          <a:p>
            <a:pPr algn="ctr"/>
            <a:r>
              <a:rPr sz="600">
                <a:solidFill>
                  <a:srgbClr val="B9A488"/>
                </a:solidFill>
              </a:rPr>
              <a:t>acklay</a:t>
            </a:r>
          </a:p>
        </p:txBody>
      </p:sp>
      <p:pic>
        <p:nvPicPr>
          <p:cNvPr id="10" name="aiwha" descr="aiwha (Aiwha)&#10;drawSize 3.0 · Helix&#10;“HUGE flyer, could appear anywhere, mountable, air, sea, land, Helix territories”"/>
          <p:cNvPicPr>
            <a:picLocks noChangeAspect="1"/>
          </p:cNvPicPr>
          <p:nvPr/>
        </p:nvPicPr>
        <p:blipFill>
          <a:blip r:embed="rId5"/>
          <a:stretch>
            <a:fillRect/>
          </a:stretch>
        </p:blipFill>
        <p:spPr>
          <a:xfrm>
            <a:off x="6748272" y="1426464"/>
            <a:ext cx="1700784" cy="1700784"/>
          </a:xfrm>
          <a:prstGeom prst="rect">
            <a:avLst/>
          </a:prstGeom>
        </p:spPr>
      </p:pic>
      <p:sp>
        <p:nvSpPr>
          <p:cNvPr id="11" name="TextBox 10"/>
          <p:cNvSpPr txBox="1"/>
          <p:nvPr/>
        </p:nvSpPr>
        <p:spPr>
          <a:xfrm>
            <a:off x="6748272" y="3136391"/>
            <a:ext cx="1700784" cy="146304"/>
          </a:xfrm>
          <a:prstGeom prst="rect">
            <a:avLst/>
          </a:prstGeom>
          <a:noFill/>
        </p:spPr>
        <p:txBody>
          <a:bodyPr wrap="none">
            <a:spAutoFit/>
          </a:bodyPr>
          <a:lstStyle/>
          <a:p>
            <a:pPr algn="ctr"/>
            <a:r>
              <a:rPr sz="600">
                <a:solidFill>
                  <a:srgbClr val="B9A488"/>
                </a:solidFill>
              </a:rPr>
              <a:t>aiwha</a:t>
            </a:r>
          </a:p>
        </p:txBody>
      </p:sp>
      <p:pic>
        <p:nvPicPr>
          <p:cNvPr id="12" name="brezak" descr="brezak (Brezak)&#10;drawSize 3.0 · Hutt&#10;“Hutt areas”"/>
          <p:cNvPicPr>
            <a:picLocks noChangeAspect="1"/>
          </p:cNvPicPr>
          <p:nvPr/>
        </p:nvPicPr>
        <p:blipFill>
          <a:blip r:embed="rId6"/>
          <a:stretch>
            <a:fillRect/>
          </a:stretch>
        </p:blipFill>
        <p:spPr>
          <a:xfrm>
            <a:off x="8577072" y="1426464"/>
            <a:ext cx="1700784" cy="1700784"/>
          </a:xfrm>
          <a:prstGeom prst="rect">
            <a:avLst/>
          </a:prstGeom>
        </p:spPr>
      </p:pic>
      <p:sp>
        <p:nvSpPr>
          <p:cNvPr id="13" name="TextBox 12"/>
          <p:cNvSpPr txBox="1"/>
          <p:nvPr/>
        </p:nvSpPr>
        <p:spPr>
          <a:xfrm>
            <a:off x="8577072" y="3136391"/>
            <a:ext cx="1700784" cy="146304"/>
          </a:xfrm>
          <a:prstGeom prst="rect">
            <a:avLst/>
          </a:prstGeom>
          <a:noFill/>
        </p:spPr>
        <p:txBody>
          <a:bodyPr wrap="none">
            <a:spAutoFit/>
          </a:bodyPr>
          <a:lstStyle/>
          <a:p>
            <a:pPr algn="ctr"/>
            <a:r>
              <a:rPr sz="600">
                <a:solidFill>
                  <a:srgbClr val="B9A488"/>
                </a:solidFill>
              </a:rPr>
              <a:t>brezak</a:t>
            </a:r>
          </a:p>
        </p:txBody>
      </p:sp>
      <p:pic>
        <p:nvPicPr>
          <p:cNvPr id="14" name="gundark" descr="gundark (Gundark)&#10;drawSize 3.0 · Hutt&#10;“Problemmatic semi-sentient predator of the wildsteam territories, can form small raids, this creature steals. Hutt …”"/>
          <p:cNvPicPr>
            <a:picLocks noChangeAspect="1"/>
          </p:cNvPicPr>
          <p:nvPr/>
        </p:nvPicPr>
        <p:blipFill>
          <a:blip r:embed="rId7"/>
          <a:stretch>
            <a:fillRect/>
          </a:stretch>
        </p:blipFill>
        <p:spPr>
          <a:xfrm>
            <a:off x="274320" y="3364992"/>
            <a:ext cx="1700784" cy="1700784"/>
          </a:xfrm>
          <a:prstGeom prst="rect">
            <a:avLst/>
          </a:prstGeom>
        </p:spPr>
      </p:pic>
      <p:sp>
        <p:nvSpPr>
          <p:cNvPr id="15" name="TextBox 14"/>
          <p:cNvSpPr txBox="1"/>
          <p:nvPr/>
        </p:nvSpPr>
        <p:spPr>
          <a:xfrm>
            <a:off x="274320" y="5074920"/>
            <a:ext cx="1700784" cy="146304"/>
          </a:xfrm>
          <a:prstGeom prst="rect">
            <a:avLst/>
          </a:prstGeom>
          <a:noFill/>
        </p:spPr>
        <p:txBody>
          <a:bodyPr wrap="none">
            <a:spAutoFit/>
          </a:bodyPr>
          <a:lstStyle/>
          <a:p>
            <a:pPr algn="ctr"/>
            <a:r>
              <a:rPr sz="600">
                <a:solidFill>
                  <a:srgbClr val="B9A488"/>
                </a:solidFill>
              </a:rPr>
              <a:t>gundark</a:t>
            </a:r>
          </a:p>
        </p:txBody>
      </p:sp>
      <p:pic>
        <p:nvPicPr>
          <p:cNvPr id="16" name="blurrg" descr="blurrg (Blurrg)&#10;drawSize 2.5 · Moisture Farmers&#10;“Moisture Farmers territory, domesticated”"/>
          <p:cNvPicPr>
            <a:picLocks noChangeAspect="1"/>
          </p:cNvPicPr>
          <p:nvPr/>
        </p:nvPicPr>
        <p:blipFill>
          <a:blip r:embed="rId8"/>
          <a:stretch>
            <a:fillRect/>
          </a:stretch>
        </p:blipFill>
        <p:spPr>
          <a:xfrm>
            <a:off x="2103120" y="3648456"/>
            <a:ext cx="1417320" cy="1417320"/>
          </a:xfrm>
          <a:prstGeom prst="rect">
            <a:avLst/>
          </a:prstGeom>
        </p:spPr>
      </p:pic>
      <p:sp>
        <p:nvSpPr>
          <p:cNvPr id="17" name="TextBox 16"/>
          <p:cNvSpPr txBox="1"/>
          <p:nvPr/>
        </p:nvSpPr>
        <p:spPr>
          <a:xfrm>
            <a:off x="2103120" y="5074920"/>
            <a:ext cx="1417320" cy="146304"/>
          </a:xfrm>
          <a:prstGeom prst="rect">
            <a:avLst/>
          </a:prstGeom>
          <a:noFill/>
        </p:spPr>
        <p:txBody>
          <a:bodyPr wrap="none">
            <a:spAutoFit/>
          </a:bodyPr>
          <a:lstStyle/>
          <a:p>
            <a:pPr algn="ctr"/>
            <a:r>
              <a:rPr sz="600">
                <a:solidFill>
                  <a:srgbClr val="B9A488"/>
                </a:solidFill>
              </a:rPr>
              <a:t>blurrg</a:t>
            </a:r>
          </a:p>
        </p:txBody>
      </p:sp>
      <p:pic>
        <p:nvPicPr>
          <p:cNvPr id="18" name="nexu" descr="nexu (Nexu)&#10;drawSize 2.5 · Wildsteam&#10;“combat pets of the Wildsteam”"/>
          <p:cNvPicPr>
            <a:picLocks noChangeAspect="1"/>
          </p:cNvPicPr>
          <p:nvPr/>
        </p:nvPicPr>
        <p:blipFill>
          <a:blip r:embed="rId9"/>
          <a:stretch>
            <a:fillRect/>
          </a:stretch>
        </p:blipFill>
        <p:spPr>
          <a:xfrm>
            <a:off x="3648456" y="3648456"/>
            <a:ext cx="1417320" cy="1417320"/>
          </a:xfrm>
          <a:prstGeom prst="rect">
            <a:avLst/>
          </a:prstGeom>
        </p:spPr>
      </p:pic>
      <p:sp>
        <p:nvSpPr>
          <p:cNvPr id="19" name="TextBox 18"/>
          <p:cNvSpPr txBox="1"/>
          <p:nvPr/>
        </p:nvSpPr>
        <p:spPr>
          <a:xfrm>
            <a:off x="3648456" y="5074920"/>
            <a:ext cx="1417320" cy="146304"/>
          </a:xfrm>
          <a:prstGeom prst="rect">
            <a:avLst/>
          </a:prstGeom>
          <a:noFill/>
        </p:spPr>
        <p:txBody>
          <a:bodyPr wrap="none">
            <a:spAutoFit/>
          </a:bodyPr>
          <a:lstStyle/>
          <a:p>
            <a:pPr algn="ctr"/>
            <a:r>
              <a:rPr sz="600">
                <a:solidFill>
                  <a:srgbClr val="B9A488"/>
                </a:solidFill>
              </a:rPr>
              <a:t>nexu</a:t>
            </a:r>
          </a:p>
        </p:txBody>
      </p:sp>
      <p:pic>
        <p:nvPicPr>
          <p:cNvPr id="20" name="bearded troll" descr="bearded troll (DA_BeardedTroll)&#10;drawSize 2.0 · Wildsteam&#10;“Semi-sentient guardian used by Wildsteam, trainable, sometimes seen wild in their territory, mostly fur with …”"/>
          <p:cNvPicPr>
            <a:picLocks noChangeAspect="1"/>
          </p:cNvPicPr>
          <p:nvPr/>
        </p:nvPicPr>
        <p:blipFill>
          <a:blip r:embed="rId10"/>
          <a:stretch>
            <a:fillRect/>
          </a:stretch>
        </p:blipFill>
        <p:spPr>
          <a:xfrm>
            <a:off x="5193792" y="3931920"/>
            <a:ext cx="1133856" cy="1133856"/>
          </a:xfrm>
          <a:prstGeom prst="rect">
            <a:avLst/>
          </a:prstGeom>
        </p:spPr>
      </p:pic>
      <p:sp>
        <p:nvSpPr>
          <p:cNvPr id="21" name="TextBox 20"/>
          <p:cNvSpPr txBox="1"/>
          <p:nvPr/>
        </p:nvSpPr>
        <p:spPr>
          <a:xfrm>
            <a:off x="5193792" y="5074920"/>
            <a:ext cx="1133856" cy="146304"/>
          </a:xfrm>
          <a:prstGeom prst="rect">
            <a:avLst/>
          </a:prstGeom>
          <a:noFill/>
        </p:spPr>
        <p:txBody>
          <a:bodyPr wrap="none">
            <a:spAutoFit/>
          </a:bodyPr>
          <a:lstStyle/>
          <a:p>
            <a:pPr algn="ctr"/>
            <a:r>
              <a:rPr sz="600">
                <a:solidFill>
                  <a:srgbClr val="B9A488"/>
                </a:solidFill>
              </a:rPr>
              <a:t>bearded troll</a:t>
            </a:r>
          </a:p>
        </p:txBody>
      </p:sp>
      <p:pic>
        <p:nvPicPr>
          <p:cNvPr id="22" name="mancat" descr="mancat (GR_Mancat)&#10;drawSize 1.5 · Helix&#10;“Helix territories”"/>
          <p:cNvPicPr>
            <a:picLocks noChangeAspect="1"/>
          </p:cNvPicPr>
          <p:nvPr/>
        </p:nvPicPr>
        <p:blipFill>
          <a:blip r:embed="rId11"/>
          <a:stretch>
            <a:fillRect/>
          </a:stretch>
        </p:blipFill>
        <p:spPr>
          <a:xfrm>
            <a:off x="6455664" y="4215384"/>
            <a:ext cx="850392" cy="850392"/>
          </a:xfrm>
          <a:prstGeom prst="rect">
            <a:avLst/>
          </a:prstGeom>
        </p:spPr>
      </p:pic>
      <p:sp>
        <p:nvSpPr>
          <p:cNvPr id="23" name="TextBox 22"/>
          <p:cNvSpPr txBox="1"/>
          <p:nvPr/>
        </p:nvSpPr>
        <p:spPr>
          <a:xfrm>
            <a:off x="6455664" y="5074920"/>
            <a:ext cx="850392" cy="146304"/>
          </a:xfrm>
          <a:prstGeom prst="rect">
            <a:avLst/>
          </a:prstGeom>
          <a:noFill/>
        </p:spPr>
        <p:txBody>
          <a:bodyPr wrap="none">
            <a:spAutoFit/>
          </a:bodyPr>
          <a:lstStyle/>
          <a:p>
            <a:pPr algn="ctr"/>
            <a:r>
              <a:rPr sz="600">
                <a:solidFill>
                  <a:srgbClr val="B9A488"/>
                </a:solidFill>
              </a:rPr>
              <a:t>mancat</a:t>
            </a:r>
          </a:p>
        </p:txBody>
      </p:sp>
      <p:pic>
        <p:nvPicPr>
          <p:cNvPr id="24" name="chickenhorse" descr="chickenhorse (GR_Chickenhorse)&#10;drawSize 1.0 · Helix&#10;“Helix areas”"/>
          <p:cNvPicPr>
            <a:picLocks noChangeAspect="1"/>
          </p:cNvPicPr>
          <p:nvPr/>
        </p:nvPicPr>
        <p:blipFill>
          <a:blip r:embed="rId12"/>
          <a:stretch>
            <a:fillRect/>
          </a:stretch>
        </p:blipFill>
        <p:spPr>
          <a:xfrm>
            <a:off x="7434071" y="4498848"/>
            <a:ext cx="566928" cy="566928"/>
          </a:xfrm>
          <a:prstGeom prst="rect">
            <a:avLst/>
          </a:prstGeom>
        </p:spPr>
      </p:pic>
      <p:sp>
        <p:nvSpPr>
          <p:cNvPr id="25" name="TextBox 24"/>
          <p:cNvSpPr txBox="1"/>
          <p:nvPr/>
        </p:nvSpPr>
        <p:spPr>
          <a:xfrm>
            <a:off x="7434071" y="5074920"/>
            <a:ext cx="640080" cy="146304"/>
          </a:xfrm>
          <a:prstGeom prst="rect">
            <a:avLst/>
          </a:prstGeom>
          <a:noFill/>
        </p:spPr>
        <p:txBody>
          <a:bodyPr wrap="none">
            <a:spAutoFit/>
          </a:bodyPr>
          <a:lstStyle/>
          <a:p>
            <a:pPr algn="ctr"/>
            <a:r>
              <a:rPr sz="600">
                <a:solidFill>
                  <a:srgbClr val="B9A488"/>
                </a:solidFill>
              </a:rPr>
              <a:t>chickenhorse</a:t>
            </a:r>
          </a:p>
        </p:txBody>
      </p:sp>
      <p:pic>
        <p:nvPicPr>
          <p:cNvPr id="26" name="frog dog" descr="frog dog (FrogDog)&#10;drawSize 0.8500000238418579 · Hutt&#10;“Hutt territories and pet and settlements”"/>
          <p:cNvPicPr>
            <a:picLocks noChangeAspect="1"/>
          </p:cNvPicPr>
          <p:nvPr/>
        </p:nvPicPr>
        <p:blipFill>
          <a:blip r:embed="rId13"/>
          <a:stretch>
            <a:fillRect/>
          </a:stretch>
        </p:blipFill>
        <p:spPr>
          <a:xfrm>
            <a:off x="8129015" y="4583887"/>
            <a:ext cx="481888" cy="481888"/>
          </a:xfrm>
          <a:prstGeom prst="rect">
            <a:avLst/>
          </a:prstGeom>
        </p:spPr>
      </p:pic>
      <p:sp>
        <p:nvSpPr>
          <p:cNvPr id="27" name="TextBox 26"/>
          <p:cNvSpPr txBox="1"/>
          <p:nvPr/>
        </p:nvSpPr>
        <p:spPr>
          <a:xfrm>
            <a:off x="8129015" y="5074920"/>
            <a:ext cx="640080" cy="146304"/>
          </a:xfrm>
          <a:prstGeom prst="rect">
            <a:avLst/>
          </a:prstGeom>
          <a:noFill/>
        </p:spPr>
        <p:txBody>
          <a:bodyPr wrap="none">
            <a:spAutoFit/>
          </a:bodyPr>
          <a:lstStyle/>
          <a:p>
            <a:pPr algn="ctr"/>
            <a:r>
              <a:rPr sz="600">
                <a:solidFill>
                  <a:srgbClr val="B9A488"/>
                </a:solidFill>
              </a:rPr>
              <a:t>frog dog</a:t>
            </a:r>
          </a:p>
        </p:txBody>
      </p:sp>
      <p:pic>
        <p:nvPicPr>
          <p:cNvPr id="28" name="Empress butterfly" descr="Empress butterfly (AA_EmpressButterfly)&#10;drawSize 0.75 · Wildsteam&#10;“Wildsteam areas”"/>
          <p:cNvPicPr>
            <a:picLocks noChangeAspect="1"/>
          </p:cNvPicPr>
          <p:nvPr/>
        </p:nvPicPr>
        <p:blipFill>
          <a:blip r:embed="rId14"/>
          <a:stretch>
            <a:fillRect/>
          </a:stretch>
        </p:blipFill>
        <p:spPr>
          <a:xfrm>
            <a:off x="8738920" y="4640580"/>
            <a:ext cx="425196" cy="425196"/>
          </a:xfrm>
          <a:prstGeom prst="rect">
            <a:avLst/>
          </a:prstGeom>
        </p:spPr>
      </p:pic>
      <p:sp>
        <p:nvSpPr>
          <p:cNvPr id="29" name="TextBox 28"/>
          <p:cNvSpPr txBox="1"/>
          <p:nvPr/>
        </p:nvSpPr>
        <p:spPr>
          <a:xfrm>
            <a:off x="8738920" y="5074920"/>
            <a:ext cx="640080" cy="146304"/>
          </a:xfrm>
          <a:prstGeom prst="rect">
            <a:avLst/>
          </a:prstGeom>
          <a:noFill/>
        </p:spPr>
        <p:txBody>
          <a:bodyPr wrap="none">
            <a:spAutoFit/>
          </a:bodyPr>
          <a:lstStyle/>
          <a:p>
            <a:pPr algn="ctr"/>
            <a:r>
              <a:rPr sz="600">
                <a:solidFill>
                  <a:srgbClr val="B9A488"/>
                </a:solidFill>
              </a:rPr>
              <a:t>Empress butterfl</a:t>
            </a:r>
          </a:p>
        </p:txBody>
      </p:sp>
      <p:pic>
        <p:nvPicPr>
          <p:cNvPr id="30" name="pedigreed raptor" descr="pedigreed raptor (AA_PedigreedRaptor)&#10;drawSize 0.75 · Hutt&#10;“TOTALLY Hutt settlements and territories”"/>
          <p:cNvPicPr>
            <a:picLocks noChangeAspect="1"/>
          </p:cNvPicPr>
          <p:nvPr/>
        </p:nvPicPr>
        <p:blipFill>
          <a:blip r:embed="rId15"/>
          <a:stretch>
            <a:fillRect/>
          </a:stretch>
        </p:blipFill>
        <p:spPr>
          <a:xfrm>
            <a:off x="9292132" y="4640580"/>
            <a:ext cx="425196" cy="425196"/>
          </a:xfrm>
          <a:prstGeom prst="rect">
            <a:avLst/>
          </a:prstGeom>
        </p:spPr>
      </p:pic>
      <p:sp>
        <p:nvSpPr>
          <p:cNvPr id="31" name="TextBox 30"/>
          <p:cNvSpPr txBox="1"/>
          <p:nvPr/>
        </p:nvSpPr>
        <p:spPr>
          <a:xfrm>
            <a:off x="9292132" y="5074920"/>
            <a:ext cx="640080" cy="146304"/>
          </a:xfrm>
          <a:prstGeom prst="rect">
            <a:avLst/>
          </a:prstGeom>
          <a:noFill/>
        </p:spPr>
        <p:txBody>
          <a:bodyPr wrap="none">
            <a:spAutoFit/>
          </a:bodyPr>
          <a:lstStyle/>
          <a:p>
            <a:pPr algn="ctr"/>
            <a:r>
              <a:rPr sz="600">
                <a:solidFill>
                  <a:srgbClr val="B9A488"/>
                </a:solidFill>
              </a:rPr>
              <a:t>pedigreed raptor</a:t>
            </a:r>
          </a:p>
        </p:txBody>
      </p:sp>
      <p:pic>
        <p:nvPicPr>
          <p:cNvPr id="32" name="manbear" descr="manbear (GR_Manbear)&#10;drawSize 0.3499999940395355 · Helix&#10;“Helix territory only”"/>
          <p:cNvPicPr>
            <a:picLocks noChangeAspect="1"/>
          </p:cNvPicPr>
          <p:nvPr/>
        </p:nvPicPr>
        <p:blipFill>
          <a:blip r:embed="rId16"/>
          <a:stretch>
            <a:fillRect/>
          </a:stretch>
        </p:blipFill>
        <p:spPr>
          <a:xfrm>
            <a:off x="9845344" y="4773168"/>
            <a:ext cx="292608" cy="292608"/>
          </a:xfrm>
          <a:prstGeom prst="rect">
            <a:avLst/>
          </a:prstGeom>
        </p:spPr>
      </p:pic>
      <p:sp>
        <p:nvSpPr>
          <p:cNvPr id="33" name="TextBox 32"/>
          <p:cNvSpPr txBox="1"/>
          <p:nvPr/>
        </p:nvSpPr>
        <p:spPr>
          <a:xfrm>
            <a:off x="9845344" y="5074920"/>
            <a:ext cx="640080" cy="146304"/>
          </a:xfrm>
          <a:prstGeom prst="rect">
            <a:avLst/>
          </a:prstGeom>
          <a:noFill/>
        </p:spPr>
        <p:txBody>
          <a:bodyPr wrap="none">
            <a:spAutoFit/>
          </a:bodyPr>
          <a:lstStyle/>
          <a:p>
            <a:pPr algn="ctr"/>
            <a:r>
              <a:rPr sz="600">
                <a:solidFill>
                  <a:srgbClr val="B9A488"/>
                </a:solidFill>
              </a:rPr>
              <a:t>manbear</a:t>
            </a:r>
          </a:p>
        </p:txBody>
      </p:sp>
      <p:pic>
        <p:nvPicPr>
          <p:cNvPr id="34" name="blarth" descr="blarth (Blarth)&#10;drawSize 0.3199999928474426 · Hutt&#10;“Miasma, domesticatable, Hutt pets, 1 cell”"/>
          <p:cNvPicPr>
            <a:picLocks noChangeAspect="1"/>
          </p:cNvPicPr>
          <p:nvPr/>
        </p:nvPicPr>
        <p:blipFill>
          <a:blip r:embed="rId17"/>
          <a:stretch>
            <a:fillRect/>
          </a:stretch>
        </p:blipFill>
        <p:spPr>
          <a:xfrm>
            <a:off x="10265968" y="4773168"/>
            <a:ext cx="292608" cy="292608"/>
          </a:xfrm>
          <a:prstGeom prst="rect">
            <a:avLst/>
          </a:prstGeom>
        </p:spPr>
      </p:pic>
      <p:sp>
        <p:nvSpPr>
          <p:cNvPr id="35" name="TextBox 34"/>
          <p:cNvSpPr txBox="1"/>
          <p:nvPr/>
        </p:nvSpPr>
        <p:spPr>
          <a:xfrm>
            <a:off x="10265968" y="5074920"/>
            <a:ext cx="640080" cy="146304"/>
          </a:xfrm>
          <a:prstGeom prst="rect">
            <a:avLst/>
          </a:prstGeom>
          <a:noFill/>
        </p:spPr>
        <p:txBody>
          <a:bodyPr wrap="none">
            <a:spAutoFit/>
          </a:bodyPr>
          <a:lstStyle/>
          <a:p>
            <a:pPr algn="ctr"/>
            <a:r>
              <a:rPr sz="600">
                <a:solidFill>
                  <a:srgbClr val="B9A488"/>
                </a:solidFill>
              </a:rPr>
              <a:t>blarth</a:t>
            </a:r>
          </a:p>
        </p:txBody>
      </p:sp>
      <p:pic>
        <p:nvPicPr>
          <p:cNvPr id="36" name="chickenlizard" descr="chickenlizard (GR_Chickenlizard)&#10;drawSize 0.30000001192092896 · Helix&#10;“Helix areas”"/>
          <p:cNvPicPr>
            <a:picLocks noChangeAspect="1"/>
          </p:cNvPicPr>
          <p:nvPr/>
        </p:nvPicPr>
        <p:blipFill>
          <a:blip r:embed="rId18"/>
          <a:stretch>
            <a:fillRect/>
          </a:stretch>
        </p:blipFill>
        <p:spPr>
          <a:xfrm>
            <a:off x="10686592" y="4773168"/>
            <a:ext cx="292608" cy="292608"/>
          </a:xfrm>
          <a:prstGeom prst="rect">
            <a:avLst/>
          </a:prstGeom>
        </p:spPr>
      </p:pic>
      <p:sp>
        <p:nvSpPr>
          <p:cNvPr id="37" name="TextBox 36"/>
          <p:cNvSpPr txBox="1"/>
          <p:nvPr/>
        </p:nvSpPr>
        <p:spPr>
          <a:xfrm>
            <a:off x="10686592" y="5074920"/>
            <a:ext cx="640080" cy="146304"/>
          </a:xfrm>
          <a:prstGeom prst="rect">
            <a:avLst/>
          </a:prstGeom>
          <a:noFill/>
        </p:spPr>
        <p:txBody>
          <a:bodyPr wrap="none">
            <a:spAutoFit/>
          </a:bodyPr>
          <a:lstStyle/>
          <a:p>
            <a:pPr algn="ctr"/>
            <a:r>
              <a:rPr sz="600">
                <a:solidFill>
                  <a:srgbClr val="B9A488"/>
                </a:solidFill>
              </a:rPr>
              <a:t>chickenlizard</a:t>
            </a:r>
          </a:p>
        </p:txBody>
      </p:sp>
      <p:pic>
        <p:nvPicPr>
          <p:cNvPr id="38" name="needlechicken" descr="needlechicken (GR_Needlechicken)&#10;drawSize 0.25 · Helix&#10;“Helix territory”"/>
          <p:cNvPicPr>
            <a:picLocks noChangeAspect="1"/>
          </p:cNvPicPr>
          <p:nvPr/>
        </p:nvPicPr>
        <p:blipFill>
          <a:blip r:embed="rId19"/>
          <a:stretch>
            <a:fillRect/>
          </a:stretch>
        </p:blipFill>
        <p:spPr>
          <a:xfrm>
            <a:off x="11107216" y="4773168"/>
            <a:ext cx="292608" cy="292608"/>
          </a:xfrm>
          <a:prstGeom prst="rect">
            <a:avLst/>
          </a:prstGeom>
        </p:spPr>
      </p:pic>
      <p:sp>
        <p:nvSpPr>
          <p:cNvPr id="39" name="TextBox 38"/>
          <p:cNvSpPr txBox="1"/>
          <p:nvPr/>
        </p:nvSpPr>
        <p:spPr>
          <a:xfrm>
            <a:off x="11107216" y="5074920"/>
            <a:ext cx="640080" cy="146304"/>
          </a:xfrm>
          <a:prstGeom prst="rect">
            <a:avLst/>
          </a:prstGeom>
          <a:noFill/>
        </p:spPr>
        <p:txBody>
          <a:bodyPr wrap="none">
            <a:spAutoFit/>
          </a:bodyPr>
          <a:lstStyle/>
          <a:p>
            <a:pPr algn="ctr"/>
            <a:r>
              <a:rPr sz="600">
                <a:solidFill>
                  <a:srgbClr val="B9A488"/>
                </a:solidFill>
              </a:rPr>
              <a:t>needlechicken</a:t>
            </a:r>
          </a:p>
        </p:txBody>
      </p:sp>
      <p:pic>
        <p:nvPicPr>
          <p:cNvPr id="40" name="spidersnake" descr="spidersnake (GR_Spidersnake)&#10;drawSize 0.25 · Helix&#10;“Helix area”"/>
          <p:cNvPicPr>
            <a:picLocks noChangeAspect="1"/>
          </p:cNvPicPr>
          <p:nvPr/>
        </p:nvPicPr>
        <p:blipFill>
          <a:blip r:embed="rId20"/>
          <a:stretch>
            <a:fillRect/>
          </a:stretch>
        </p:blipFill>
        <p:spPr>
          <a:xfrm>
            <a:off x="11527840" y="4773168"/>
            <a:ext cx="292608" cy="292608"/>
          </a:xfrm>
          <a:prstGeom prst="rect">
            <a:avLst/>
          </a:prstGeom>
        </p:spPr>
      </p:pic>
      <p:sp>
        <p:nvSpPr>
          <p:cNvPr id="41" name="TextBox 40"/>
          <p:cNvSpPr txBox="1"/>
          <p:nvPr/>
        </p:nvSpPr>
        <p:spPr>
          <a:xfrm>
            <a:off x="11527840" y="5074920"/>
            <a:ext cx="640080" cy="146304"/>
          </a:xfrm>
          <a:prstGeom prst="rect">
            <a:avLst/>
          </a:prstGeom>
          <a:noFill/>
        </p:spPr>
        <p:txBody>
          <a:bodyPr wrap="none">
            <a:spAutoFit/>
          </a:bodyPr>
          <a:lstStyle/>
          <a:p>
            <a:pPr algn="ctr"/>
            <a:r>
              <a:rPr sz="600">
                <a:solidFill>
                  <a:srgbClr val="B9A488"/>
                </a:solidFill>
              </a:rPr>
              <a:t>spidersnake</a:t>
            </a:r>
          </a:p>
        </p:txBody>
      </p:sp>
      <p:pic>
        <p:nvPicPr>
          <p:cNvPr id="42" name="leaf-tail" descr="leaf-tail (Leaftail)&#10;drawSize 0.20000000298023224 · Wildsteam&#10;“wildsteam biomes”"/>
          <p:cNvPicPr>
            <a:picLocks noChangeAspect="1"/>
          </p:cNvPicPr>
          <p:nvPr/>
        </p:nvPicPr>
        <p:blipFill>
          <a:blip r:embed="rId21"/>
          <a:stretch>
            <a:fillRect/>
          </a:stretch>
        </p:blipFill>
        <p:spPr>
          <a:xfrm>
            <a:off x="274320" y="5303520"/>
            <a:ext cx="292608" cy="292608"/>
          </a:xfrm>
          <a:prstGeom prst="rect">
            <a:avLst/>
          </a:prstGeom>
        </p:spPr>
      </p:pic>
      <p:sp>
        <p:nvSpPr>
          <p:cNvPr id="43" name="TextBox 42"/>
          <p:cNvSpPr txBox="1"/>
          <p:nvPr/>
        </p:nvSpPr>
        <p:spPr>
          <a:xfrm>
            <a:off x="274320" y="5605272"/>
            <a:ext cx="640080" cy="146304"/>
          </a:xfrm>
          <a:prstGeom prst="rect">
            <a:avLst/>
          </a:prstGeom>
          <a:noFill/>
        </p:spPr>
        <p:txBody>
          <a:bodyPr wrap="none">
            <a:spAutoFit/>
          </a:bodyPr>
          <a:lstStyle/>
          <a:p>
            <a:pPr algn="ctr"/>
            <a:r>
              <a:rPr sz="600">
                <a:solidFill>
                  <a:srgbClr val="B9A488"/>
                </a:solidFill>
              </a:rPr>
              <a:t>leaf-tail</a:t>
            </a:r>
          </a:p>
        </p:txBody>
      </p:sp>
      <p:pic>
        <p:nvPicPr>
          <p:cNvPr id="44" name="angel moth larva" descr="angel moth larva (AA_AngelMothLarva)&#10;drawSize 0.10000000149011612 · Wildsteam&#10;“Wildsteam biomes”"/>
          <p:cNvPicPr>
            <a:picLocks noChangeAspect="1"/>
          </p:cNvPicPr>
          <p:nvPr/>
        </p:nvPicPr>
        <p:blipFill>
          <a:blip r:embed="rId22"/>
          <a:stretch>
            <a:fillRect/>
          </a:stretch>
        </p:blipFill>
        <p:spPr>
          <a:xfrm>
            <a:off x="694944" y="5303520"/>
            <a:ext cx="292608" cy="292608"/>
          </a:xfrm>
          <a:prstGeom prst="rect">
            <a:avLst/>
          </a:prstGeom>
        </p:spPr>
      </p:pic>
      <p:sp>
        <p:nvSpPr>
          <p:cNvPr id="45" name="TextBox 44"/>
          <p:cNvSpPr txBox="1"/>
          <p:nvPr/>
        </p:nvSpPr>
        <p:spPr>
          <a:xfrm>
            <a:off x="694944" y="5605272"/>
            <a:ext cx="640080" cy="146304"/>
          </a:xfrm>
          <a:prstGeom prst="rect">
            <a:avLst/>
          </a:prstGeom>
          <a:noFill/>
        </p:spPr>
        <p:txBody>
          <a:bodyPr wrap="none">
            <a:spAutoFit/>
          </a:bodyPr>
          <a:lstStyle/>
          <a:p>
            <a:pPr algn="ctr"/>
            <a:r>
              <a:rPr sz="600">
                <a:solidFill>
                  <a:srgbClr val="B9A488"/>
                </a:solidFill>
              </a:rPr>
              <a:t>angel moth larva</a:t>
            </a:r>
          </a:p>
        </p:txBody>
      </p:sp>
      <p:pic>
        <p:nvPicPr>
          <p:cNvPr id="46" name="Empress butterfly larva" descr="Empress butterfly larva (AA_EmpressButterflyLarva)&#10;drawSize 0.10000000149011612 · Wildsteam&#10;“Wildsteam biomes”"/>
          <p:cNvPicPr>
            <a:picLocks noChangeAspect="1"/>
          </p:cNvPicPr>
          <p:nvPr/>
        </p:nvPicPr>
        <p:blipFill>
          <a:blip r:embed="rId23"/>
          <a:stretch>
            <a:fillRect/>
          </a:stretch>
        </p:blipFill>
        <p:spPr>
          <a:xfrm>
            <a:off x="1115568" y="5303520"/>
            <a:ext cx="292608" cy="292608"/>
          </a:xfrm>
          <a:prstGeom prst="rect">
            <a:avLst/>
          </a:prstGeom>
        </p:spPr>
      </p:pic>
      <p:sp>
        <p:nvSpPr>
          <p:cNvPr id="47" name="TextBox 46"/>
          <p:cNvSpPr txBox="1"/>
          <p:nvPr/>
        </p:nvSpPr>
        <p:spPr>
          <a:xfrm>
            <a:off x="1115568" y="5605272"/>
            <a:ext cx="640080" cy="146304"/>
          </a:xfrm>
          <a:prstGeom prst="rect">
            <a:avLst/>
          </a:prstGeom>
          <a:noFill/>
        </p:spPr>
        <p:txBody>
          <a:bodyPr wrap="none">
            <a:spAutoFit/>
          </a:bodyPr>
          <a:lstStyle/>
          <a:p>
            <a:pPr algn="ctr"/>
            <a:r>
              <a:rPr sz="600">
                <a:solidFill>
                  <a:srgbClr val="B9A488"/>
                </a:solidFill>
              </a:rPr>
              <a:t>Empress butterfl</a:t>
            </a:r>
          </a:p>
        </p:txBody>
      </p:sp>
      <p:pic>
        <p:nvPicPr>
          <p:cNvPr id="48" name="rabbitchicken" descr="rabbitchicken (GR_Rabbitchicken)&#10;drawSize 0.10000000149011612 · Helix&#10;“sold as pet by the Helix faction”"/>
          <p:cNvPicPr>
            <a:picLocks noChangeAspect="1"/>
          </p:cNvPicPr>
          <p:nvPr/>
        </p:nvPicPr>
        <p:blipFill>
          <a:blip r:embed="rId24"/>
          <a:stretch>
            <a:fillRect/>
          </a:stretch>
        </p:blipFill>
        <p:spPr>
          <a:xfrm>
            <a:off x="1536192" y="5303520"/>
            <a:ext cx="292608" cy="292608"/>
          </a:xfrm>
          <a:prstGeom prst="rect">
            <a:avLst/>
          </a:prstGeom>
        </p:spPr>
      </p:pic>
      <p:sp>
        <p:nvSpPr>
          <p:cNvPr id="49" name="TextBox 48"/>
          <p:cNvSpPr txBox="1"/>
          <p:nvPr/>
        </p:nvSpPr>
        <p:spPr>
          <a:xfrm>
            <a:off x="1536192" y="5605272"/>
            <a:ext cx="640080" cy="146304"/>
          </a:xfrm>
          <a:prstGeom prst="rect">
            <a:avLst/>
          </a:prstGeom>
          <a:noFill/>
        </p:spPr>
        <p:txBody>
          <a:bodyPr wrap="none">
            <a:spAutoFit/>
          </a:bodyPr>
          <a:lstStyle/>
          <a:p>
            <a:pPr algn="ctr"/>
            <a:r>
              <a:rPr sz="600">
                <a:solidFill>
                  <a:srgbClr val="B9A488"/>
                </a:solidFill>
              </a:rPr>
              <a:t>rabbitchicken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